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embeddedFontLst>
    <p:embeddedFont>
      <p:font typeface="Lora"/>
      <p:regular r:id="rId201314"/>
    </p:embeddedFont>
    <p:embeddedFont>
      <p:font typeface="Lora Bold"/>
      <p:regular r:id="rId201315"/>
    </p:embeddedFont>
    <p:embeddedFont>
      <p:font typeface="Source Sans 3"/>
      <p:regular r:id="rId201316"/>
    </p:embeddedFont>
    <p:embeddedFont>
      <p:font typeface="Source Sans 3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A24"/>
          </a:solidFill>
          <a:ln/>
        </p:spPr>
      </p:sp>
      <p:sp>
        <p:nvSpPr>
          <p:cNvPr id="3" name="Shape 1"/>
          <p:cNvSpPr/>
          <p:nvPr/>
        </p:nvSpPr>
        <p:spPr>
          <a:xfrm>
            <a:off x="0" y="0"/>
            <a:ext cx="12191695" cy="6858000"/>
          </a:xfrm>
          <a:prstGeom prst="rect">
            <a:avLst/>
          </a:prstGeom>
          <a:solidFill>
            <a:srgbClr val="252833"/>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A24"/>
          </a:solidFill>
          <a:ln/>
        </p:spPr>
      </p:sp>
      <p:sp>
        <p:nvSpPr>
          <p:cNvPr id="3" name="Shape 1"/>
          <p:cNvSpPr/>
          <p:nvPr/>
        </p:nvSpPr>
        <p:spPr>
          <a:xfrm>
            <a:off x="0" y="0"/>
            <a:ext cx="12191695" cy="6858000"/>
          </a:xfrm>
          <a:prstGeom prst="rect">
            <a:avLst/>
          </a:prstGeom>
          <a:solidFill>
            <a:srgbClr val="252833"/>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252833">
              <a:alpha val="8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81A24"/>
          </a:solidFill>
          <a:ln/>
        </p:spPr>
      </p:sp>
      <p:sp>
        <p:nvSpPr>
          <p:cNvPr id="3" name="Shape 1"/>
          <p:cNvSpPr/>
          <p:nvPr/>
        </p:nvSpPr>
        <p:spPr>
          <a:xfrm>
            <a:off x="0" y="0"/>
            <a:ext cx="12191695" cy="6858000"/>
          </a:xfrm>
          <a:prstGeom prst="rect">
            <a:avLst/>
          </a:prstGeom>
          <a:solidFill>
            <a:srgbClr val="252833"/>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252833">
              <a:alpha val="80000"/>
            </a:srgbClr>
          </a:solidFill>
          <a:ln/>
        </p:spPr>
      </p:sp>
      <p:pic>
        <p:nvPicPr>
          <p:cNvPr id="6"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 Id="rId9" Type="http://schemas.openxmlformats.org/officeDocument/2006/relationships/image" Target="../media/image-5-5.sv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image" Target="../media/image-11-2.png"/><Relationship Id="rId7" Type="http://schemas.openxmlformats.org/officeDocument/2006/relationships/image" Target="../media/image-11-3.svg"/><Relationship Id="rId8" Type="http://schemas.openxmlformats.org/officeDocument/2006/relationships/image" Target="../media/image-11-8.png"/><Relationship Id="rId9" Type="http://schemas.openxmlformats.org/officeDocument/2006/relationships/image" Target="../media/image-11-9.svg"/><Relationship Id="rId10" Type="http://schemas.openxmlformats.org/officeDocument/2006/relationships/image" Target="../media/image-11-2.png"/><Relationship Id="rId11" Type="http://schemas.openxmlformats.org/officeDocument/2006/relationships/image" Target="../media/image-11-3.svg"/><Relationship Id="rId12" Type="http://schemas.openxmlformats.org/officeDocument/2006/relationships/image" Target="../media/image-11-12.png"/><Relationship Id="rId13" Type="http://schemas.openxmlformats.org/officeDocument/2006/relationships/image" Target="../media/image-11-13.svg"/><Relationship Id="rId14" Type="http://schemas.openxmlformats.org/officeDocument/2006/relationships/slideLayout" Target="../slideLayouts/slideLayout2.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1.png"/><Relationship Id="rId6" Type="http://schemas.openxmlformats.org/officeDocument/2006/relationships/image" Target="../media/image-15-2.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1.png"/><Relationship Id="rId10" Type="http://schemas.openxmlformats.org/officeDocument/2006/relationships/image" Target="../media/image-15-2.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image" Target="../media/image-15-1.png"/><Relationship Id="rId14" Type="http://schemas.openxmlformats.org/officeDocument/2006/relationships/image" Target="../media/image-15-2.svg"/><Relationship Id="rId15" Type="http://schemas.openxmlformats.org/officeDocument/2006/relationships/image" Target="../media/image-15-15.png"/><Relationship Id="rId16" Type="http://schemas.openxmlformats.org/officeDocument/2006/relationships/image" Target="../media/image-15-16.svg"/><Relationship Id="rId17" Type="http://schemas.openxmlformats.org/officeDocument/2006/relationships/image" Target="../media/image-15-1.png"/><Relationship Id="rId18" Type="http://schemas.openxmlformats.org/officeDocument/2006/relationships/image" Target="../media/image-15-2.svg"/><Relationship Id="rId19" Type="http://schemas.openxmlformats.org/officeDocument/2006/relationships/image" Target="../media/image-15-19.png"/><Relationship Id="rId20" Type="http://schemas.openxmlformats.org/officeDocument/2006/relationships/image" Target="../media/image-15-20.svg"/><Relationship Id="rId21" Type="http://schemas.openxmlformats.org/officeDocument/2006/relationships/slideLayout" Target="../slideLayouts/slideLayout3.xml"/><Relationship Id="rId2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svg"/><Relationship Id="rId4" Type="http://schemas.openxmlformats.org/officeDocument/2006/relationships/image" Target="../media/image-17-4.png"/><Relationship Id="rId5" Type="http://schemas.openxmlformats.org/officeDocument/2006/relationships/image" Target="../media/image-17-5.svg"/><Relationship Id="rId6" Type="http://schemas.openxmlformats.org/officeDocument/2006/relationships/image" Target="../media/image-17-2.png"/><Relationship Id="rId7" Type="http://schemas.openxmlformats.org/officeDocument/2006/relationships/image" Target="../media/image-17-3.svg"/><Relationship Id="rId8" Type="http://schemas.openxmlformats.org/officeDocument/2006/relationships/image" Target="../media/image-17-8.png"/><Relationship Id="rId9" Type="http://schemas.openxmlformats.org/officeDocument/2006/relationships/image" Target="../media/image-17-9.svg"/><Relationship Id="rId10" Type="http://schemas.openxmlformats.org/officeDocument/2006/relationships/image" Target="../media/image-17-2.png"/><Relationship Id="rId11" Type="http://schemas.openxmlformats.org/officeDocument/2006/relationships/image" Target="../media/image-17-3.svg"/><Relationship Id="rId12" Type="http://schemas.openxmlformats.org/officeDocument/2006/relationships/image" Target="../media/image-17-12.png"/><Relationship Id="rId13" Type="http://schemas.openxmlformats.org/officeDocument/2006/relationships/image" Target="../media/image-17-13.svg"/><Relationship Id="rId14" Type="http://schemas.openxmlformats.org/officeDocument/2006/relationships/image" Target="../media/image-17-14.png"/><Relationship Id="rId15" Type="http://schemas.openxmlformats.org/officeDocument/2006/relationships/slideLayout" Target="../slideLayouts/slideLayout2.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image" Target="../media/image-19-9.png"/><Relationship Id="rId10" Type="http://schemas.openxmlformats.org/officeDocument/2006/relationships/slideLayout" Target="../slideLayouts/slideLayout2.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slideLayout" Target="../slideLayouts/slideLayout2.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444752"/>
          </a:solidFill>
          <a:ln/>
        </p:spPr>
      </p:sp>
      <p:pic>
        <p:nvPicPr>
          <p:cNvPr id="3" name="Image 0" descr="preencoded.png">    </p:cNvPr>
          <p:cNvPicPr>
            <a:picLocks noChangeAspect="1"/>
          </p:cNvPicPr>
          <p:nvPr/>
        </p:nvPicPr>
        <p:blipFill>
          <a:blip r:embed="rId1"/>
          <a:stretch>
            <a:fillRect/>
          </a:stretch>
        </p:blipFill>
        <p:spPr>
          <a:xfrm>
            <a:off x="7719522" y="513953"/>
            <a:ext cx="4372461" cy="5830094"/>
          </a:xfrm>
          <a:prstGeom prst="rect">
            <a:avLst/>
          </a:prstGeom>
        </p:spPr>
      </p:pic>
      <p:sp>
        <p:nvSpPr>
          <p:cNvPr id="4" name="Text 1"/>
          <p:cNvSpPr/>
          <p:nvPr/>
        </p:nvSpPr>
        <p:spPr>
          <a:xfrm>
            <a:off x="698086" y="2533154"/>
            <a:ext cx="6223638" cy="1173361"/>
          </a:xfrm>
          <a:prstGeom prst="rect">
            <a:avLst/>
          </a:prstGeom>
          <a:noFill/>
          <a:ln/>
        </p:spPr>
        <p:txBody>
          <a:bodyPr wrap="square" lIns="0" tIns="0" rIns="0" bIns="0" rtlCol="0" anchor="t">
            <a:normAutofit/>
          </a:bodyPr>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React.js – MERN Stack Teaching Guide</a:t>
            </a:r>
            <a:endParaRPr lang="en-US" sz="3650" dirty="0"/>
          </a:p>
        </p:txBody>
      </p:sp>
      <p:sp>
        <p:nvSpPr>
          <p:cNvPr id="5" name="Text 2"/>
          <p:cNvSpPr/>
          <p:nvPr/>
        </p:nvSpPr>
        <p:spPr>
          <a:xfrm>
            <a:off x="698086" y="4005659"/>
            <a:ext cx="6833223" cy="31918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Master React fundamentals and build dynamic user interfaces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444752"/>
          </a:solidFill>
          <a:ln/>
        </p:spPr>
      </p:sp>
      <p:pic>
        <p:nvPicPr>
          <p:cNvPr id="3" name="Image 0" descr="preencoded.png">    </p:cNvPr>
          <p:cNvPicPr>
            <a:picLocks noChangeAspect="1"/>
          </p:cNvPicPr>
          <p:nvPr/>
        </p:nvPicPr>
        <p:blipFill>
          <a:blip r:embed="rId1"/>
          <a:stretch>
            <a:fillRect/>
          </a:stretch>
        </p:blipFill>
        <p:spPr>
          <a:xfrm>
            <a:off x="96537" y="509687"/>
            <a:ext cx="4378712" cy="5838527"/>
          </a:xfrm>
          <a:prstGeom prst="rect">
            <a:avLst/>
          </a:prstGeom>
        </p:spPr>
      </p:pic>
      <p:sp>
        <p:nvSpPr>
          <p:cNvPr id="4" name="Text 1"/>
          <p:cNvSpPr/>
          <p:nvPr/>
        </p:nvSpPr>
        <p:spPr>
          <a:xfrm>
            <a:off x="5269971" y="549473"/>
            <a:ext cx="6223638" cy="568325"/>
          </a:xfrm>
          <a:prstGeom prst="rect">
            <a:avLst/>
          </a:prstGeom>
          <a:noFill/>
          <a:ln/>
        </p:spPr>
        <p:txBody>
          <a:bodyPr wrap="none" lIns="0" tIns="0" rIns="0" bIns="0" rtlCol="0" anchor="t"/>
          <a:lstStyle/>
          <a:p>
            <a:pPr algn="l" indent="0" marL="0">
              <a:lnSpc>
                <a:spcPct val="104000"/>
              </a:lnSpc>
              <a:buNone/>
            </a:pPr>
            <a:r>
              <a:rPr lang="en-US" sz="3550" dirty="0">
                <a:solidFill>
                  <a:srgbClr val="F98AC7"/>
                </a:solidFill>
                <a:latin typeface="Lora" pitchFamily="34" charset="0"/>
                <a:ea typeface="Lora" pitchFamily="34" charset="-122"/>
                <a:cs typeface="Lora" pitchFamily="34" charset="-120"/>
              </a:rPr>
              <a:t>What is React.js?</a:t>
            </a:r>
            <a:endParaRPr lang="en-US" sz="3550" dirty="0"/>
          </a:p>
        </p:txBody>
      </p:sp>
      <p:sp>
        <p:nvSpPr>
          <p:cNvPr id="5" name="Shape 2"/>
          <p:cNvSpPr/>
          <p:nvPr/>
        </p:nvSpPr>
        <p:spPr>
          <a:xfrm>
            <a:off x="5269971" y="1398588"/>
            <a:ext cx="6223638" cy="1087140"/>
          </a:xfrm>
          <a:prstGeom prst="roundRect">
            <a:avLst>
              <a:gd name="adj" fmla="val 2666"/>
            </a:avLst>
          </a:prstGeom>
          <a:solidFill>
            <a:srgbClr val="444752"/>
          </a:solidFill>
          <a:ln/>
        </p:spPr>
      </p:sp>
      <p:sp>
        <p:nvSpPr>
          <p:cNvPr id="6" name="Text 3"/>
          <p:cNvSpPr/>
          <p:nvPr/>
        </p:nvSpPr>
        <p:spPr>
          <a:xfrm>
            <a:off x="5463145" y="1591766"/>
            <a:ext cx="5837290" cy="284063"/>
          </a:xfrm>
          <a:prstGeom prst="rect">
            <a:avLst/>
          </a:prstGeom>
          <a:noFill/>
          <a:ln/>
        </p:spPr>
        <p:txBody>
          <a:bodyPr wrap="none" lIns="0" tIns="0" rIns="0" bIns="0" rtlCol="0" anchor="t"/>
          <a:lstStyle/>
          <a:p>
            <a:pPr algn="l" indent="0" marL="0">
              <a:lnSpc>
                <a:spcPct val="104000"/>
              </a:lnSpc>
              <a:buNone/>
            </a:pPr>
            <a:r>
              <a:rPr lang="en-US" sz="1750" dirty="0">
                <a:solidFill>
                  <a:srgbClr val="D6E5EF"/>
                </a:solidFill>
                <a:latin typeface="Lora" pitchFamily="34" charset="0"/>
                <a:ea typeface="Lora" pitchFamily="34" charset="-122"/>
                <a:cs typeface="Lora" pitchFamily="34" charset="-120"/>
              </a:rPr>
              <a:t>UI Library</a:t>
            </a:r>
            <a:endParaRPr lang="en-US" sz="1750" dirty="0"/>
          </a:p>
        </p:txBody>
      </p:sp>
      <p:sp>
        <p:nvSpPr>
          <p:cNvPr id="7" name="Text 4"/>
          <p:cNvSpPr/>
          <p:nvPr/>
        </p:nvSpPr>
        <p:spPr>
          <a:xfrm>
            <a:off x="5463145" y="1988145"/>
            <a:ext cx="5837290" cy="304403"/>
          </a:xfrm>
          <a:prstGeom prst="rect">
            <a:avLst/>
          </a:prstGeom>
          <a:noFill/>
          <a:ln/>
        </p:spPr>
        <p:txBody>
          <a:bodyPr wrap="none" lIns="0" tIns="0" rIns="0" bIns="0" rtlCol="0" anchor="t"/>
          <a:lstStyle/>
          <a:p>
            <a:pPr algn="l" indent="0" marL="0">
              <a:lnSpc>
                <a:spcPct val="131000"/>
              </a:lnSpc>
              <a:buNone/>
            </a:pPr>
            <a:r>
              <a:rPr lang="en-US" sz="1500" dirty="0">
                <a:solidFill>
                  <a:srgbClr val="D6E5EF"/>
                </a:solidFill>
                <a:latin typeface="Source Sans 3" pitchFamily="34" charset="0"/>
                <a:ea typeface="Source Sans 3" pitchFamily="34" charset="-122"/>
                <a:cs typeface="Source Sans 3" pitchFamily="34" charset="-120"/>
              </a:rPr>
              <a:t>Builds interactive user interfaces with JavaScript</a:t>
            </a:r>
            <a:endParaRPr lang="en-US" sz="1500" dirty="0"/>
          </a:p>
        </p:txBody>
      </p:sp>
      <p:sp>
        <p:nvSpPr>
          <p:cNvPr id="8" name="Shape 5"/>
          <p:cNvSpPr/>
          <p:nvPr/>
        </p:nvSpPr>
        <p:spPr>
          <a:xfrm>
            <a:off x="5269971" y="2672854"/>
            <a:ext cx="6223638" cy="1087140"/>
          </a:xfrm>
          <a:prstGeom prst="roundRect">
            <a:avLst>
              <a:gd name="adj" fmla="val 2666"/>
            </a:avLst>
          </a:prstGeom>
          <a:solidFill>
            <a:srgbClr val="444752"/>
          </a:solidFill>
          <a:ln/>
        </p:spPr>
      </p:sp>
      <p:sp>
        <p:nvSpPr>
          <p:cNvPr id="9" name="Text 6"/>
          <p:cNvSpPr/>
          <p:nvPr/>
        </p:nvSpPr>
        <p:spPr>
          <a:xfrm>
            <a:off x="5463145" y="2866033"/>
            <a:ext cx="5837290" cy="284063"/>
          </a:xfrm>
          <a:prstGeom prst="rect">
            <a:avLst/>
          </a:prstGeom>
          <a:noFill/>
          <a:ln/>
        </p:spPr>
        <p:txBody>
          <a:bodyPr wrap="none" lIns="0" tIns="0" rIns="0" bIns="0" rtlCol="0" anchor="t"/>
          <a:lstStyle/>
          <a:p>
            <a:pPr algn="l" indent="0" marL="0">
              <a:lnSpc>
                <a:spcPct val="104000"/>
              </a:lnSpc>
              <a:buNone/>
            </a:pPr>
            <a:r>
              <a:rPr lang="en-US" sz="1750" dirty="0">
                <a:solidFill>
                  <a:srgbClr val="D6E5EF"/>
                </a:solidFill>
                <a:latin typeface="Lora" pitchFamily="34" charset="0"/>
                <a:ea typeface="Lora" pitchFamily="34" charset="-122"/>
                <a:cs typeface="Lora" pitchFamily="34" charset="-120"/>
              </a:rPr>
              <a:t>Reusable Components</a:t>
            </a:r>
            <a:endParaRPr lang="en-US" sz="1750" dirty="0"/>
          </a:p>
        </p:txBody>
      </p:sp>
      <p:sp>
        <p:nvSpPr>
          <p:cNvPr id="10" name="Text 7"/>
          <p:cNvSpPr/>
          <p:nvPr/>
        </p:nvSpPr>
        <p:spPr>
          <a:xfrm>
            <a:off x="5463145" y="3262412"/>
            <a:ext cx="5837290" cy="304403"/>
          </a:xfrm>
          <a:prstGeom prst="rect">
            <a:avLst/>
          </a:prstGeom>
          <a:noFill/>
          <a:ln/>
        </p:spPr>
        <p:txBody>
          <a:bodyPr wrap="none" lIns="0" tIns="0" rIns="0" bIns="0" rtlCol="0" anchor="t"/>
          <a:lstStyle/>
          <a:p>
            <a:pPr algn="l" indent="0" marL="0">
              <a:lnSpc>
                <a:spcPct val="131000"/>
              </a:lnSpc>
              <a:buNone/>
            </a:pPr>
            <a:r>
              <a:rPr lang="en-US" sz="1500" dirty="0">
                <a:solidFill>
                  <a:srgbClr val="D6E5EF"/>
                </a:solidFill>
                <a:latin typeface="Source Sans 3" pitchFamily="34" charset="0"/>
                <a:ea typeface="Source Sans 3" pitchFamily="34" charset="-122"/>
                <a:cs typeface="Source Sans 3" pitchFamily="34" charset="-120"/>
              </a:rPr>
              <a:t>Divides UI into small, composable pieces</a:t>
            </a:r>
            <a:endParaRPr lang="en-US" sz="1500" dirty="0"/>
          </a:p>
        </p:txBody>
      </p:sp>
      <p:sp>
        <p:nvSpPr>
          <p:cNvPr id="11" name="Shape 8"/>
          <p:cNvSpPr/>
          <p:nvPr/>
        </p:nvSpPr>
        <p:spPr>
          <a:xfrm>
            <a:off x="5269971" y="3947120"/>
            <a:ext cx="6223638" cy="1087140"/>
          </a:xfrm>
          <a:prstGeom prst="roundRect">
            <a:avLst>
              <a:gd name="adj" fmla="val 2666"/>
            </a:avLst>
          </a:prstGeom>
          <a:solidFill>
            <a:srgbClr val="444752"/>
          </a:solidFill>
          <a:ln/>
        </p:spPr>
      </p:sp>
      <p:sp>
        <p:nvSpPr>
          <p:cNvPr id="12" name="Text 9"/>
          <p:cNvSpPr/>
          <p:nvPr/>
        </p:nvSpPr>
        <p:spPr>
          <a:xfrm>
            <a:off x="5463145" y="4140299"/>
            <a:ext cx="5837290" cy="284063"/>
          </a:xfrm>
          <a:prstGeom prst="rect">
            <a:avLst/>
          </a:prstGeom>
          <a:noFill/>
          <a:ln/>
        </p:spPr>
        <p:txBody>
          <a:bodyPr wrap="none" lIns="0" tIns="0" rIns="0" bIns="0" rtlCol="0" anchor="t"/>
          <a:lstStyle/>
          <a:p>
            <a:pPr algn="l" indent="0" marL="0">
              <a:lnSpc>
                <a:spcPct val="104000"/>
              </a:lnSpc>
              <a:buNone/>
            </a:pPr>
            <a:r>
              <a:rPr lang="en-US" sz="1750" dirty="0">
                <a:solidFill>
                  <a:srgbClr val="D6E5EF"/>
                </a:solidFill>
                <a:latin typeface="Lora" pitchFamily="34" charset="0"/>
                <a:ea typeface="Lora" pitchFamily="34" charset="-122"/>
                <a:cs typeface="Lora" pitchFamily="34" charset="-120"/>
              </a:rPr>
              <a:t>Reactive Updates</a:t>
            </a:r>
            <a:endParaRPr lang="en-US" sz="1750" dirty="0"/>
          </a:p>
        </p:txBody>
      </p:sp>
      <p:sp>
        <p:nvSpPr>
          <p:cNvPr id="13" name="Text 10"/>
          <p:cNvSpPr/>
          <p:nvPr/>
        </p:nvSpPr>
        <p:spPr>
          <a:xfrm>
            <a:off x="5463145" y="4536678"/>
            <a:ext cx="5837290" cy="304403"/>
          </a:xfrm>
          <a:prstGeom prst="rect">
            <a:avLst/>
          </a:prstGeom>
          <a:noFill/>
          <a:ln/>
        </p:spPr>
        <p:txBody>
          <a:bodyPr wrap="none" lIns="0" tIns="0" rIns="0" bIns="0" rtlCol="0" anchor="t"/>
          <a:lstStyle/>
          <a:p>
            <a:pPr algn="l" indent="0" marL="0">
              <a:lnSpc>
                <a:spcPct val="131000"/>
              </a:lnSpc>
              <a:buNone/>
            </a:pPr>
            <a:r>
              <a:rPr lang="en-US" sz="1500" dirty="0">
                <a:solidFill>
                  <a:srgbClr val="D6E5EF"/>
                </a:solidFill>
                <a:latin typeface="Source Sans 3" pitchFamily="34" charset="0"/>
                <a:ea typeface="Source Sans 3" pitchFamily="34" charset="-122"/>
                <a:cs typeface="Source Sans 3" pitchFamily="34" charset="-120"/>
              </a:rPr>
              <a:t>Screen changes automatically when state or data changes</a:t>
            </a:r>
            <a:endParaRPr lang="en-US" sz="1500" dirty="0"/>
          </a:p>
        </p:txBody>
      </p:sp>
      <p:sp>
        <p:nvSpPr>
          <p:cNvPr id="14" name="Shape 11"/>
          <p:cNvSpPr/>
          <p:nvPr/>
        </p:nvSpPr>
        <p:spPr>
          <a:xfrm>
            <a:off x="5269971" y="5221387"/>
            <a:ext cx="6223638" cy="1087140"/>
          </a:xfrm>
          <a:prstGeom prst="roundRect">
            <a:avLst>
              <a:gd name="adj" fmla="val 2666"/>
            </a:avLst>
          </a:prstGeom>
          <a:solidFill>
            <a:srgbClr val="444752"/>
          </a:solidFill>
          <a:ln/>
        </p:spPr>
      </p:sp>
      <p:sp>
        <p:nvSpPr>
          <p:cNvPr id="15" name="Text 12"/>
          <p:cNvSpPr/>
          <p:nvPr/>
        </p:nvSpPr>
        <p:spPr>
          <a:xfrm>
            <a:off x="5463145" y="5414566"/>
            <a:ext cx="5837290" cy="284063"/>
          </a:xfrm>
          <a:prstGeom prst="rect">
            <a:avLst/>
          </a:prstGeom>
          <a:noFill/>
          <a:ln/>
        </p:spPr>
        <p:txBody>
          <a:bodyPr wrap="none" lIns="0" tIns="0" rIns="0" bIns="0" rtlCol="0" anchor="t"/>
          <a:lstStyle/>
          <a:p>
            <a:pPr algn="l" indent="0" marL="0">
              <a:lnSpc>
                <a:spcPct val="104000"/>
              </a:lnSpc>
              <a:buNone/>
            </a:pPr>
            <a:r>
              <a:rPr lang="en-US" sz="1750" dirty="0">
                <a:solidFill>
                  <a:srgbClr val="D6E5EF"/>
                </a:solidFill>
                <a:latin typeface="Lora" pitchFamily="34" charset="0"/>
                <a:ea typeface="Lora" pitchFamily="34" charset="-122"/>
                <a:cs typeface="Lora" pitchFamily="34" charset="-120"/>
              </a:rPr>
              <a:t>MERN Frontend</a:t>
            </a:r>
            <a:endParaRPr lang="en-US" sz="1750" dirty="0"/>
          </a:p>
        </p:txBody>
      </p:sp>
      <p:sp>
        <p:nvSpPr>
          <p:cNvPr id="16" name="Text 13"/>
          <p:cNvSpPr/>
          <p:nvPr/>
        </p:nvSpPr>
        <p:spPr>
          <a:xfrm>
            <a:off x="5463145" y="5810945"/>
            <a:ext cx="5837290" cy="304403"/>
          </a:xfrm>
          <a:prstGeom prst="rect">
            <a:avLst/>
          </a:prstGeom>
          <a:noFill/>
          <a:ln/>
        </p:spPr>
        <p:txBody>
          <a:bodyPr wrap="none" lIns="0" tIns="0" rIns="0" bIns="0" rtlCol="0" anchor="t"/>
          <a:lstStyle/>
          <a:p>
            <a:pPr algn="l" indent="0" marL="0">
              <a:lnSpc>
                <a:spcPct val="131000"/>
              </a:lnSpc>
              <a:buNone/>
            </a:pPr>
            <a:r>
              <a:rPr lang="en-US" sz="1500" dirty="0">
                <a:solidFill>
                  <a:srgbClr val="D6E5EF"/>
                </a:solidFill>
                <a:latin typeface="Source Sans 3" pitchFamily="34" charset="0"/>
                <a:ea typeface="Source Sans 3" pitchFamily="34" charset="-122"/>
                <a:cs typeface="Source Sans 3" pitchFamily="34" charset="-120"/>
              </a:rPr>
              <a:t>The </a:t>
            </a:r>
            <a:pPr algn="l" indent="0" marL="0">
              <a:lnSpc>
                <a:spcPct val="131000"/>
              </a:lnSpc>
              <a:buNone/>
            </a:pPr>
            <a:r>
              <a:rPr lang="en-US" sz="1500" b="1" dirty="0">
                <a:solidFill>
                  <a:srgbClr val="D6E5EF"/>
                </a:solidFill>
                <a:latin typeface="Source Sans 3 Bold" pitchFamily="34" charset="0"/>
                <a:ea typeface="Source Sans 3 Bold" pitchFamily="34" charset="-122"/>
                <a:cs typeface="Source Sans 3 Bold" pitchFamily="34" charset="-120"/>
              </a:rPr>
              <a:t>R</a:t>
            </a:r>
            <a:pPr algn="l" indent="0" marL="0">
              <a:lnSpc>
                <a:spcPct val="131000"/>
              </a:lnSpc>
              <a:buNone/>
            </a:pPr>
            <a:r>
              <a:rPr lang="en-US" sz="1500" dirty="0">
                <a:solidFill>
                  <a:srgbClr val="D6E5EF"/>
                </a:solidFill>
                <a:latin typeface="Source Sans 3" pitchFamily="34" charset="0"/>
                <a:ea typeface="Source Sans 3" pitchFamily="34" charset="-122"/>
                <a:cs typeface="Source Sans 3" pitchFamily="34" charset="-120"/>
              </a:rPr>
              <a:t> in the MERN stack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596007"/>
            <a:ext cx="10795524" cy="577552"/>
          </a:xfrm>
          <a:prstGeom prst="rect">
            <a:avLst/>
          </a:prstGeom>
          <a:noFill/>
          <a:ln/>
        </p:spPr>
        <p:txBody>
          <a:bodyPr wrap="none" lIns="0" tIns="0" rIns="0" bIns="0" rtlCol="0" anchor="t"/>
          <a:lstStyle/>
          <a:p>
            <a:pPr algn="l" indent="0" marL="0">
              <a:lnSpc>
                <a:spcPct val="104000"/>
              </a:lnSpc>
              <a:buNone/>
            </a:pPr>
            <a:r>
              <a:rPr lang="en-US" sz="3600" dirty="0">
                <a:solidFill>
                  <a:srgbClr val="F98AC7"/>
                </a:solidFill>
                <a:latin typeface="Lora" pitchFamily="34" charset="0"/>
                <a:ea typeface="Lora" pitchFamily="34" charset="-122"/>
                <a:cs typeface="Lora" pitchFamily="34" charset="-120"/>
              </a:rPr>
              <a:t>React Component Structure</a:t>
            </a:r>
            <a:endParaRPr lang="en-US" sz="3600" dirty="0"/>
          </a:p>
        </p:txBody>
      </p:sp>
      <p:pic>
        <p:nvPicPr>
          <p:cNvPr id="3" name="Image 0" descr="preencoded.png">    </p:cNvPr>
          <p:cNvPicPr>
            <a:picLocks noChangeAspect="1"/>
          </p:cNvPicPr>
          <p:nvPr/>
        </p:nvPicPr>
        <p:blipFill>
          <a:blip r:embed="rId1"/>
          <a:stretch>
            <a:fillRect/>
          </a:stretch>
        </p:blipFill>
        <p:spPr>
          <a:xfrm>
            <a:off x="698086" y="2325688"/>
            <a:ext cx="3467013" cy="3073995"/>
          </a:xfrm>
          <a:prstGeom prst="rect">
            <a:avLst/>
          </a:prstGeom>
        </p:spPr>
      </p:pic>
      <p:sp>
        <p:nvSpPr>
          <p:cNvPr id="4" name="Text 1"/>
          <p:cNvSpPr/>
          <p:nvPr/>
        </p:nvSpPr>
        <p:spPr>
          <a:xfrm>
            <a:off x="4650465" y="1637407"/>
            <a:ext cx="7458980" cy="311646"/>
          </a:xfrm>
          <a:prstGeom prst="rect">
            <a:avLst/>
          </a:prstGeom>
          <a:noFill/>
          <a:ln/>
        </p:spPr>
        <p:txBody>
          <a:bodyPr wrap="none" lIns="0" tIns="0" rIns="0" bIns="0" rtlCol="0" anchor="t"/>
          <a:lstStyle/>
          <a:p>
            <a:pPr algn="l" indent="0" marL="0">
              <a:lnSpc>
                <a:spcPct val="132000"/>
              </a:lnSpc>
              <a:buNone/>
            </a:pPr>
            <a:r>
              <a:rPr lang="en-US" sz="1500" dirty="0">
                <a:solidFill>
                  <a:srgbClr val="D6E5EF"/>
                </a:solidFill>
                <a:latin typeface="Source Sans 3" pitchFamily="34" charset="0"/>
                <a:ea typeface="Source Sans 3" pitchFamily="34" charset="-122"/>
                <a:cs typeface="Source Sans 3" pitchFamily="34" charset="-120"/>
              </a:rPr>
              <a:t>Think of an application as a </a:t>
            </a:r>
            <a:pPr algn="l" indent="0" marL="0">
              <a:lnSpc>
                <a:spcPct val="132000"/>
              </a:lnSpc>
              <a:buNone/>
            </a:pPr>
            <a:r>
              <a:rPr lang="en-US" sz="1500" b="1" dirty="0">
                <a:solidFill>
                  <a:srgbClr val="D6E5EF"/>
                </a:solidFill>
                <a:latin typeface="Source Sans 3 Bold" pitchFamily="34" charset="0"/>
                <a:ea typeface="Source Sans 3 Bold" pitchFamily="34" charset="-122"/>
                <a:cs typeface="Source Sans 3 Bold" pitchFamily="34" charset="-120"/>
              </a:rPr>
              <a:t>tree of components</a:t>
            </a:r>
            <a:pPr algn="l" indent="0" marL="0">
              <a:lnSpc>
                <a:spcPct val="132000"/>
              </a:lnSpc>
              <a:buNone/>
            </a:pPr>
            <a:r>
              <a:rPr lang="en-US" sz="1500" dirty="0">
                <a:solidFill>
                  <a:srgbClr val="D6E5EF"/>
                </a:solidFill>
                <a:latin typeface="Source Sans 3" pitchFamily="34" charset="0"/>
                <a:ea typeface="Source Sans 3" pitchFamily="34" charset="-122"/>
                <a:cs typeface="Source Sans 3" pitchFamily="34" charset="-120"/>
              </a:rPr>
              <a:t>:</a:t>
            </a:r>
            <a:endParaRPr lang="en-US" sz="1500" dirty="0"/>
          </a:p>
        </p:txBody>
      </p:sp>
      <p:sp>
        <p:nvSpPr>
          <p:cNvPr id="5" name="Shape 2"/>
          <p:cNvSpPr/>
          <p:nvPr/>
        </p:nvSpPr>
        <p:spPr>
          <a:xfrm>
            <a:off x="4650465" y="2166441"/>
            <a:ext cx="6849395" cy="2591594"/>
          </a:xfrm>
          <a:prstGeom prst="roundRect">
            <a:avLst>
              <a:gd name="adj" fmla="val 1137"/>
            </a:avLst>
          </a:prstGeom>
          <a:solidFill>
            <a:srgbClr val="323540"/>
          </a:solidFill>
          <a:ln/>
        </p:spPr>
      </p:sp>
      <p:sp>
        <p:nvSpPr>
          <p:cNvPr id="6" name="Text 3"/>
          <p:cNvSpPr/>
          <p:nvPr/>
        </p:nvSpPr>
        <p:spPr>
          <a:xfrm>
            <a:off x="4886004" y="2362795"/>
            <a:ext cx="6378316" cy="2198886"/>
          </a:xfrm>
          <a:prstGeom prst="rect">
            <a:avLst/>
          </a:prstGeom>
          <a:noFill/>
          <a:ln/>
        </p:spPr>
        <p:txBody>
          <a:bodyPr wrap="square" lIns="0" tIns="0" rIns="0" bIns="0" rtlCol="0" anchor="t">
            <a:normAutofit/>
          </a:bodyPr>
          <a:lstStyle/>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App (root)</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Navbar</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StudentForm</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StudentList</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 StudentCard</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 StudentCard</a:t>
            </a:r>
            <a:endParaRPr lang="en-US" sz="1500" dirty="0"/>
          </a:p>
          <a:p>
            <a:pPr algn="l" indent="0" marL="0">
              <a:lnSpc>
                <a:spcPct val="133000"/>
              </a:lnSpc>
              <a:buNone/>
            </a:pPr>
            <a:r>
              <a:rPr lang="en-US" sz="1500" dirty="0">
                <a:solidFill>
                  <a:srgbClr val="E6EDF3"/>
                </a:solidFill>
                <a:latin typeface="Consolas" pitchFamily="34" charset="0"/>
                <a:ea typeface="Consolas" pitchFamily="34" charset="-122"/>
                <a:cs typeface="Consolas" pitchFamily="34" charset="-120"/>
              </a:rPr>
              <a:t>└── Footer</a:t>
            </a:r>
            <a:endParaRPr lang="en-US" sz="1500" dirty="0"/>
          </a:p>
        </p:txBody>
      </p:sp>
      <p:sp>
        <p:nvSpPr>
          <p:cNvPr id="7" name="Shape 4"/>
          <p:cNvSpPr/>
          <p:nvPr/>
        </p:nvSpPr>
        <p:spPr>
          <a:xfrm>
            <a:off x="4650465" y="4975423"/>
            <a:ext cx="6849395" cy="1069181"/>
          </a:xfrm>
          <a:prstGeom prst="roundRect">
            <a:avLst>
              <a:gd name="adj" fmla="val 2755"/>
            </a:avLst>
          </a:prstGeom>
          <a:solidFill>
            <a:srgbClr val="790645"/>
          </a:solidFill>
          <a:ln/>
        </p:spPr>
      </p:sp>
      <p:pic>
        <p:nvPicPr>
          <p:cNvPr id="8" name="Image 1" descr="preencoded.png">    </p:cNvPr>
          <p:cNvPicPr>
            <a:picLocks noChangeAspect="1"/>
          </p:cNvPicPr>
          <p:nvPr/>
        </p:nvPicPr>
        <p:blipFill>
          <a:blip r:embed="rId2"/>
          <a:stretch>
            <a:fillRect/>
          </a:stretch>
        </p:blipFill>
        <p:spPr>
          <a:xfrm>
            <a:off x="4846814" y="5261769"/>
            <a:ext cx="245362" cy="196354"/>
          </a:xfrm>
          <a:prstGeom prst="rect">
            <a:avLst/>
          </a:prstGeom>
        </p:spPr>
      </p:pic>
      <p:sp>
        <p:nvSpPr>
          <p:cNvPr id="9" name="Text 5"/>
          <p:cNvSpPr/>
          <p:nvPr/>
        </p:nvSpPr>
        <p:spPr>
          <a:xfrm>
            <a:off x="5288525" y="5198368"/>
            <a:ext cx="6014986" cy="623292"/>
          </a:xfrm>
          <a:prstGeom prst="rect">
            <a:avLst/>
          </a:prstGeom>
          <a:noFill/>
          <a:ln/>
        </p:spPr>
        <p:txBody>
          <a:bodyPr wrap="square" lIns="0" tIns="0" rIns="0" bIns="0" rtlCol="0" anchor="t">
            <a:normAutofit/>
          </a:bodyPr>
          <a:lstStyle/>
          <a:p>
            <a:pPr algn="l" indent="0" marL="0">
              <a:lnSpc>
                <a:spcPct val="132000"/>
              </a:lnSpc>
              <a:buNone/>
            </a:pPr>
            <a:r>
              <a:rPr lang="en-US" sz="1500" dirty="0">
                <a:solidFill>
                  <a:srgbClr val="FFFFFF"/>
                </a:solidFill>
                <a:latin typeface="Source Sans 3" pitchFamily="34" charset="0"/>
                <a:ea typeface="Source Sans 3" pitchFamily="34" charset="-122"/>
                <a:cs typeface="Source Sans 3" pitchFamily="34" charset="-120"/>
              </a:rPr>
              <a:t>Every UI element is a node in the component tree — composable and reusable.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814983"/>
            <a:ext cx="10795524" cy="469404"/>
          </a:xfrm>
          <a:prstGeom prst="rect">
            <a:avLst/>
          </a:prstGeom>
          <a:noFill/>
          <a:ln/>
        </p:spPr>
        <p:txBody>
          <a:bodyPr wrap="none" lIns="0" tIns="0" rIns="0" bIns="0" rtlCol="0" anchor="t"/>
          <a:lstStyle/>
          <a:p>
            <a:pPr algn="l" indent="0" marL="0">
              <a:lnSpc>
                <a:spcPct val="104000"/>
              </a:lnSpc>
              <a:buNone/>
            </a:pPr>
            <a:r>
              <a:rPr lang="en-US" sz="2950" dirty="0">
                <a:solidFill>
                  <a:srgbClr val="F98AC7"/>
                </a:solidFill>
                <a:latin typeface="Lora" pitchFamily="34" charset="0"/>
                <a:ea typeface="Lora" pitchFamily="34" charset="-122"/>
                <a:cs typeface="Lora" pitchFamily="34" charset="-120"/>
              </a:rPr>
              <a:t>React Setup with Vite</a:t>
            </a:r>
            <a:endParaRPr lang="en-US" sz="2950" dirty="0"/>
          </a:p>
        </p:txBody>
      </p:sp>
      <p:sp>
        <p:nvSpPr>
          <p:cNvPr id="3" name="Text 1"/>
          <p:cNvSpPr/>
          <p:nvPr/>
        </p:nvSpPr>
        <p:spPr>
          <a:xfrm>
            <a:off x="698086" y="1906786"/>
            <a:ext cx="6880747" cy="234652"/>
          </a:xfrm>
          <a:prstGeom prst="rect">
            <a:avLst/>
          </a:prstGeom>
          <a:noFill/>
          <a:ln/>
        </p:spPr>
        <p:txBody>
          <a:bodyPr wrap="none" lIns="0" tIns="0" rIns="0" bIns="0" rtlCol="0" anchor="t"/>
          <a:lstStyle/>
          <a:p>
            <a:pPr algn="l" indent="0" marL="0">
              <a:lnSpc>
                <a:spcPct val="104000"/>
              </a:lnSpc>
              <a:buNone/>
            </a:pPr>
            <a:r>
              <a:rPr lang="en-US" sz="1450" dirty="0">
                <a:solidFill>
                  <a:srgbClr val="F98AC7"/>
                </a:solidFill>
                <a:latin typeface="Lora" pitchFamily="34" charset="0"/>
                <a:ea typeface="Lora" pitchFamily="34" charset="-122"/>
                <a:cs typeface="Lora" pitchFamily="34" charset="-120"/>
              </a:rPr>
              <a:t>Create &amp; Run</a:t>
            </a:r>
            <a:endParaRPr lang="en-US" sz="1450" dirty="0"/>
          </a:p>
        </p:txBody>
      </p:sp>
      <p:sp>
        <p:nvSpPr>
          <p:cNvPr id="4" name="Text 2"/>
          <p:cNvSpPr/>
          <p:nvPr/>
        </p:nvSpPr>
        <p:spPr>
          <a:xfrm>
            <a:off x="698086" y="2285008"/>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01</a:t>
            </a:r>
            <a:endParaRPr lang="en-US" sz="1250" dirty="0"/>
          </a:p>
        </p:txBody>
      </p:sp>
      <p:sp>
        <p:nvSpPr>
          <p:cNvPr id="5" name="Shape 3"/>
          <p:cNvSpPr/>
          <p:nvPr/>
        </p:nvSpPr>
        <p:spPr>
          <a:xfrm>
            <a:off x="698086" y="2537123"/>
            <a:ext cx="6880747" cy="19050"/>
          </a:xfrm>
          <a:prstGeom prst="rect">
            <a:avLst/>
          </a:prstGeom>
          <a:solidFill>
            <a:srgbClr val="6EB9FC"/>
          </a:solidFill>
          <a:ln/>
        </p:spPr>
      </p:sp>
      <p:sp>
        <p:nvSpPr>
          <p:cNvPr id="6" name="Text 4"/>
          <p:cNvSpPr/>
          <p:nvPr/>
        </p:nvSpPr>
        <p:spPr>
          <a:xfrm>
            <a:off x="698086" y="2654995"/>
            <a:ext cx="6880747" cy="242391"/>
          </a:xfrm>
          <a:prstGeom prst="rect">
            <a:avLst/>
          </a:prstGeom>
          <a:noFill/>
          <a:ln/>
        </p:spPr>
        <p:txBody>
          <a:bodyPr wrap="none" lIns="0" tIns="0" rIns="0" bIns="0" rtlCol="0" anchor="t"/>
          <a:lstStyle/>
          <a:p>
            <a:pPr algn="l" indent="0" marL="0">
              <a:lnSpc>
                <a:spcPct val="120000"/>
              </a:lnSpc>
              <a:buNone/>
            </a:pPr>
            <a:r>
              <a:rPr lang="en-US" sz="1250" dirty="0">
                <a:solidFill>
                  <a:srgbClr val="D6E5EF"/>
                </a:solidFill>
                <a:highlight>
                  <a:srgbClr val="323540"/>
                </a:highlight>
                <a:latin typeface="Consolas" pitchFamily="34" charset="0"/>
                <a:ea typeface="Consolas" pitchFamily="34" charset="-122"/>
                <a:cs typeface="Consolas" pitchFamily="34" charset="-120"/>
              </a:rPr>
              <a:t>npm create vite@latest student-app</a:t>
            </a:r>
            <a:endParaRPr lang="en-US" sz="1250" dirty="0"/>
          </a:p>
        </p:txBody>
      </p:sp>
      <p:sp>
        <p:nvSpPr>
          <p:cNvPr id="7" name="Text 5"/>
          <p:cNvSpPr/>
          <p:nvPr/>
        </p:nvSpPr>
        <p:spPr>
          <a:xfrm>
            <a:off x="698086" y="3144639"/>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02</a:t>
            </a:r>
            <a:endParaRPr lang="en-US" sz="1250" dirty="0"/>
          </a:p>
        </p:txBody>
      </p:sp>
      <p:sp>
        <p:nvSpPr>
          <p:cNvPr id="8" name="Shape 6"/>
          <p:cNvSpPr/>
          <p:nvPr/>
        </p:nvSpPr>
        <p:spPr>
          <a:xfrm>
            <a:off x="698086" y="3380879"/>
            <a:ext cx="6880747" cy="19050"/>
          </a:xfrm>
          <a:prstGeom prst="rect">
            <a:avLst/>
          </a:prstGeom>
          <a:solidFill>
            <a:srgbClr val="6EB9FC"/>
          </a:solidFill>
          <a:ln/>
        </p:spPr>
      </p:sp>
      <p:sp>
        <p:nvSpPr>
          <p:cNvPr id="9" name="Text 7"/>
          <p:cNvSpPr/>
          <p:nvPr/>
        </p:nvSpPr>
        <p:spPr>
          <a:xfrm>
            <a:off x="698086" y="3514626"/>
            <a:ext cx="6880747" cy="242391"/>
          </a:xfrm>
          <a:prstGeom prst="rect">
            <a:avLst/>
          </a:prstGeom>
          <a:noFill/>
          <a:ln/>
        </p:spPr>
        <p:txBody>
          <a:bodyPr wrap="none" lIns="0" tIns="0" rIns="0" bIns="0" rtlCol="0" anchor="t"/>
          <a:lstStyle/>
          <a:p>
            <a:pPr algn="l" indent="0" marL="0">
              <a:lnSpc>
                <a:spcPct val="120000"/>
              </a:lnSpc>
              <a:buNone/>
            </a:pPr>
            <a:r>
              <a:rPr lang="en-US" sz="1250" dirty="0">
                <a:solidFill>
                  <a:srgbClr val="D6E5EF"/>
                </a:solidFill>
                <a:highlight>
                  <a:srgbClr val="323540"/>
                </a:highlight>
                <a:latin typeface="Consolas" pitchFamily="34" charset="0"/>
                <a:ea typeface="Consolas" pitchFamily="34" charset="-122"/>
                <a:cs typeface="Consolas" pitchFamily="34" charset="-120"/>
              </a:rPr>
              <a:t>cd student-app</a:t>
            </a:r>
            <a:endParaRPr lang="en-US" sz="1250" dirty="0"/>
          </a:p>
        </p:txBody>
      </p:sp>
      <p:sp>
        <p:nvSpPr>
          <p:cNvPr id="10" name="Text 8"/>
          <p:cNvSpPr/>
          <p:nvPr/>
        </p:nvSpPr>
        <p:spPr>
          <a:xfrm>
            <a:off x="698086" y="4004270"/>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03</a:t>
            </a:r>
            <a:endParaRPr lang="en-US" sz="1250" dirty="0"/>
          </a:p>
        </p:txBody>
      </p:sp>
      <p:sp>
        <p:nvSpPr>
          <p:cNvPr id="11" name="Shape 9"/>
          <p:cNvSpPr/>
          <p:nvPr/>
        </p:nvSpPr>
        <p:spPr>
          <a:xfrm>
            <a:off x="698086" y="4224536"/>
            <a:ext cx="6880747" cy="19050"/>
          </a:xfrm>
          <a:prstGeom prst="rect">
            <a:avLst/>
          </a:prstGeom>
          <a:solidFill>
            <a:srgbClr val="6EB9FC"/>
          </a:solidFill>
          <a:ln/>
        </p:spPr>
      </p:sp>
      <p:sp>
        <p:nvSpPr>
          <p:cNvPr id="12" name="Text 10"/>
          <p:cNvSpPr/>
          <p:nvPr/>
        </p:nvSpPr>
        <p:spPr>
          <a:xfrm>
            <a:off x="698086" y="4374257"/>
            <a:ext cx="6880747" cy="242391"/>
          </a:xfrm>
          <a:prstGeom prst="rect">
            <a:avLst/>
          </a:prstGeom>
          <a:noFill/>
          <a:ln/>
        </p:spPr>
        <p:txBody>
          <a:bodyPr wrap="none" lIns="0" tIns="0" rIns="0" bIns="0" rtlCol="0" anchor="t"/>
          <a:lstStyle/>
          <a:p>
            <a:pPr algn="l" indent="0" marL="0">
              <a:lnSpc>
                <a:spcPct val="120000"/>
              </a:lnSpc>
              <a:buNone/>
            </a:pPr>
            <a:r>
              <a:rPr lang="en-US" sz="1250" dirty="0">
                <a:solidFill>
                  <a:srgbClr val="D6E5EF"/>
                </a:solidFill>
                <a:highlight>
                  <a:srgbClr val="323540"/>
                </a:highlight>
                <a:latin typeface="Consolas" pitchFamily="34" charset="0"/>
                <a:ea typeface="Consolas" pitchFamily="34" charset="-122"/>
                <a:cs typeface="Consolas" pitchFamily="34" charset="-120"/>
              </a:rPr>
              <a:t>npm install</a:t>
            </a:r>
            <a:endParaRPr lang="en-US" sz="1250" dirty="0"/>
          </a:p>
        </p:txBody>
      </p:sp>
      <p:sp>
        <p:nvSpPr>
          <p:cNvPr id="13" name="Text 11"/>
          <p:cNvSpPr/>
          <p:nvPr/>
        </p:nvSpPr>
        <p:spPr>
          <a:xfrm>
            <a:off x="698086" y="4863902"/>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04</a:t>
            </a:r>
            <a:endParaRPr lang="en-US" sz="1250" dirty="0"/>
          </a:p>
        </p:txBody>
      </p:sp>
      <p:sp>
        <p:nvSpPr>
          <p:cNvPr id="14" name="Shape 12"/>
          <p:cNvSpPr/>
          <p:nvPr/>
        </p:nvSpPr>
        <p:spPr>
          <a:xfrm>
            <a:off x="698086" y="5068292"/>
            <a:ext cx="6880747" cy="19050"/>
          </a:xfrm>
          <a:prstGeom prst="rect">
            <a:avLst/>
          </a:prstGeom>
          <a:solidFill>
            <a:srgbClr val="6EB9FC"/>
          </a:solidFill>
          <a:ln/>
        </p:spPr>
      </p:sp>
      <p:sp>
        <p:nvSpPr>
          <p:cNvPr id="15" name="Text 13"/>
          <p:cNvSpPr/>
          <p:nvPr/>
        </p:nvSpPr>
        <p:spPr>
          <a:xfrm>
            <a:off x="698086" y="5233888"/>
            <a:ext cx="6880747" cy="242391"/>
          </a:xfrm>
          <a:prstGeom prst="rect">
            <a:avLst/>
          </a:prstGeom>
          <a:noFill/>
          <a:ln/>
        </p:spPr>
        <p:txBody>
          <a:bodyPr wrap="none" lIns="0" tIns="0" rIns="0" bIns="0" rtlCol="0" anchor="t"/>
          <a:lstStyle/>
          <a:p>
            <a:pPr algn="l" indent="0" marL="0">
              <a:lnSpc>
                <a:spcPct val="120000"/>
              </a:lnSpc>
              <a:buNone/>
            </a:pPr>
            <a:r>
              <a:rPr lang="en-US" sz="1250" dirty="0">
                <a:solidFill>
                  <a:srgbClr val="D6E5EF"/>
                </a:solidFill>
                <a:highlight>
                  <a:srgbClr val="323540"/>
                </a:highlight>
                <a:latin typeface="Consolas" pitchFamily="34" charset="0"/>
                <a:ea typeface="Consolas" pitchFamily="34" charset="-122"/>
                <a:cs typeface="Consolas" pitchFamily="34" charset="-120"/>
              </a:rPr>
              <a:t>npm run dev</a:t>
            </a:r>
            <a:endParaRPr lang="en-US" sz="1250" dirty="0"/>
          </a:p>
        </p:txBody>
      </p:sp>
      <p:pic>
        <p:nvPicPr>
          <p:cNvPr id="16" name="Image 0" descr="preencoded.png">    </p:cNvPr>
          <p:cNvPicPr>
            <a:picLocks noChangeAspect="1"/>
          </p:cNvPicPr>
          <p:nvPr/>
        </p:nvPicPr>
        <p:blipFill>
          <a:blip r:embed="rId1"/>
          <a:stretch>
            <a:fillRect/>
          </a:stretch>
        </p:blipFill>
        <p:spPr>
          <a:xfrm>
            <a:off x="8327023" y="1619448"/>
            <a:ext cx="2820222" cy="2820293"/>
          </a:xfrm>
          <a:prstGeom prst="rect">
            <a:avLst/>
          </a:prstGeom>
        </p:spPr>
      </p:pic>
      <p:sp>
        <p:nvSpPr>
          <p:cNvPr id="17" name="Text 14"/>
          <p:cNvSpPr/>
          <p:nvPr/>
        </p:nvSpPr>
        <p:spPr>
          <a:xfrm>
            <a:off x="7974508" y="4583311"/>
            <a:ext cx="3525352" cy="234652"/>
          </a:xfrm>
          <a:prstGeom prst="rect">
            <a:avLst/>
          </a:prstGeom>
          <a:noFill/>
          <a:ln/>
        </p:spPr>
        <p:txBody>
          <a:bodyPr wrap="none" lIns="0" tIns="0" rIns="0" bIns="0" rtlCol="0" anchor="t"/>
          <a:lstStyle/>
          <a:p>
            <a:pPr algn="l" indent="0" marL="0">
              <a:lnSpc>
                <a:spcPct val="104000"/>
              </a:lnSpc>
              <a:buNone/>
            </a:pPr>
            <a:r>
              <a:rPr lang="en-US" sz="1450" dirty="0">
                <a:solidFill>
                  <a:srgbClr val="F98AC7"/>
                </a:solidFill>
                <a:latin typeface="Lora" pitchFamily="34" charset="0"/>
                <a:ea typeface="Lora" pitchFamily="34" charset="-122"/>
                <a:cs typeface="Lora" pitchFamily="34" charset="-120"/>
              </a:rPr>
              <a:t>Project Structure</a:t>
            </a:r>
            <a:endParaRPr lang="en-US" sz="1450" dirty="0"/>
          </a:p>
        </p:txBody>
      </p:sp>
      <p:sp>
        <p:nvSpPr>
          <p:cNvPr id="18" name="Text 15"/>
          <p:cNvSpPr/>
          <p:nvPr/>
        </p:nvSpPr>
        <p:spPr>
          <a:xfrm>
            <a:off x="7974508" y="4945559"/>
            <a:ext cx="3525352" cy="1052711"/>
          </a:xfrm>
          <a:prstGeom prst="rect">
            <a:avLst/>
          </a:prstGeom>
          <a:noFill/>
          <a:ln/>
        </p:spPr>
        <p:txBody>
          <a:bodyPr wrap="square" lIns="0" tIns="63833" rIns="0" bIns="0" rtlCol="0" anchor="t">
            <a:normAutofit/>
          </a:bodyPr>
          <a:lstStyle/>
          <a:p>
            <a:pPr algn="l" marL="254000" indent="-254000">
              <a:lnSpc>
                <a:spcPct val="120000"/>
              </a:lnSpc>
              <a:buSzPct val="100000"/>
              <a:buChar char="•"/>
            </a:pPr>
            <a:r>
              <a:rPr lang="en-US" sz="1250" b="1" dirty="0">
                <a:solidFill>
                  <a:srgbClr val="D6E5EF"/>
                </a:solidFill>
                <a:latin typeface="Source Sans 3 Bold" pitchFamily="34" charset="0"/>
                <a:ea typeface="Source Sans 3 Bold" pitchFamily="34" charset="-122"/>
                <a:cs typeface="Source Sans 3 Bold" pitchFamily="34" charset="-120"/>
              </a:rPr>
              <a:t>main.jsx</a:t>
            </a:r>
            <a:pPr algn="l" marL="254000" indent="-254000">
              <a:lnSpc>
                <a:spcPct val="120000"/>
              </a:lnSpc>
              <a:buSzPct val="100000"/>
              <a:buChar char="•"/>
            </a:pPr>
            <a:r>
              <a:rPr lang="en-US" sz="1250" dirty="0">
                <a:solidFill>
                  <a:srgbClr val="D6E5EF"/>
                </a:solidFill>
                <a:latin typeface="Source Sans 3" pitchFamily="34" charset="0"/>
                <a:ea typeface="Source Sans 3" pitchFamily="34" charset="-122"/>
                <a:cs typeface="Source Sans 3" pitchFamily="34" charset="-120"/>
              </a:rPr>
              <a:t> – Entry point, mounts the app</a:t>
            </a:r>
            <a:endParaRPr lang="en-US" sz="1250" dirty="0"/>
          </a:p>
          <a:p>
            <a:pPr algn="l" marL="254000" indent="-254000">
              <a:lnSpc>
                <a:spcPct val="120000"/>
              </a:lnSpc>
              <a:buSzPct val="100000"/>
              <a:buChar char="•"/>
            </a:pPr>
            <a:r>
              <a:rPr lang="en-US" sz="1250" b="1" dirty="0">
                <a:solidFill>
                  <a:srgbClr val="D6E5EF"/>
                </a:solidFill>
                <a:latin typeface="Source Sans 3 Bold" pitchFamily="34" charset="0"/>
                <a:ea typeface="Source Sans 3 Bold" pitchFamily="34" charset="-122"/>
                <a:cs typeface="Source Sans 3 Bold" pitchFamily="34" charset="-120"/>
              </a:rPr>
              <a:t>App.jsx</a:t>
            </a:r>
            <a:pPr algn="l" marL="254000" indent="-254000">
              <a:lnSpc>
                <a:spcPct val="120000"/>
              </a:lnSpc>
              <a:buSzPct val="100000"/>
              <a:buChar char="•"/>
            </a:pPr>
            <a:r>
              <a:rPr lang="en-US" sz="1250" dirty="0">
                <a:solidFill>
                  <a:srgbClr val="D6E5EF"/>
                </a:solidFill>
                <a:latin typeface="Source Sans 3" pitchFamily="34" charset="0"/>
                <a:ea typeface="Source Sans 3" pitchFamily="34" charset="-122"/>
                <a:cs typeface="Source Sans 3" pitchFamily="34" charset="-120"/>
              </a:rPr>
              <a:t> – Main application component</a:t>
            </a:r>
            <a:endParaRPr lang="en-US" sz="1250" dirty="0"/>
          </a:p>
          <a:p>
            <a:pPr algn="l" marL="254000" indent="-254000">
              <a:lnSpc>
                <a:spcPct val="120000"/>
              </a:lnSpc>
              <a:buSzPct val="100000"/>
              <a:buChar char="•"/>
            </a:pPr>
            <a:r>
              <a:rPr lang="en-US" sz="1250" b="1" dirty="0">
                <a:solidFill>
                  <a:srgbClr val="D6E5EF"/>
                </a:solidFill>
                <a:latin typeface="Source Sans 3 Bold" pitchFamily="34" charset="0"/>
                <a:ea typeface="Source Sans 3 Bold" pitchFamily="34" charset="-122"/>
                <a:cs typeface="Source Sans 3 Bold" pitchFamily="34" charset="-120"/>
              </a:rPr>
              <a:t>package.json</a:t>
            </a:r>
            <a:pPr algn="l" marL="254000" indent="-254000">
              <a:lnSpc>
                <a:spcPct val="120000"/>
              </a:lnSpc>
              <a:buSzPct val="100000"/>
              <a:buChar char="•"/>
            </a:pPr>
            <a:r>
              <a:rPr lang="en-US" sz="1250" dirty="0">
                <a:solidFill>
                  <a:srgbClr val="D6E5EF"/>
                </a:solidFill>
                <a:latin typeface="Source Sans 3" pitchFamily="34" charset="0"/>
                <a:ea typeface="Source Sans 3" pitchFamily="34" charset="-122"/>
                <a:cs typeface="Source Sans 3" pitchFamily="34" charset="-120"/>
              </a:rPr>
              <a:t> – Scripts &amp; dependencies</a:t>
            </a:r>
            <a:endParaRPr lang="en-US" sz="1250" dirty="0"/>
          </a:p>
          <a:p>
            <a:pPr algn="l" marL="254000" indent="-254000">
              <a:lnSpc>
                <a:spcPct val="120000"/>
              </a:lnSpc>
              <a:buSzPct val="100000"/>
              <a:buChar char="•"/>
            </a:pPr>
            <a:r>
              <a:rPr lang="en-US" sz="1250" b="1" dirty="0">
                <a:solidFill>
                  <a:srgbClr val="D6E5EF"/>
                </a:solidFill>
                <a:latin typeface="Source Sans 3 Bold" pitchFamily="34" charset="0"/>
                <a:ea typeface="Source Sans 3 Bold" pitchFamily="34" charset="-122"/>
                <a:cs typeface="Source Sans 3 Bold" pitchFamily="34" charset="-120"/>
              </a:rPr>
              <a:t>node_modules/</a:t>
            </a:r>
            <a:pPr algn="l" marL="254000" indent="-254000">
              <a:lnSpc>
                <a:spcPct val="120000"/>
              </a:lnSpc>
              <a:buSzPct val="100000"/>
              <a:buChar char="•"/>
            </a:pPr>
            <a:r>
              <a:rPr lang="en-US" sz="1250" dirty="0">
                <a:solidFill>
                  <a:srgbClr val="D6E5EF"/>
                </a:solidFill>
                <a:latin typeface="Source Sans 3" pitchFamily="34" charset="0"/>
                <a:ea typeface="Source Sans 3" pitchFamily="34" charset="-122"/>
                <a:cs typeface="Source Sans 3" pitchFamily="34" charset="-120"/>
              </a:rPr>
              <a:t> – Installed packages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444752"/>
          </a:solidFill>
          <a:ln/>
        </p:spPr>
      </p:sp>
      <p:pic>
        <p:nvPicPr>
          <p:cNvPr id="3" name="Image 0" descr="preencoded.png">    </p:cNvPr>
          <p:cNvPicPr>
            <a:picLocks noChangeAspect="1"/>
          </p:cNvPicPr>
          <p:nvPr/>
        </p:nvPicPr>
        <p:blipFill>
          <a:blip r:embed="rId1"/>
          <a:stretch>
            <a:fillRect/>
          </a:stretch>
        </p:blipFill>
        <p:spPr>
          <a:xfrm>
            <a:off x="7709501" y="500559"/>
            <a:ext cx="4392403" cy="5856784"/>
          </a:xfrm>
          <a:prstGeom prst="rect">
            <a:avLst/>
          </a:prstGeom>
        </p:spPr>
      </p:pic>
      <p:sp>
        <p:nvSpPr>
          <p:cNvPr id="4" name="Text 1"/>
          <p:cNvSpPr/>
          <p:nvPr/>
        </p:nvSpPr>
        <p:spPr>
          <a:xfrm>
            <a:off x="698086" y="701873"/>
            <a:ext cx="6223638" cy="528042"/>
          </a:xfrm>
          <a:prstGeom prst="rect">
            <a:avLst/>
          </a:prstGeom>
          <a:noFill/>
          <a:ln/>
        </p:spPr>
        <p:txBody>
          <a:bodyPr wrap="none" lIns="0" tIns="0" rIns="0" bIns="0" rtlCol="0" anchor="t"/>
          <a:lstStyle/>
          <a:p>
            <a:pPr algn="l" indent="0" marL="0">
              <a:lnSpc>
                <a:spcPct val="104000"/>
              </a:lnSpc>
              <a:buNone/>
            </a:pPr>
            <a:r>
              <a:rPr lang="en-US" sz="3300" dirty="0">
                <a:solidFill>
                  <a:srgbClr val="F98AC7"/>
                </a:solidFill>
                <a:latin typeface="Lora" pitchFamily="34" charset="0"/>
                <a:ea typeface="Lora" pitchFamily="34" charset="-122"/>
                <a:cs typeface="Lora" pitchFamily="34" charset="-120"/>
              </a:rPr>
              <a:t>JSX – JavaScript XML</a:t>
            </a:r>
            <a:endParaRPr lang="en-US" sz="33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086" y="1472208"/>
            <a:ext cx="6223638" cy="1043484"/>
          </a:xfrm>
          <a:prstGeom prst="rect">
            <a:avLst/>
          </a:prstGeom>
        </p:spPr>
      </p:pic>
      <p:sp>
        <p:nvSpPr>
          <p:cNvPr id="6" name="Text 2"/>
          <p:cNvSpPr/>
          <p:nvPr/>
        </p:nvSpPr>
        <p:spPr>
          <a:xfrm>
            <a:off x="1004565" y="1677095"/>
            <a:ext cx="5712277" cy="264021"/>
          </a:xfrm>
          <a:prstGeom prst="rect">
            <a:avLst/>
          </a:prstGeom>
          <a:noFill/>
          <a:ln/>
        </p:spPr>
        <p:txBody>
          <a:bodyPr wrap="none" lIns="0" tIns="0" rIns="0" bIns="0" rtlCol="0" anchor="t"/>
          <a:lstStyle/>
          <a:p>
            <a:pPr algn="l" indent="0" marL="0">
              <a:lnSpc>
                <a:spcPct val="104000"/>
              </a:lnSpc>
              <a:buNone/>
            </a:pPr>
            <a:r>
              <a:rPr lang="en-US" sz="1650" dirty="0">
                <a:solidFill>
                  <a:srgbClr val="F98AC7"/>
                </a:solidFill>
                <a:latin typeface="Lora" pitchFamily="34" charset="0"/>
                <a:ea typeface="Lora" pitchFamily="34" charset="-122"/>
                <a:cs typeface="Lora" pitchFamily="34" charset="-120"/>
              </a:rPr>
              <a:t>{}</a:t>
            </a:r>
            <a:pPr algn="l" indent="0" marL="0">
              <a:lnSpc>
                <a:spcPct val="104000"/>
              </a:lnSpc>
              <a:buNone/>
            </a:pPr>
            <a:r>
              <a:rPr lang="en-US" sz="1650" dirty="0">
                <a:solidFill>
                  <a:srgbClr val="D6E5EF"/>
                </a:solidFill>
                <a:latin typeface="Lora" pitchFamily="34" charset="0"/>
                <a:ea typeface="Lora" pitchFamily="34" charset="-122"/>
                <a:cs typeface="Lora" pitchFamily="34" charset="-120"/>
              </a:rPr>
              <a:t> Expressions</a:t>
            </a:r>
            <a:endParaRPr lang="en-US" sz="1650" dirty="0"/>
          </a:p>
        </p:txBody>
      </p:sp>
      <p:sp>
        <p:nvSpPr>
          <p:cNvPr id="7" name="Text 3"/>
          <p:cNvSpPr/>
          <p:nvPr/>
        </p:nvSpPr>
        <p:spPr>
          <a:xfrm>
            <a:off x="1004565" y="2038052"/>
            <a:ext cx="5712277" cy="272752"/>
          </a:xfrm>
          <a:prstGeom prst="rect">
            <a:avLst/>
          </a:prstGeom>
          <a:noFill/>
          <a:ln/>
        </p:spPr>
        <p:txBody>
          <a:bodyPr wrap="none" lIns="0" tIns="0" rIns="0" bIns="0" rtlCol="0" anchor="t"/>
          <a:lstStyle/>
          <a:p>
            <a:pPr algn="l" indent="0" marL="0">
              <a:lnSpc>
                <a:spcPct val="127000"/>
              </a:lnSpc>
              <a:buNone/>
            </a:pPr>
            <a:r>
              <a:rPr lang="en-US" sz="1400" dirty="0">
                <a:solidFill>
                  <a:srgbClr val="D6E5EF"/>
                </a:solidFill>
                <a:latin typeface="Source Sans 3" pitchFamily="34" charset="0"/>
                <a:ea typeface="Source Sans 3" pitchFamily="34" charset="-122"/>
                <a:cs typeface="Source Sans 3" pitchFamily="34" charset="-120"/>
              </a:rPr>
              <a:t>JavaScript expressions go inside curly braces</a:t>
            </a:r>
            <a:endParaRPr lang="en-US" sz="14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8086" y="2677220"/>
            <a:ext cx="6223638" cy="1056184"/>
          </a:xfrm>
          <a:prstGeom prst="rect">
            <a:avLst/>
          </a:prstGeom>
        </p:spPr>
      </p:pic>
      <p:sp>
        <p:nvSpPr>
          <p:cNvPr id="9" name="Text 4"/>
          <p:cNvSpPr/>
          <p:nvPr/>
        </p:nvSpPr>
        <p:spPr>
          <a:xfrm>
            <a:off x="1004565" y="2882106"/>
            <a:ext cx="5712277" cy="264021"/>
          </a:xfrm>
          <a:prstGeom prst="rect">
            <a:avLst/>
          </a:prstGeom>
          <a:noFill/>
          <a:ln/>
        </p:spPr>
        <p:txBody>
          <a:bodyPr wrap="none" lIns="0" tIns="0" rIns="0" bIns="0" rtlCol="0" anchor="t"/>
          <a:lstStyle/>
          <a:p>
            <a:pPr algn="l" indent="0" marL="0">
              <a:lnSpc>
                <a:spcPct val="104000"/>
              </a:lnSpc>
              <a:buNone/>
            </a:pPr>
            <a:r>
              <a:rPr lang="en-US" sz="1650" dirty="0">
                <a:solidFill>
                  <a:srgbClr val="F98AC7"/>
                </a:solidFill>
                <a:latin typeface="Lora" pitchFamily="34" charset="0"/>
                <a:ea typeface="Lora" pitchFamily="34" charset="-122"/>
                <a:cs typeface="Lora" pitchFamily="34" charset="-120"/>
              </a:rPr>
              <a:t>className</a:t>
            </a:r>
            <a:endParaRPr lang="en-US" sz="1650" dirty="0"/>
          </a:p>
        </p:txBody>
      </p:sp>
      <p:sp>
        <p:nvSpPr>
          <p:cNvPr id="10" name="Text 5"/>
          <p:cNvSpPr/>
          <p:nvPr/>
        </p:nvSpPr>
        <p:spPr>
          <a:xfrm>
            <a:off x="1004565" y="3243064"/>
            <a:ext cx="5712277" cy="285452"/>
          </a:xfrm>
          <a:prstGeom prst="rect">
            <a:avLst/>
          </a:prstGeom>
          <a:noFill/>
          <a:ln/>
        </p:spPr>
        <p:txBody>
          <a:bodyPr wrap="none" lIns="0" tIns="0" rIns="0" bIns="0" rtlCol="0" anchor="t"/>
          <a:lstStyle/>
          <a:p>
            <a:pPr algn="l" indent="0" marL="0">
              <a:lnSpc>
                <a:spcPct val="127000"/>
              </a:lnSpc>
              <a:buNone/>
            </a:pPr>
            <a:r>
              <a:rPr lang="en-US" sz="1400" dirty="0">
                <a:solidFill>
                  <a:srgbClr val="D6E5EF"/>
                </a:solidFill>
                <a:latin typeface="Source Sans 3" pitchFamily="34" charset="0"/>
                <a:ea typeface="Source Sans 3" pitchFamily="34" charset="-122"/>
                <a:cs typeface="Source Sans 3" pitchFamily="34" charset="-120"/>
              </a:rPr>
              <a:t>Use </a:t>
            </a:r>
            <a:pPr algn="l" indent="0" marL="0">
              <a:lnSpc>
                <a:spcPct val="127000"/>
              </a:lnSpc>
              <a:buNone/>
            </a:pPr>
            <a:r>
              <a:rPr lang="en-US" sz="1400" dirty="0">
                <a:solidFill>
                  <a:srgbClr val="D6E5EF"/>
                </a:solidFill>
                <a:highlight>
                  <a:srgbClr val="323540"/>
                </a:highlight>
                <a:latin typeface="Consolas" pitchFamily="34" charset="0"/>
                <a:ea typeface="Consolas" pitchFamily="34" charset="-122"/>
                <a:cs typeface="Consolas" pitchFamily="34" charset="-120"/>
              </a:rPr>
              <a:t>className</a:t>
            </a:r>
            <a:pPr algn="l" indent="0" marL="0">
              <a:lnSpc>
                <a:spcPct val="127000"/>
              </a:lnSpc>
              <a:buNone/>
            </a:pPr>
            <a:r>
              <a:rPr lang="en-US" sz="1400" dirty="0">
                <a:solidFill>
                  <a:srgbClr val="D6E5EF"/>
                </a:solidFill>
                <a:latin typeface="Source Sans 3" pitchFamily="34" charset="0"/>
                <a:ea typeface="Source Sans 3" pitchFamily="34" charset="-122"/>
                <a:cs typeface="Source Sans 3" pitchFamily="34" charset="-120"/>
              </a:rPr>
              <a:t> instead of </a:t>
            </a:r>
            <a:pPr algn="l" indent="0" marL="0">
              <a:lnSpc>
                <a:spcPct val="127000"/>
              </a:lnSpc>
              <a:buNone/>
            </a:pPr>
            <a:r>
              <a:rPr lang="en-US" sz="1400" dirty="0">
                <a:solidFill>
                  <a:srgbClr val="D6E5EF"/>
                </a:solidFill>
                <a:highlight>
                  <a:srgbClr val="323540"/>
                </a:highlight>
                <a:latin typeface="Consolas" pitchFamily="34" charset="0"/>
                <a:ea typeface="Consolas" pitchFamily="34" charset="-122"/>
                <a:cs typeface="Consolas" pitchFamily="34" charset="-120"/>
              </a:rPr>
              <a:t>class</a:t>
            </a:r>
            <a:endParaRPr lang="en-US" sz="14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8086" y="3894931"/>
            <a:ext cx="6223638" cy="1043484"/>
          </a:xfrm>
          <a:prstGeom prst="rect">
            <a:avLst/>
          </a:prstGeom>
        </p:spPr>
      </p:pic>
      <p:sp>
        <p:nvSpPr>
          <p:cNvPr id="12" name="Text 6"/>
          <p:cNvSpPr/>
          <p:nvPr/>
        </p:nvSpPr>
        <p:spPr>
          <a:xfrm>
            <a:off x="1004565" y="4099818"/>
            <a:ext cx="5712277" cy="264021"/>
          </a:xfrm>
          <a:prstGeom prst="rect">
            <a:avLst/>
          </a:prstGeom>
          <a:noFill/>
          <a:ln/>
        </p:spPr>
        <p:txBody>
          <a:bodyPr wrap="none" lIns="0" tIns="0" rIns="0" bIns="0" rtlCol="0" anchor="t"/>
          <a:lstStyle/>
          <a:p>
            <a:pPr algn="l" indent="0" marL="0">
              <a:lnSpc>
                <a:spcPct val="104000"/>
              </a:lnSpc>
              <a:buNone/>
            </a:pPr>
            <a:r>
              <a:rPr lang="en-US" sz="1650" dirty="0">
                <a:solidFill>
                  <a:srgbClr val="D6E5EF"/>
                </a:solidFill>
                <a:latin typeface="Lora" pitchFamily="34" charset="0"/>
                <a:ea typeface="Lora" pitchFamily="34" charset="-122"/>
                <a:cs typeface="Lora" pitchFamily="34" charset="-120"/>
              </a:rPr>
              <a:t>Closed Tags</a:t>
            </a:r>
            <a:endParaRPr lang="en-US" sz="1650" dirty="0"/>
          </a:p>
        </p:txBody>
      </p:sp>
      <p:sp>
        <p:nvSpPr>
          <p:cNvPr id="13" name="Text 7"/>
          <p:cNvSpPr/>
          <p:nvPr/>
        </p:nvSpPr>
        <p:spPr>
          <a:xfrm>
            <a:off x="1004565" y="4460776"/>
            <a:ext cx="5712277" cy="272752"/>
          </a:xfrm>
          <a:prstGeom prst="rect">
            <a:avLst/>
          </a:prstGeom>
          <a:noFill/>
          <a:ln/>
        </p:spPr>
        <p:txBody>
          <a:bodyPr wrap="none" lIns="0" tIns="0" rIns="0" bIns="0" rtlCol="0" anchor="t"/>
          <a:lstStyle/>
          <a:p>
            <a:pPr algn="l" indent="0" marL="0">
              <a:lnSpc>
                <a:spcPct val="127000"/>
              </a:lnSpc>
              <a:buNone/>
            </a:pPr>
            <a:r>
              <a:rPr lang="en-US" sz="1400" dirty="0">
                <a:solidFill>
                  <a:srgbClr val="D6E5EF"/>
                </a:solidFill>
                <a:latin typeface="Source Sans 3" pitchFamily="34" charset="0"/>
                <a:ea typeface="Source Sans 3" pitchFamily="34" charset="-122"/>
                <a:cs typeface="Source Sans 3" pitchFamily="34" charset="-120"/>
              </a:rPr>
              <a:t>All JSX elements must be properly closed</a:t>
            </a:r>
            <a:endParaRPr lang="en-US" sz="140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8086" y="5099943"/>
            <a:ext cx="6223638" cy="1056184"/>
          </a:xfrm>
          <a:prstGeom prst="rect">
            <a:avLst/>
          </a:prstGeom>
        </p:spPr>
      </p:pic>
      <p:sp>
        <p:nvSpPr>
          <p:cNvPr id="15" name="Text 8"/>
          <p:cNvSpPr/>
          <p:nvPr/>
        </p:nvSpPr>
        <p:spPr>
          <a:xfrm>
            <a:off x="1004565" y="5304830"/>
            <a:ext cx="5712277" cy="264021"/>
          </a:xfrm>
          <a:prstGeom prst="rect">
            <a:avLst/>
          </a:prstGeom>
          <a:noFill/>
          <a:ln/>
        </p:spPr>
        <p:txBody>
          <a:bodyPr wrap="none" lIns="0" tIns="0" rIns="0" bIns="0" rtlCol="0" anchor="t"/>
          <a:lstStyle/>
          <a:p>
            <a:pPr algn="l" indent="0" marL="0">
              <a:lnSpc>
                <a:spcPct val="104000"/>
              </a:lnSpc>
              <a:buNone/>
            </a:pPr>
            <a:r>
              <a:rPr lang="en-US" sz="1650" dirty="0">
                <a:solidFill>
                  <a:srgbClr val="D6E5EF"/>
                </a:solidFill>
                <a:latin typeface="Lora" pitchFamily="34" charset="0"/>
                <a:ea typeface="Lora" pitchFamily="34" charset="-122"/>
                <a:cs typeface="Lora" pitchFamily="34" charset="-120"/>
              </a:rPr>
              <a:t>One Root Element</a:t>
            </a:r>
            <a:endParaRPr lang="en-US" sz="1650" dirty="0"/>
          </a:p>
        </p:txBody>
      </p:sp>
      <p:sp>
        <p:nvSpPr>
          <p:cNvPr id="16" name="Text 9"/>
          <p:cNvSpPr/>
          <p:nvPr/>
        </p:nvSpPr>
        <p:spPr>
          <a:xfrm>
            <a:off x="1004565" y="5665788"/>
            <a:ext cx="5712277" cy="285452"/>
          </a:xfrm>
          <a:prstGeom prst="rect">
            <a:avLst/>
          </a:prstGeom>
          <a:noFill/>
          <a:ln/>
        </p:spPr>
        <p:txBody>
          <a:bodyPr wrap="none" lIns="0" tIns="0" rIns="0" bIns="0" rtlCol="0" anchor="t"/>
          <a:lstStyle/>
          <a:p>
            <a:pPr algn="l" indent="0" marL="0">
              <a:lnSpc>
                <a:spcPct val="127000"/>
              </a:lnSpc>
              <a:buNone/>
            </a:pPr>
            <a:r>
              <a:rPr lang="en-US" sz="1400" dirty="0">
                <a:solidFill>
                  <a:srgbClr val="D6E5EF"/>
                </a:solidFill>
                <a:latin typeface="Source Sans 3" pitchFamily="34" charset="0"/>
                <a:ea typeface="Source Sans 3" pitchFamily="34" charset="-122"/>
                <a:cs typeface="Source Sans 3" pitchFamily="34" charset="-120"/>
              </a:rPr>
              <a:t>Return one parent element or a Fragment </a:t>
            </a:r>
            <a:pPr algn="l" indent="0" marL="0">
              <a:lnSpc>
                <a:spcPct val="127000"/>
              </a:lnSpc>
              <a:buNone/>
            </a:pPr>
            <a:r>
              <a:rPr lang="en-US" sz="1400" dirty="0">
                <a:solidFill>
                  <a:srgbClr val="D6E5EF"/>
                </a:solidFill>
                <a:highlight>
                  <a:srgbClr val="323540"/>
                </a:highlight>
                <a:latin typeface="Consolas" pitchFamily="34" charset="0"/>
                <a:ea typeface="Consolas" pitchFamily="34" charset="-122"/>
                <a:cs typeface="Consolas" pitchFamily="34" charset="-120"/>
              </a:rPr>
              <a:t>&lt;&gt;...&lt;/&gt;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1030585"/>
            <a:ext cx="10795524"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Handling Events in React</a:t>
            </a:r>
            <a:endParaRPr lang="en-US" sz="36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2235994"/>
            <a:ext cx="498661" cy="498673"/>
          </a:xfrm>
          <a:prstGeom prst="rect">
            <a:avLst/>
          </a:prstGeom>
        </p:spPr>
      </p:pic>
      <p:sp>
        <p:nvSpPr>
          <p:cNvPr id="4" name="Text 1"/>
          <p:cNvSpPr/>
          <p:nvPr/>
        </p:nvSpPr>
        <p:spPr>
          <a:xfrm>
            <a:off x="1446077" y="2235994"/>
            <a:ext cx="6098725"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onClick</a:t>
            </a:r>
            <a:endParaRPr lang="en-US" sz="1800" dirty="0"/>
          </a:p>
        </p:txBody>
      </p:sp>
      <p:sp>
        <p:nvSpPr>
          <p:cNvPr id="5" name="Text 2"/>
          <p:cNvSpPr/>
          <p:nvPr/>
        </p:nvSpPr>
        <p:spPr>
          <a:xfrm>
            <a:off x="1446077" y="2728714"/>
            <a:ext cx="6098725" cy="31918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Handle button clicks</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086" y="3446859"/>
            <a:ext cx="498661" cy="498673"/>
          </a:xfrm>
          <a:prstGeom prst="rect">
            <a:avLst/>
          </a:prstGeom>
        </p:spPr>
      </p:pic>
      <p:sp>
        <p:nvSpPr>
          <p:cNvPr id="7" name="Text 3"/>
          <p:cNvSpPr/>
          <p:nvPr/>
        </p:nvSpPr>
        <p:spPr>
          <a:xfrm>
            <a:off x="1446077" y="3446859"/>
            <a:ext cx="6098725"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onChange</a:t>
            </a:r>
            <a:endParaRPr lang="en-US" sz="1800" dirty="0"/>
          </a:p>
        </p:txBody>
      </p:sp>
      <p:sp>
        <p:nvSpPr>
          <p:cNvPr id="8" name="Text 4"/>
          <p:cNvSpPr/>
          <p:nvPr/>
        </p:nvSpPr>
        <p:spPr>
          <a:xfrm>
            <a:off x="1446077" y="3939580"/>
            <a:ext cx="6098725" cy="33823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Handle input field changes — </a:t>
            </a:r>
            <a:pPr algn="l" indent="0" marL="0">
              <a:lnSpc>
                <a:spcPct val="133000"/>
              </a:lnSpc>
              <a:buNone/>
            </a:pPr>
            <a:r>
              <a:rPr lang="en-US" sz="1550" dirty="0">
                <a:solidFill>
                  <a:srgbClr val="D6E5EF"/>
                </a:solidFill>
                <a:highlight>
                  <a:srgbClr val="323540"/>
                </a:highlight>
                <a:latin typeface="Consolas" pitchFamily="34" charset="0"/>
                <a:ea typeface="Consolas" pitchFamily="34" charset="-122"/>
                <a:cs typeface="Consolas" pitchFamily="34" charset="-120"/>
              </a:rPr>
              <a:t>event.target.value</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4676775"/>
            <a:ext cx="498661" cy="498673"/>
          </a:xfrm>
          <a:prstGeom prst="rect">
            <a:avLst/>
          </a:prstGeom>
        </p:spPr>
      </p:pic>
      <p:sp>
        <p:nvSpPr>
          <p:cNvPr id="10" name="Text 5"/>
          <p:cNvSpPr/>
          <p:nvPr/>
        </p:nvSpPr>
        <p:spPr>
          <a:xfrm>
            <a:off x="1446077" y="4676775"/>
            <a:ext cx="6098725"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onSubmit</a:t>
            </a:r>
            <a:endParaRPr lang="en-US" sz="1800" dirty="0"/>
          </a:p>
        </p:txBody>
      </p:sp>
      <p:sp>
        <p:nvSpPr>
          <p:cNvPr id="11" name="Text 6"/>
          <p:cNvSpPr/>
          <p:nvPr/>
        </p:nvSpPr>
        <p:spPr>
          <a:xfrm>
            <a:off x="1446077" y="5169495"/>
            <a:ext cx="6098725" cy="33823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Handle form submissions — use </a:t>
            </a:r>
            <a:pPr algn="l" indent="0" marL="0">
              <a:lnSpc>
                <a:spcPct val="133000"/>
              </a:lnSpc>
              <a:buNone/>
            </a:pPr>
            <a:r>
              <a:rPr lang="en-US" sz="1550" dirty="0">
                <a:solidFill>
                  <a:srgbClr val="D6E5EF"/>
                </a:solidFill>
                <a:highlight>
                  <a:srgbClr val="323540"/>
                </a:highlight>
                <a:latin typeface="Consolas" pitchFamily="34" charset="0"/>
                <a:ea typeface="Consolas" pitchFamily="34" charset="-122"/>
                <a:cs typeface="Consolas" pitchFamily="34" charset="-120"/>
              </a:rPr>
              <a:t>preventDefault()</a:t>
            </a:r>
            <a:endParaRPr lang="en-US" sz="1550" dirty="0"/>
          </a:p>
        </p:txBody>
      </p:sp>
      <p:pic>
        <p:nvPicPr>
          <p:cNvPr id="12" name="Image 3" descr="preencoded.png">    </p:cNvPr>
          <p:cNvPicPr>
            <a:picLocks noChangeAspect="1"/>
          </p:cNvPicPr>
          <p:nvPr/>
        </p:nvPicPr>
        <p:blipFill>
          <a:blip r:embed="rId7"/>
          <a:stretch>
            <a:fillRect/>
          </a:stretch>
        </p:blipFill>
        <p:spPr>
          <a:xfrm>
            <a:off x="8037708" y="2140744"/>
            <a:ext cx="3462152" cy="34622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1733252"/>
            <a:ext cx="10795524"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Components – Building Blocks of React</a:t>
            </a:r>
            <a:endParaRPr lang="en-US" sz="3650" dirty="0"/>
          </a:p>
        </p:txBody>
      </p:sp>
      <p:pic>
        <p:nvPicPr>
          <p:cNvPr id="3" name="Image 0" descr="preencoded.png">    </p:cNvPr>
          <p:cNvPicPr>
            <a:picLocks noChangeAspect="1"/>
          </p:cNvPicPr>
          <p:nvPr/>
        </p:nvPicPr>
        <p:blipFill>
          <a:blip r:embed="rId1"/>
          <a:stretch>
            <a:fillRect/>
          </a:stretch>
        </p:blipFill>
        <p:spPr>
          <a:xfrm>
            <a:off x="698086" y="2718891"/>
            <a:ext cx="1105170" cy="1105198"/>
          </a:xfrm>
          <a:prstGeom prst="rect">
            <a:avLst/>
          </a:prstGeom>
        </p:spPr>
      </p:pic>
      <p:sp>
        <p:nvSpPr>
          <p:cNvPr id="4" name="Text 1"/>
          <p:cNvSpPr/>
          <p:nvPr/>
        </p:nvSpPr>
        <p:spPr>
          <a:xfrm>
            <a:off x="698086" y="4073426"/>
            <a:ext cx="2511858"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Capital Names</a:t>
            </a:r>
            <a:endParaRPr lang="en-US" sz="1800" dirty="0"/>
          </a:p>
        </p:txBody>
      </p:sp>
      <p:sp>
        <p:nvSpPr>
          <p:cNvPr id="5" name="Text 2"/>
          <p:cNvSpPr/>
          <p:nvPr/>
        </p:nvSpPr>
        <p:spPr>
          <a:xfrm>
            <a:off x="698086" y="4486374"/>
            <a:ext cx="251185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Component names must start with a capital letter</a:t>
            </a:r>
            <a:endParaRPr lang="en-US" sz="1550" dirty="0"/>
          </a:p>
        </p:txBody>
      </p:sp>
      <p:pic>
        <p:nvPicPr>
          <p:cNvPr id="6" name="Image 1" descr="preencoded.png">    </p:cNvPr>
          <p:cNvPicPr>
            <a:picLocks noChangeAspect="1"/>
          </p:cNvPicPr>
          <p:nvPr/>
        </p:nvPicPr>
        <p:blipFill>
          <a:blip r:embed="rId2"/>
          <a:stretch>
            <a:fillRect/>
          </a:stretch>
        </p:blipFill>
        <p:spPr>
          <a:xfrm>
            <a:off x="3459274" y="2718891"/>
            <a:ext cx="1105170" cy="1105198"/>
          </a:xfrm>
          <a:prstGeom prst="rect">
            <a:avLst/>
          </a:prstGeom>
        </p:spPr>
      </p:pic>
      <p:sp>
        <p:nvSpPr>
          <p:cNvPr id="7" name="Text 3"/>
          <p:cNvSpPr/>
          <p:nvPr/>
        </p:nvSpPr>
        <p:spPr>
          <a:xfrm>
            <a:off x="3459274" y="4073426"/>
            <a:ext cx="2511858"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Reusability</a:t>
            </a:r>
            <a:endParaRPr lang="en-US" sz="1800" dirty="0"/>
          </a:p>
        </p:txBody>
      </p:sp>
      <p:sp>
        <p:nvSpPr>
          <p:cNvPr id="8" name="Text 4"/>
          <p:cNvSpPr/>
          <p:nvPr/>
        </p:nvSpPr>
        <p:spPr>
          <a:xfrm>
            <a:off x="3459274" y="4486374"/>
            <a:ext cx="251185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One component can be used many times across the app</a:t>
            </a:r>
            <a:endParaRPr lang="en-US" sz="1550" dirty="0"/>
          </a:p>
        </p:txBody>
      </p:sp>
      <p:pic>
        <p:nvPicPr>
          <p:cNvPr id="9" name="Image 2" descr="preencoded.png">    </p:cNvPr>
          <p:cNvPicPr>
            <a:picLocks noChangeAspect="1"/>
          </p:cNvPicPr>
          <p:nvPr/>
        </p:nvPicPr>
        <p:blipFill>
          <a:blip r:embed="rId3"/>
          <a:stretch>
            <a:fillRect/>
          </a:stretch>
        </p:blipFill>
        <p:spPr>
          <a:xfrm>
            <a:off x="6220463" y="2718891"/>
            <a:ext cx="1105170" cy="1105198"/>
          </a:xfrm>
          <a:prstGeom prst="rect">
            <a:avLst/>
          </a:prstGeom>
        </p:spPr>
      </p:pic>
      <p:sp>
        <p:nvSpPr>
          <p:cNvPr id="10" name="Text 5"/>
          <p:cNvSpPr/>
          <p:nvPr/>
        </p:nvSpPr>
        <p:spPr>
          <a:xfrm>
            <a:off x="6220463" y="4073426"/>
            <a:ext cx="2511858"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Single Responsibility</a:t>
            </a:r>
            <a:endParaRPr lang="en-US" sz="1800" dirty="0"/>
          </a:p>
        </p:txBody>
      </p:sp>
      <p:sp>
        <p:nvSpPr>
          <p:cNvPr id="11" name="Text 6"/>
          <p:cNvSpPr/>
          <p:nvPr/>
        </p:nvSpPr>
        <p:spPr>
          <a:xfrm>
            <a:off x="6220463" y="4486374"/>
            <a:ext cx="2511858"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A good component has one clear, focused purpose</a:t>
            </a:r>
            <a:endParaRPr lang="en-US" sz="1550" dirty="0"/>
          </a:p>
        </p:txBody>
      </p:sp>
      <p:pic>
        <p:nvPicPr>
          <p:cNvPr id="12" name="Image 3" descr="preencoded.png">    </p:cNvPr>
          <p:cNvPicPr>
            <a:picLocks noChangeAspect="1"/>
          </p:cNvPicPr>
          <p:nvPr/>
        </p:nvPicPr>
        <p:blipFill>
          <a:blip r:embed="rId4"/>
          <a:stretch>
            <a:fillRect/>
          </a:stretch>
        </p:blipFill>
        <p:spPr>
          <a:xfrm>
            <a:off x="8981652" y="2718891"/>
            <a:ext cx="1105170" cy="1105198"/>
          </a:xfrm>
          <a:prstGeom prst="rect">
            <a:avLst/>
          </a:prstGeom>
        </p:spPr>
      </p:pic>
      <p:sp>
        <p:nvSpPr>
          <p:cNvPr id="13" name="Text 7"/>
          <p:cNvSpPr/>
          <p:nvPr/>
        </p:nvSpPr>
        <p:spPr>
          <a:xfrm>
            <a:off x="8981652" y="4073426"/>
            <a:ext cx="2511957"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Maintainability</a:t>
            </a:r>
            <a:endParaRPr lang="en-US" sz="1800" dirty="0"/>
          </a:p>
        </p:txBody>
      </p:sp>
      <p:sp>
        <p:nvSpPr>
          <p:cNvPr id="14" name="Text 8"/>
          <p:cNvSpPr/>
          <p:nvPr/>
        </p:nvSpPr>
        <p:spPr>
          <a:xfrm>
            <a:off x="8981652" y="4486374"/>
            <a:ext cx="2511957"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Easier to understand, test, and maintain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556419"/>
            <a:ext cx="10795524" cy="522486"/>
          </a:xfrm>
          <a:prstGeom prst="rect">
            <a:avLst/>
          </a:prstGeom>
          <a:noFill/>
          <a:ln/>
        </p:spPr>
        <p:txBody>
          <a:bodyPr wrap="none" lIns="0" tIns="0" rIns="0" bIns="0" rtlCol="0" anchor="t"/>
          <a:lstStyle/>
          <a:p>
            <a:pPr algn="l" indent="0" marL="0">
              <a:lnSpc>
                <a:spcPct val="104000"/>
              </a:lnSpc>
              <a:buNone/>
            </a:pPr>
            <a:r>
              <a:rPr lang="en-US" sz="3250" dirty="0">
                <a:solidFill>
                  <a:srgbClr val="F98AC7"/>
                </a:solidFill>
                <a:latin typeface="Lora" pitchFamily="34" charset="0"/>
                <a:ea typeface="Lora" pitchFamily="34" charset="-122"/>
                <a:cs typeface="Lora" pitchFamily="34" charset="-120"/>
              </a:rPr>
              <a:t>Props – Passing Data to Components</a:t>
            </a:r>
            <a:endParaRPr lang="en-US" sz="3250" dirty="0"/>
          </a:p>
        </p:txBody>
      </p:sp>
      <p:pic>
        <p:nvPicPr>
          <p:cNvPr id="3" name="Image 0" descr="preencoded.png">    </p:cNvPr>
          <p:cNvPicPr>
            <a:picLocks noChangeAspect="1"/>
          </p:cNvPicPr>
          <p:nvPr/>
        </p:nvPicPr>
        <p:blipFill>
          <a:blip r:embed="rId1"/>
          <a:stretch>
            <a:fillRect/>
          </a:stretch>
        </p:blipFill>
        <p:spPr>
          <a:xfrm>
            <a:off x="698086" y="1494234"/>
            <a:ext cx="3496679" cy="3496766"/>
          </a:xfrm>
          <a:prstGeom prst="rect">
            <a:avLst/>
          </a:prstGeom>
        </p:spPr>
      </p:pic>
      <p:sp>
        <p:nvSpPr>
          <p:cNvPr id="4" name="Text 1"/>
          <p:cNvSpPr/>
          <p:nvPr/>
        </p:nvSpPr>
        <p:spPr>
          <a:xfrm>
            <a:off x="4634491" y="2772073"/>
            <a:ext cx="6865369" cy="261243"/>
          </a:xfrm>
          <a:prstGeom prst="rect">
            <a:avLst/>
          </a:prstGeom>
          <a:noFill/>
          <a:ln/>
        </p:spPr>
        <p:txBody>
          <a:bodyPr wrap="none" lIns="0" tIns="0" rIns="0" bIns="0" rtlCol="0" anchor="t"/>
          <a:lstStyle/>
          <a:p>
            <a:pPr algn="l" indent="0" marL="0">
              <a:lnSpc>
                <a:spcPct val="104000"/>
              </a:lnSpc>
              <a:buNone/>
            </a:pPr>
            <a:r>
              <a:rPr lang="en-US" sz="1600" dirty="0">
                <a:solidFill>
                  <a:srgbClr val="F98AC7"/>
                </a:solidFill>
                <a:latin typeface="Lora" pitchFamily="34" charset="0"/>
                <a:ea typeface="Lora" pitchFamily="34" charset="-122"/>
                <a:cs typeface="Lora" pitchFamily="34" charset="-120"/>
              </a:rPr>
              <a:t>How Props Work</a:t>
            </a:r>
            <a:endParaRPr lang="en-US" sz="1600" dirty="0"/>
          </a:p>
        </p:txBody>
      </p:sp>
      <p:sp>
        <p:nvSpPr>
          <p:cNvPr id="5" name="Text 2"/>
          <p:cNvSpPr/>
          <p:nvPr/>
        </p:nvSpPr>
        <p:spPr>
          <a:xfrm>
            <a:off x="4634491" y="3191470"/>
            <a:ext cx="6865369" cy="537369"/>
          </a:xfrm>
          <a:prstGeom prst="rect">
            <a:avLst/>
          </a:prstGeom>
          <a:noFill/>
          <a:ln/>
        </p:spPr>
        <p:txBody>
          <a:bodyPr wrap="square" lIns="0" tIns="0" rIns="0" bIns="0" rtlCol="0" anchor="t">
            <a:normAutofit/>
          </a:bodyPr>
          <a:lstStyle/>
          <a:p>
            <a:pPr algn="l" indent="0" marL="0">
              <a:lnSpc>
                <a:spcPct val="126000"/>
              </a:lnSpc>
              <a:buNone/>
            </a:pPr>
            <a:r>
              <a:rPr lang="en-US" sz="1350" dirty="0">
                <a:solidFill>
                  <a:srgbClr val="D6E5EF"/>
                </a:solidFill>
                <a:latin typeface="Source Sans 3" pitchFamily="34" charset="0"/>
                <a:ea typeface="Source Sans 3" pitchFamily="34" charset="-122"/>
                <a:cs typeface="Source Sans 3" pitchFamily="34" charset="-120"/>
              </a:rPr>
              <a:t>Props are inputs passed from a </a:t>
            </a:r>
            <a:pPr algn="l" indent="0" marL="0">
              <a:lnSpc>
                <a:spcPct val="126000"/>
              </a:lnSpc>
              <a:buNone/>
            </a:pPr>
            <a:r>
              <a:rPr lang="en-US" sz="1350" b="1" dirty="0">
                <a:solidFill>
                  <a:srgbClr val="D6E5EF"/>
                </a:solidFill>
                <a:latin typeface="Source Sans 3 Bold" pitchFamily="34" charset="0"/>
                <a:ea typeface="Source Sans 3 Bold" pitchFamily="34" charset="-122"/>
                <a:cs typeface="Source Sans 3 Bold" pitchFamily="34" charset="-120"/>
              </a:rPr>
              <a:t>parent</a:t>
            </a:r>
            <a:pPr algn="l" indent="0" marL="0">
              <a:lnSpc>
                <a:spcPct val="126000"/>
              </a:lnSpc>
              <a:buNone/>
            </a:pPr>
            <a:r>
              <a:rPr lang="en-US" sz="1350" dirty="0">
                <a:solidFill>
                  <a:srgbClr val="D6E5EF"/>
                </a:solidFill>
                <a:latin typeface="Source Sans 3" pitchFamily="34" charset="0"/>
                <a:ea typeface="Source Sans 3" pitchFamily="34" charset="-122"/>
                <a:cs typeface="Source Sans 3" pitchFamily="34" charset="-120"/>
              </a:rPr>
              <a:t> to a </a:t>
            </a:r>
            <a:pPr algn="l" indent="0" marL="0">
              <a:lnSpc>
                <a:spcPct val="126000"/>
              </a:lnSpc>
              <a:buNone/>
            </a:pPr>
            <a:r>
              <a:rPr lang="en-US" sz="1350" b="1" dirty="0">
                <a:solidFill>
                  <a:srgbClr val="D6E5EF"/>
                </a:solidFill>
                <a:latin typeface="Source Sans 3 Bold" pitchFamily="34" charset="0"/>
                <a:ea typeface="Source Sans 3 Bold" pitchFamily="34" charset="-122"/>
                <a:cs typeface="Source Sans 3 Bold" pitchFamily="34" charset="-120"/>
              </a:rPr>
              <a:t>child</a:t>
            </a:r>
            <a:pPr algn="l" indent="0" marL="0">
              <a:lnSpc>
                <a:spcPct val="126000"/>
              </a:lnSpc>
              <a:buNone/>
            </a:pPr>
            <a:r>
              <a:rPr lang="en-US" sz="1350" dirty="0">
                <a:solidFill>
                  <a:srgbClr val="D6E5EF"/>
                </a:solidFill>
                <a:latin typeface="Source Sans 3" pitchFamily="34" charset="0"/>
                <a:ea typeface="Source Sans 3" pitchFamily="34" charset="-122"/>
                <a:cs typeface="Source Sans 3" pitchFamily="34" charset="-120"/>
              </a:rPr>
              <a:t> component, allowing the same component to display different data.</a:t>
            </a:r>
            <a:endParaRPr lang="en-US" sz="1350" dirty="0"/>
          </a:p>
        </p:txBody>
      </p:sp>
      <p:sp>
        <p:nvSpPr>
          <p:cNvPr id="6" name="Text 3"/>
          <p:cNvSpPr/>
          <p:nvPr/>
        </p:nvSpPr>
        <p:spPr>
          <a:xfrm>
            <a:off x="1255880" y="5408017"/>
            <a:ext cx="2908823" cy="261243"/>
          </a:xfrm>
          <a:prstGeom prst="rect">
            <a:avLst/>
          </a:prstGeom>
          <a:noFill/>
          <a:ln/>
        </p:spPr>
        <p:txBody>
          <a:bodyPr wrap="none" lIns="0" tIns="0" rIns="0" bIns="0" rtlCol="0" anchor="t"/>
          <a:lstStyle/>
          <a:p>
            <a:pPr algn="l" indent="0" marL="0">
              <a:lnSpc>
                <a:spcPct val="104000"/>
              </a:lnSpc>
              <a:buNone/>
            </a:pPr>
            <a:r>
              <a:rPr lang="en-US" sz="1600" dirty="0">
                <a:solidFill>
                  <a:srgbClr val="D6E5EF"/>
                </a:solidFill>
                <a:latin typeface="Lora" pitchFamily="34" charset="0"/>
                <a:ea typeface="Lora" pitchFamily="34" charset="-122"/>
                <a:cs typeface="Lora" pitchFamily="34" charset="-120"/>
              </a:rPr>
              <a:t>Parent → Child</a:t>
            </a:r>
            <a:endParaRPr lang="en-US" sz="1600" dirty="0"/>
          </a:p>
        </p:txBody>
      </p:sp>
      <p:sp>
        <p:nvSpPr>
          <p:cNvPr id="7" name="Text 4"/>
          <p:cNvSpPr/>
          <p:nvPr/>
        </p:nvSpPr>
        <p:spPr>
          <a:xfrm>
            <a:off x="1255880" y="5764113"/>
            <a:ext cx="2908823" cy="268684"/>
          </a:xfrm>
          <a:prstGeom prst="rect">
            <a:avLst/>
          </a:prstGeom>
          <a:noFill/>
          <a:ln/>
        </p:spPr>
        <p:txBody>
          <a:bodyPr wrap="none" lIns="0" tIns="0" rIns="0" bIns="0" rtlCol="0" anchor="t"/>
          <a:lstStyle/>
          <a:p>
            <a:pPr algn="l" indent="0" marL="0">
              <a:lnSpc>
                <a:spcPct val="126000"/>
              </a:lnSpc>
              <a:buNone/>
            </a:pPr>
            <a:r>
              <a:rPr lang="en-US" sz="1350" dirty="0">
                <a:solidFill>
                  <a:srgbClr val="D6E5EF"/>
                </a:solidFill>
                <a:latin typeface="Source Sans 3" pitchFamily="34" charset="0"/>
                <a:ea typeface="Source Sans 3" pitchFamily="34" charset="-122"/>
                <a:cs typeface="Source Sans 3" pitchFamily="34" charset="-120"/>
              </a:rPr>
              <a:t>One-directional data flow</a:t>
            </a:r>
            <a:endParaRPr lang="en-US" sz="1350" dirty="0"/>
          </a:p>
        </p:txBody>
      </p:sp>
      <p:sp>
        <p:nvSpPr>
          <p:cNvPr id="8" name="Text 5"/>
          <p:cNvSpPr/>
          <p:nvPr/>
        </p:nvSpPr>
        <p:spPr>
          <a:xfrm>
            <a:off x="4920234" y="5408017"/>
            <a:ext cx="2908922" cy="261243"/>
          </a:xfrm>
          <a:prstGeom prst="rect">
            <a:avLst/>
          </a:prstGeom>
          <a:noFill/>
          <a:ln/>
        </p:spPr>
        <p:txBody>
          <a:bodyPr wrap="none" lIns="0" tIns="0" rIns="0" bIns="0" rtlCol="0" anchor="t"/>
          <a:lstStyle/>
          <a:p>
            <a:pPr algn="l" indent="0" marL="0">
              <a:lnSpc>
                <a:spcPct val="104000"/>
              </a:lnSpc>
              <a:buNone/>
            </a:pPr>
            <a:r>
              <a:rPr lang="en-US" sz="1600" dirty="0">
                <a:solidFill>
                  <a:srgbClr val="D6E5EF"/>
                </a:solidFill>
                <a:latin typeface="Lora" pitchFamily="34" charset="0"/>
                <a:ea typeface="Lora" pitchFamily="34" charset="-122"/>
                <a:cs typeface="Lora" pitchFamily="34" charset="-120"/>
              </a:rPr>
              <a:t>Any Type</a:t>
            </a:r>
            <a:endParaRPr lang="en-US" sz="1600" dirty="0"/>
          </a:p>
        </p:txBody>
      </p:sp>
      <p:sp>
        <p:nvSpPr>
          <p:cNvPr id="9" name="Text 6"/>
          <p:cNvSpPr/>
          <p:nvPr/>
        </p:nvSpPr>
        <p:spPr>
          <a:xfrm>
            <a:off x="4920234" y="5764113"/>
            <a:ext cx="2908922" cy="537369"/>
          </a:xfrm>
          <a:prstGeom prst="rect">
            <a:avLst/>
          </a:prstGeom>
          <a:noFill/>
          <a:ln/>
        </p:spPr>
        <p:txBody>
          <a:bodyPr wrap="square" lIns="0" tIns="0" rIns="0" bIns="0" rtlCol="0" anchor="t">
            <a:normAutofit/>
          </a:bodyPr>
          <a:lstStyle/>
          <a:p>
            <a:pPr algn="l" indent="0" marL="0">
              <a:lnSpc>
                <a:spcPct val="126000"/>
              </a:lnSpc>
              <a:buNone/>
            </a:pPr>
            <a:r>
              <a:rPr lang="en-US" sz="1350" dirty="0">
                <a:solidFill>
                  <a:srgbClr val="D6E5EF"/>
                </a:solidFill>
                <a:latin typeface="Source Sans 3" pitchFamily="34" charset="0"/>
                <a:ea typeface="Source Sans 3" pitchFamily="34" charset="-122"/>
                <a:cs typeface="Source Sans 3" pitchFamily="34" charset="-120"/>
              </a:rPr>
              <a:t>Strings, numbers, arrays, objects, functions, JSX</a:t>
            </a:r>
            <a:endParaRPr lang="en-US" sz="1350" dirty="0"/>
          </a:p>
        </p:txBody>
      </p:sp>
      <p:sp>
        <p:nvSpPr>
          <p:cNvPr id="10" name="Text 7"/>
          <p:cNvSpPr/>
          <p:nvPr/>
        </p:nvSpPr>
        <p:spPr>
          <a:xfrm>
            <a:off x="8584688" y="5408017"/>
            <a:ext cx="2908922" cy="261243"/>
          </a:xfrm>
          <a:prstGeom prst="rect">
            <a:avLst/>
          </a:prstGeom>
          <a:noFill/>
          <a:ln/>
        </p:spPr>
        <p:txBody>
          <a:bodyPr wrap="none" lIns="0" tIns="0" rIns="0" bIns="0" rtlCol="0" anchor="t"/>
          <a:lstStyle/>
          <a:p>
            <a:pPr algn="l" indent="0" marL="0">
              <a:lnSpc>
                <a:spcPct val="104000"/>
              </a:lnSpc>
              <a:buNone/>
            </a:pPr>
            <a:r>
              <a:rPr lang="en-US" sz="1600" dirty="0">
                <a:solidFill>
                  <a:srgbClr val="D6E5EF"/>
                </a:solidFill>
                <a:latin typeface="Lora" pitchFamily="34" charset="0"/>
                <a:ea typeface="Lora" pitchFamily="34" charset="-122"/>
                <a:cs typeface="Lora" pitchFamily="34" charset="-120"/>
              </a:rPr>
              <a:t>Read-Only</a:t>
            </a:r>
            <a:endParaRPr lang="en-US" sz="1600" dirty="0"/>
          </a:p>
        </p:txBody>
      </p:sp>
      <p:sp>
        <p:nvSpPr>
          <p:cNvPr id="11" name="Text 8"/>
          <p:cNvSpPr/>
          <p:nvPr/>
        </p:nvSpPr>
        <p:spPr>
          <a:xfrm>
            <a:off x="8584688" y="5764113"/>
            <a:ext cx="2908922" cy="537369"/>
          </a:xfrm>
          <a:prstGeom prst="rect">
            <a:avLst/>
          </a:prstGeom>
          <a:noFill/>
          <a:ln/>
        </p:spPr>
        <p:txBody>
          <a:bodyPr wrap="square" lIns="0" tIns="0" rIns="0" bIns="0" rtlCol="0" anchor="t">
            <a:normAutofit/>
          </a:bodyPr>
          <a:lstStyle/>
          <a:p>
            <a:pPr algn="l" indent="0" marL="0">
              <a:lnSpc>
                <a:spcPct val="126000"/>
              </a:lnSpc>
              <a:buNone/>
            </a:pPr>
            <a:r>
              <a:rPr lang="en-US" sz="1350" dirty="0">
                <a:solidFill>
                  <a:srgbClr val="D6E5EF"/>
                </a:solidFill>
                <a:latin typeface="Source Sans 3" pitchFamily="34" charset="0"/>
                <a:ea typeface="Source Sans 3" pitchFamily="34" charset="-122"/>
                <a:cs typeface="Source Sans 3" pitchFamily="34" charset="-120"/>
              </a:rPr>
              <a:t>Never modify props inside the child component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444752"/>
          </a:solidFill>
          <a:ln/>
        </p:spPr>
      </p:sp>
      <p:pic>
        <p:nvPicPr>
          <p:cNvPr id="3" name="Image 0" descr="preencoded.png">    </p:cNvPr>
          <p:cNvPicPr>
            <a:picLocks noChangeAspect="1"/>
          </p:cNvPicPr>
          <p:nvPr/>
        </p:nvPicPr>
        <p:blipFill>
          <a:blip r:embed="rId1"/>
          <a:stretch>
            <a:fillRect/>
          </a:stretch>
        </p:blipFill>
        <p:spPr>
          <a:xfrm>
            <a:off x="7719522" y="513953"/>
            <a:ext cx="4372461" cy="5830094"/>
          </a:xfrm>
          <a:prstGeom prst="rect">
            <a:avLst/>
          </a:prstGeom>
        </p:spPr>
      </p:pic>
      <p:sp>
        <p:nvSpPr>
          <p:cNvPr id="4" name="Text 1"/>
          <p:cNvSpPr/>
          <p:nvPr/>
        </p:nvSpPr>
        <p:spPr>
          <a:xfrm>
            <a:off x="698086" y="1024830"/>
            <a:ext cx="6223638"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State and useState Hook</a:t>
            </a:r>
            <a:endParaRPr lang="en-US" sz="3650" dirty="0"/>
          </a:p>
        </p:txBody>
      </p:sp>
      <p:sp>
        <p:nvSpPr>
          <p:cNvPr id="5" name="Shape 2"/>
          <p:cNvSpPr/>
          <p:nvPr/>
        </p:nvSpPr>
        <p:spPr>
          <a:xfrm>
            <a:off x="698086" y="1910655"/>
            <a:ext cx="6223638" cy="2261989"/>
          </a:xfrm>
          <a:prstGeom prst="roundRect">
            <a:avLst>
              <a:gd name="adj" fmla="val 1323"/>
            </a:avLst>
          </a:prstGeom>
          <a:solidFill>
            <a:srgbClr val="444752"/>
          </a:solidFill>
          <a:ln/>
        </p:spPr>
      </p:sp>
      <p:sp>
        <p:nvSpPr>
          <p:cNvPr id="6" name="Shape 3"/>
          <p:cNvSpPr/>
          <p:nvPr/>
        </p:nvSpPr>
        <p:spPr>
          <a:xfrm>
            <a:off x="698086" y="1910655"/>
            <a:ext cx="3111819" cy="1130995"/>
          </a:xfrm>
          <a:custGeom>
            <a:avLst/>
            <a:gdLst/>
            <a:ahLst/>
            <a:cxnLst/>
            <a:rect l="l" t="t" r="r" b="b"/>
            <a:pathLst>
              <a:path w="3111819" h="1130995">
                <a:moveTo>
                  <a:pt x="24935" y="0"/>
                </a:moveTo>
                <a:lnTo>
                  <a:pt x="3111819" y="0"/>
                </a:lnTo>
                <a:lnTo>
                  <a:pt x="3111819" y="1130995"/>
                </a:lnTo>
                <a:lnTo>
                  <a:pt x="0" y="1130995"/>
                </a:lnTo>
                <a:lnTo>
                  <a:pt x="0" y="24935"/>
                </a:lnTo>
                <a:arcTo hR="24935" wR="24935" stAng="10800000" swAng="5400000"/>
                <a:close/>
              </a:path>
            </a:pathLst>
          </a:custGeom>
          <a:solidFill>
            <a:srgbClr val="444752"/>
          </a:solidFill>
          <a:ln/>
        </p:spPr>
      </p:sp>
      <p:sp>
        <p:nvSpPr>
          <p:cNvPr id="7" name="Text 4"/>
          <p:cNvSpPr/>
          <p:nvPr/>
        </p:nvSpPr>
        <p:spPr>
          <a:xfrm>
            <a:off x="897510" y="2110085"/>
            <a:ext cx="2712970" cy="293291"/>
          </a:xfrm>
          <a:prstGeom prst="rect">
            <a:avLst/>
          </a:prstGeom>
          <a:noFill/>
          <a:ln/>
        </p:spPr>
        <p:txBody>
          <a:bodyPr wrap="none" lIns="0" tIns="0" rIns="0" bIns="0" rtlCol="0" anchor="t"/>
          <a:lstStyle/>
          <a:p>
            <a:pPr algn="l" indent="0" marL="0">
              <a:lnSpc>
                <a:spcPct val="104000"/>
              </a:lnSpc>
              <a:buNone/>
            </a:pPr>
            <a:r>
              <a:rPr lang="en-US" sz="1800" dirty="0">
                <a:solidFill>
                  <a:srgbClr val="F98AC7"/>
                </a:solidFill>
                <a:latin typeface="Lora" pitchFamily="34" charset="0"/>
                <a:ea typeface="Lora" pitchFamily="34" charset="-122"/>
                <a:cs typeface="Lora" pitchFamily="34" charset="-120"/>
              </a:rPr>
              <a:t>count</a:t>
            </a:r>
            <a:endParaRPr lang="en-US" sz="1800" dirty="0"/>
          </a:p>
        </p:txBody>
      </p:sp>
      <p:sp>
        <p:nvSpPr>
          <p:cNvPr id="8" name="Text 5"/>
          <p:cNvSpPr/>
          <p:nvPr/>
        </p:nvSpPr>
        <p:spPr>
          <a:xfrm>
            <a:off x="897510" y="2523034"/>
            <a:ext cx="2712970" cy="31918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Current state value</a:t>
            </a:r>
            <a:endParaRPr lang="en-US" sz="1550" dirty="0"/>
          </a:p>
        </p:txBody>
      </p:sp>
      <p:sp>
        <p:nvSpPr>
          <p:cNvPr id="9" name="Shape 6"/>
          <p:cNvSpPr/>
          <p:nvPr/>
        </p:nvSpPr>
        <p:spPr>
          <a:xfrm>
            <a:off x="3809905" y="1910655"/>
            <a:ext cx="3111819" cy="1130995"/>
          </a:xfrm>
          <a:custGeom>
            <a:avLst/>
            <a:gdLst/>
            <a:ahLst/>
            <a:cxnLst/>
            <a:rect l="l" t="t" r="r" b="b"/>
            <a:pathLst>
              <a:path w="3111819" h="1130995">
                <a:moveTo>
                  <a:pt x="0" y="0"/>
                </a:moveTo>
                <a:lnTo>
                  <a:pt x="3086884" y="0"/>
                </a:lnTo>
                <a:arcTo hR="24935" wR="24935" stAng="16200000" swAng="5400000"/>
                <a:lnTo>
                  <a:pt x="3111819" y="1130995"/>
                </a:lnTo>
                <a:lnTo>
                  <a:pt x="0" y="1130995"/>
                </a:lnTo>
                <a:lnTo>
                  <a:pt x="0" y="0"/>
                </a:lnTo>
                <a:close/>
              </a:path>
            </a:pathLst>
          </a:custGeom>
          <a:solidFill>
            <a:srgbClr val="444752"/>
          </a:solidFill>
          <a:ln/>
        </p:spPr>
      </p:sp>
      <p:sp>
        <p:nvSpPr>
          <p:cNvPr id="10" name="Shape 7"/>
          <p:cNvSpPr/>
          <p:nvPr/>
        </p:nvSpPr>
        <p:spPr>
          <a:xfrm>
            <a:off x="3809905" y="1910655"/>
            <a:ext cx="25399" cy="1130995"/>
          </a:xfrm>
          <a:prstGeom prst="roundRect">
            <a:avLst>
              <a:gd name="adj" fmla="val 50001"/>
            </a:avLst>
          </a:prstGeom>
          <a:solidFill>
            <a:srgbClr val="5D606B"/>
          </a:solidFill>
          <a:ln/>
        </p:spPr>
      </p:sp>
      <p:sp>
        <p:nvSpPr>
          <p:cNvPr id="11" name="Text 8"/>
          <p:cNvSpPr/>
          <p:nvPr/>
        </p:nvSpPr>
        <p:spPr>
          <a:xfrm>
            <a:off x="4009329" y="2110085"/>
            <a:ext cx="2712970" cy="293291"/>
          </a:xfrm>
          <a:prstGeom prst="rect">
            <a:avLst/>
          </a:prstGeom>
          <a:noFill/>
          <a:ln/>
        </p:spPr>
        <p:txBody>
          <a:bodyPr wrap="none" lIns="0" tIns="0" rIns="0" bIns="0" rtlCol="0" anchor="t"/>
          <a:lstStyle/>
          <a:p>
            <a:pPr algn="l" indent="0" marL="0">
              <a:lnSpc>
                <a:spcPct val="104000"/>
              </a:lnSpc>
              <a:buNone/>
            </a:pPr>
            <a:r>
              <a:rPr lang="en-US" sz="1800" dirty="0">
                <a:solidFill>
                  <a:srgbClr val="F98AC7"/>
                </a:solidFill>
                <a:latin typeface="Lora" pitchFamily="34" charset="0"/>
                <a:ea typeface="Lora" pitchFamily="34" charset="-122"/>
                <a:cs typeface="Lora" pitchFamily="34" charset="-120"/>
              </a:rPr>
              <a:t>setCount</a:t>
            </a:r>
            <a:endParaRPr lang="en-US" sz="1800" dirty="0"/>
          </a:p>
        </p:txBody>
      </p:sp>
      <p:sp>
        <p:nvSpPr>
          <p:cNvPr id="12" name="Text 9"/>
          <p:cNvSpPr/>
          <p:nvPr/>
        </p:nvSpPr>
        <p:spPr>
          <a:xfrm>
            <a:off x="4009329" y="2523034"/>
            <a:ext cx="2712970" cy="31918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Function used to update state</a:t>
            </a:r>
            <a:endParaRPr lang="en-US" sz="1550" dirty="0"/>
          </a:p>
        </p:txBody>
      </p:sp>
      <p:sp>
        <p:nvSpPr>
          <p:cNvPr id="13" name="Shape 10"/>
          <p:cNvSpPr/>
          <p:nvPr/>
        </p:nvSpPr>
        <p:spPr>
          <a:xfrm>
            <a:off x="698086" y="3041650"/>
            <a:ext cx="6223638" cy="1130995"/>
          </a:xfrm>
          <a:custGeom>
            <a:avLst/>
            <a:gdLst/>
            <a:ahLst/>
            <a:cxnLst/>
            <a:rect l="l" t="t" r="r" b="b"/>
            <a:pathLst>
              <a:path w="6223638" h="1130995">
                <a:moveTo>
                  <a:pt x="0" y="0"/>
                </a:moveTo>
                <a:lnTo>
                  <a:pt x="6223638" y="0"/>
                </a:lnTo>
                <a:lnTo>
                  <a:pt x="6223638" y="1106059"/>
                </a:lnTo>
                <a:arcTo hR="24935" wR="24935" stAng="0" swAng="5400000"/>
                <a:lnTo>
                  <a:pt x="24935" y="1130995"/>
                </a:lnTo>
                <a:arcTo hR="24935" wR="24935" stAng="5400000" swAng="5400000"/>
                <a:lnTo>
                  <a:pt x="0" y="0"/>
                </a:lnTo>
                <a:close/>
              </a:path>
            </a:pathLst>
          </a:custGeom>
          <a:solidFill>
            <a:srgbClr val="444752"/>
          </a:solidFill>
          <a:ln/>
        </p:spPr>
      </p:sp>
      <p:sp>
        <p:nvSpPr>
          <p:cNvPr id="14" name="Shape 11"/>
          <p:cNvSpPr/>
          <p:nvPr/>
        </p:nvSpPr>
        <p:spPr>
          <a:xfrm>
            <a:off x="698086" y="3041650"/>
            <a:ext cx="6223638" cy="25400"/>
          </a:xfrm>
          <a:prstGeom prst="roundRect">
            <a:avLst>
              <a:gd name="adj" fmla="val 49999"/>
            </a:avLst>
          </a:prstGeom>
          <a:solidFill>
            <a:srgbClr val="5D606B"/>
          </a:solidFill>
          <a:ln/>
        </p:spPr>
      </p:sp>
      <p:sp>
        <p:nvSpPr>
          <p:cNvPr id="15" name="Text 12"/>
          <p:cNvSpPr/>
          <p:nvPr/>
        </p:nvSpPr>
        <p:spPr>
          <a:xfrm>
            <a:off x="897510" y="3241080"/>
            <a:ext cx="5824789" cy="293291"/>
          </a:xfrm>
          <a:prstGeom prst="rect">
            <a:avLst/>
          </a:prstGeom>
          <a:noFill/>
          <a:ln/>
        </p:spPr>
        <p:txBody>
          <a:bodyPr wrap="none" lIns="0" tIns="0" rIns="0" bIns="0" rtlCol="0" anchor="t"/>
          <a:lstStyle/>
          <a:p>
            <a:pPr algn="l" indent="0" marL="0">
              <a:lnSpc>
                <a:spcPct val="104000"/>
              </a:lnSpc>
              <a:buNone/>
            </a:pPr>
            <a:r>
              <a:rPr lang="en-US" sz="1800" dirty="0">
                <a:solidFill>
                  <a:srgbClr val="F98AC7"/>
                </a:solidFill>
                <a:latin typeface="Lora" pitchFamily="34" charset="0"/>
                <a:ea typeface="Lora" pitchFamily="34" charset="-122"/>
                <a:cs typeface="Lora" pitchFamily="34" charset="-120"/>
              </a:rPr>
              <a:t>0</a:t>
            </a:r>
            <a:endParaRPr lang="en-US" sz="1800" dirty="0"/>
          </a:p>
        </p:txBody>
      </p:sp>
      <p:sp>
        <p:nvSpPr>
          <p:cNvPr id="16" name="Text 13"/>
          <p:cNvSpPr/>
          <p:nvPr/>
        </p:nvSpPr>
        <p:spPr>
          <a:xfrm>
            <a:off x="897510" y="3654028"/>
            <a:ext cx="5824789" cy="319187"/>
          </a:xfrm>
          <a:prstGeom prst="rect">
            <a:avLst/>
          </a:prstGeom>
          <a:noFill/>
          <a:ln/>
        </p:spPr>
        <p:txBody>
          <a:bodyPr wrap="none" lIns="0" tIns="0" rIns="0" bIns="0" rtlCol="0" anchor="t"/>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Initial value passed to useState</a:t>
            </a:r>
            <a:endParaRPr lang="en-US" sz="1550" dirty="0"/>
          </a:p>
        </p:txBody>
      </p:sp>
      <p:sp>
        <p:nvSpPr>
          <p:cNvPr id="17" name="Shape 14"/>
          <p:cNvSpPr/>
          <p:nvPr/>
        </p:nvSpPr>
        <p:spPr>
          <a:xfrm>
            <a:off x="698086" y="4396978"/>
            <a:ext cx="6223638" cy="1436092"/>
          </a:xfrm>
          <a:prstGeom prst="roundRect">
            <a:avLst>
              <a:gd name="adj" fmla="val 2084"/>
            </a:avLst>
          </a:prstGeom>
          <a:solidFill>
            <a:srgbClr val="790645"/>
          </a:solidFill>
          <a:ln/>
        </p:spPr>
      </p:sp>
      <p:pic>
        <p:nvPicPr>
          <p:cNvPr id="18" name="Image 1" descr="preencoded.png">    </p:cNvPr>
          <p:cNvPicPr>
            <a:picLocks noChangeAspect="1"/>
          </p:cNvPicPr>
          <p:nvPr/>
        </p:nvPicPr>
        <p:blipFill>
          <a:blip r:embed="rId2"/>
          <a:stretch>
            <a:fillRect/>
          </a:stretch>
        </p:blipFill>
        <p:spPr>
          <a:xfrm>
            <a:off x="897510" y="4687590"/>
            <a:ext cx="249330" cy="199430"/>
          </a:xfrm>
          <a:prstGeom prst="rect">
            <a:avLst/>
          </a:prstGeom>
        </p:spPr>
      </p:pic>
      <p:sp>
        <p:nvSpPr>
          <p:cNvPr id="19" name="Text 15"/>
          <p:cNvSpPr/>
          <p:nvPr/>
        </p:nvSpPr>
        <p:spPr>
          <a:xfrm>
            <a:off x="1346266" y="4646216"/>
            <a:ext cx="5376033"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FFFFFF"/>
                </a:solidFill>
                <a:latin typeface="Source Sans 3" pitchFamily="34" charset="0"/>
                <a:ea typeface="Source Sans 3" pitchFamily="34" charset="-122"/>
                <a:cs typeface="Source Sans 3" pitchFamily="34" charset="-120"/>
              </a:rPr>
              <a:t>Never mutate state directly — always use the setter function. React automatically re-renders the component when state changes.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444752"/>
          </a:solidFill>
          <a:ln/>
        </p:spPr>
      </p:sp>
      <p:pic>
        <p:nvPicPr>
          <p:cNvPr id="3" name="Image 0" descr="preencoded.png">    </p:cNvPr>
          <p:cNvPicPr>
            <a:picLocks noChangeAspect="1"/>
          </p:cNvPicPr>
          <p:nvPr/>
        </p:nvPicPr>
        <p:blipFill>
          <a:blip r:embed="rId1"/>
          <a:stretch>
            <a:fillRect/>
          </a:stretch>
        </p:blipFill>
        <p:spPr>
          <a:xfrm>
            <a:off x="7704540" y="494010"/>
            <a:ext cx="4402325" cy="5869980"/>
          </a:xfrm>
          <a:prstGeom prst="rect">
            <a:avLst/>
          </a:prstGeom>
        </p:spPr>
      </p:pic>
      <p:sp>
        <p:nvSpPr>
          <p:cNvPr id="4" name="Text 1"/>
          <p:cNvSpPr/>
          <p:nvPr/>
        </p:nvSpPr>
        <p:spPr>
          <a:xfrm>
            <a:off x="698086" y="785118"/>
            <a:ext cx="6223638" cy="997347"/>
          </a:xfrm>
          <a:prstGeom prst="rect">
            <a:avLst/>
          </a:prstGeom>
          <a:noFill/>
          <a:ln/>
        </p:spPr>
        <p:txBody>
          <a:bodyPr wrap="square" lIns="0" tIns="0" rIns="0" bIns="0" rtlCol="0" anchor="t">
            <a:normAutofit/>
          </a:bodyPr>
          <a:lstStyle/>
          <a:p>
            <a:pPr algn="l" indent="0" marL="0">
              <a:lnSpc>
                <a:spcPct val="104000"/>
              </a:lnSpc>
              <a:buNone/>
            </a:pPr>
            <a:r>
              <a:rPr lang="en-US" sz="3100" dirty="0">
                <a:solidFill>
                  <a:srgbClr val="F98AC7"/>
                </a:solidFill>
                <a:latin typeface="Lora" pitchFamily="34" charset="0"/>
                <a:ea typeface="Lora" pitchFamily="34" charset="-122"/>
                <a:cs typeface="Lora" pitchFamily="34" charset="-120"/>
              </a:rPr>
              <a:t>Forms and Controlled Components</a:t>
            </a:r>
            <a:endParaRPr lang="en-US" sz="3100" dirty="0"/>
          </a:p>
        </p:txBody>
      </p:sp>
      <p:pic>
        <p:nvPicPr>
          <p:cNvPr id="5" name="Image 1" descr="preencoded.png">    </p:cNvPr>
          <p:cNvPicPr>
            <a:picLocks noChangeAspect="1"/>
          </p:cNvPicPr>
          <p:nvPr/>
        </p:nvPicPr>
        <p:blipFill>
          <a:blip r:embed="rId2"/>
          <a:stretch>
            <a:fillRect/>
          </a:stretch>
        </p:blipFill>
        <p:spPr>
          <a:xfrm>
            <a:off x="698086" y="1998563"/>
            <a:ext cx="847704" cy="1017290"/>
          </a:xfrm>
          <a:prstGeom prst="rect">
            <a:avLst/>
          </a:prstGeom>
        </p:spPr>
      </p:pic>
      <p:sp>
        <p:nvSpPr>
          <p:cNvPr id="6" name="Text 2"/>
          <p:cNvSpPr/>
          <p:nvPr/>
        </p:nvSpPr>
        <p:spPr>
          <a:xfrm>
            <a:off x="1689851" y="2168029"/>
            <a:ext cx="5231872" cy="249337"/>
          </a:xfrm>
          <a:prstGeom prst="rect">
            <a:avLst/>
          </a:prstGeom>
          <a:noFill/>
          <a:ln/>
        </p:spPr>
        <p:txBody>
          <a:bodyPr wrap="none" lIns="0" tIns="0" rIns="0" bIns="0" rtlCol="0" anchor="t"/>
          <a:lstStyle/>
          <a:p>
            <a:pPr algn="l" indent="0" marL="0">
              <a:lnSpc>
                <a:spcPct val="104000"/>
              </a:lnSpc>
              <a:buNone/>
            </a:pPr>
            <a:r>
              <a:rPr lang="en-US" sz="1550" dirty="0">
                <a:solidFill>
                  <a:srgbClr val="D6E5EF"/>
                </a:solidFill>
                <a:latin typeface="Lora" pitchFamily="34" charset="0"/>
                <a:ea typeface="Lora" pitchFamily="34" charset="-122"/>
                <a:cs typeface="Lora" pitchFamily="34" charset="-120"/>
              </a:rPr>
              <a:t>State → Input</a:t>
            </a:r>
            <a:endParaRPr lang="en-US" sz="1550" dirty="0"/>
          </a:p>
        </p:txBody>
      </p:sp>
      <p:sp>
        <p:nvSpPr>
          <p:cNvPr id="7" name="Text 3"/>
          <p:cNvSpPr/>
          <p:nvPr/>
        </p:nvSpPr>
        <p:spPr>
          <a:xfrm>
            <a:off x="1689851" y="2503785"/>
            <a:ext cx="5231872" cy="269974"/>
          </a:xfrm>
          <a:prstGeom prst="rect">
            <a:avLst/>
          </a:prstGeom>
          <a:noFill/>
          <a:ln/>
        </p:spPr>
        <p:txBody>
          <a:bodyPr wrap="none" lIns="0" tIns="0" rIns="0" bIns="0" rtlCol="0" anchor="t"/>
          <a:lstStyle/>
          <a:p>
            <a:pPr algn="l" indent="0" marL="0">
              <a:lnSpc>
                <a:spcPct val="123000"/>
              </a:lnSpc>
              <a:buNone/>
            </a:pPr>
            <a:r>
              <a:rPr lang="en-US" sz="1300" dirty="0">
                <a:solidFill>
                  <a:srgbClr val="D6E5EF"/>
                </a:solidFill>
                <a:latin typeface="Source Sans 3" pitchFamily="34" charset="0"/>
                <a:ea typeface="Source Sans 3" pitchFamily="34" charset="-122"/>
                <a:cs typeface="Source Sans 3" pitchFamily="34" charset="-120"/>
              </a:rPr>
              <a:t>Input </a:t>
            </a:r>
            <a:pPr algn="l" indent="0" marL="0">
              <a:lnSpc>
                <a:spcPct val="123000"/>
              </a:lnSpc>
              <a:buNone/>
            </a:pPr>
            <a:r>
              <a:rPr lang="en-US" sz="1300" dirty="0">
                <a:solidFill>
                  <a:srgbClr val="D6E5EF"/>
                </a:solidFill>
                <a:highlight>
                  <a:srgbClr val="323540"/>
                </a:highlight>
                <a:latin typeface="Consolas" pitchFamily="34" charset="0"/>
                <a:ea typeface="Consolas" pitchFamily="34" charset="-122"/>
                <a:cs typeface="Consolas" pitchFamily="34" charset="-120"/>
              </a:rPr>
              <a:t>value</a:t>
            </a:r>
            <a:pPr algn="l" indent="0" marL="0">
              <a:lnSpc>
                <a:spcPct val="123000"/>
              </a:lnSpc>
              <a:buNone/>
            </a:pPr>
            <a:r>
              <a:rPr lang="en-US" sz="1300" dirty="0">
                <a:solidFill>
                  <a:srgbClr val="D6E5EF"/>
                </a:solidFill>
                <a:latin typeface="Source Sans 3" pitchFamily="34" charset="0"/>
                <a:ea typeface="Source Sans 3" pitchFamily="34" charset="-122"/>
                <a:cs typeface="Source Sans 3" pitchFamily="34" charset="-120"/>
              </a:rPr>
              <a:t> is driven by React state</a:t>
            </a:r>
            <a:endParaRPr lang="en-US" sz="1300" dirty="0"/>
          </a:p>
        </p:txBody>
      </p:sp>
      <p:pic>
        <p:nvPicPr>
          <p:cNvPr id="8" name="Image 2" descr="preencoded.png">    </p:cNvPr>
          <p:cNvPicPr>
            <a:picLocks noChangeAspect="1"/>
          </p:cNvPicPr>
          <p:nvPr/>
        </p:nvPicPr>
        <p:blipFill>
          <a:blip r:embed="rId3"/>
          <a:stretch>
            <a:fillRect/>
          </a:stretch>
        </p:blipFill>
        <p:spPr>
          <a:xfrm>
            <a:off x="698086" y="3015853"/>
            <a:ext cx="847704" cy="1017290"/>
          </a:xfrm>
          <a:prstGeom prst="rect">
            <a:avLst/>
          </a:prstGeom>
        </p:spPr>
      </p:pic>
      <p:sp>
        <p:nvSpPr>
          <p:cNvPr id="9" name="Text 4"/>
          <p:cNvSpPr/>
          <p:nvPr/>
        </p:nvSpPr>
        <p:spPr>
          <a:xfrm>
            <a:off x="1689851" y="3185319"/>
            <a:ext cx="5231872" cy="249337"/>
          </a:xfrm>
          <a:prstGeom prst="rect">
            <a:avLst/>
          </a:prstGeom>
          <a:noFill/>
          <a:ln/>
        </p:spPr>
        <p:txBody>
          <a:bodyPr wrap="none" lIns="0" tIns="0" rIns="0" bIns="0" rtlCol="0" anchor="t"/>
          <a:lstStyle/>
          <a:p>
            <a:pPr algn="l" indent="0" marL="0">
              <a:lnSpc>
                <a:spcPct val="104000"/>
              </a:lnSpc>
              <a:buNone/>
            </a:pPr>
            <a:r>
              <a:rPr lang="en-US" sz="1550" dirty="0">
                <a:solidFill>
                  <a:srgbClr val="D6E5EF"/>
                </a:solidFill>
                <a:latin typeface="Lora" pitchFamily="34" charset="0"/>
                <a:ea typeface="Lora" pitchFamily="34" charset="-122"/>
                <a:cs typeface="Lora" pitchFamily="34" charset="-120"/>
              </a:rPr>
              <a:t>onChange → State</a:t>
            </a:r>
            <a:endParaRPr lang="en-US" sz="1550" dirty="0"/>
          </a:p>
        </p:txBody>
      </p:sp>
      <p:sp>
        <p:nvSpPr>
          <p:cNvPr id="10" name="Text 5"/>
          <p:cNvSpPr/>
          <p:nvPr/>
        </p:nvSpPr>
        <p:spPr>
          <a:xfrm>
            <a:off x="1689851" y="3521075"/>
            <a:ext cx="5231872" cy="250924"/>
          </a:xfrm>
          <a:prstGeom prst="rect">
            <a:avLst/>
          </a:prstGeom>
          <a:noFill/>
          <a:ln/>
        </p:spPr>
        <p:txBody>
          <a:bodyPr wrap="none" lIns="0" tIns="0" rIns="0" bIns="0" rtlCol="0" anchor="t"/>
          <a:lstStyle/>
          <a:p>
            <a:pPr algn="l" indent="0" marL="0">
              <a:lnSpc>
                <a:spcPct val="123000"/>
              </a:lnSpc>
              <a:buNone/>
            </a:pPr>
            <a:r>
              <a:rPr lang="en-US" sz="1300" dirty="0">
                <a:solidFill>
                  <a:srgbClr val="D6E5EF"/>
                </a:solidFill>
                <a:latin typeface="Source Sans 3" pitchFamily="34" charset="0"/>
                <a:ea typeface="Source Sans 3" pitchFamily="34" charset="-122"/>
                <a:cs typeface="Source Sans 3" pitchFamily="34" charset="-120"/>
              </a:rPr>
              <a:t>User typing updates state in real time</a:t>
            </a:r>
            <a:endParaRPr lang="en-US" sz="1300" dirty="0"/>
          </a:p>
        </p:txBody>
      </p:sp>
      <p:pic>
        <p:nvPicPr>
          <p:cNvPr id="11" name="Image 3" descr="preencoded.png">    </p:cNvPr>
          <p:cNvPicPr>
            <a:picLocks noChangeAspect="1"/>
          </p:cNvPicPr>
          <p:nvPr/>
        </p:nvPicPr>
        <p:blipFill>
          <a:blip r:embed="rId4"/>
          <a:stretch>
            <a:fillRect/>
          </a:stretch>
        </p:blipFill>
        <p:spPr>
          <a:xfrm>
            <a:off x="698086" y="4033143"/>
            <a:ext cx="847704" cy="1017290"/>
          </a:xfrm>
          <a:prstGeom prst="rect">
            <a:avLst/>
          </a:prstGeom>
        </p:spPr>
      </p:pic>
      <p:sp>
        <p:nvSpPr>
          <p:cNvPr id="12" name="Text 6"/>
          <p:cNvSpPr/>
          <p:nvPr/>
        </p:nvSpPr>
        <p:spPr>
          <a:xfrm>
            <a:off x="1689851" y="4202609"/>
            <a:ext cx="5231872" cy="249337"/>
          </a:xfrm>
          <a:prstGeom prst="rect">
            <a:avLst/>
          </a:prstGeom>
          <a:noFill/>
          <a:ln/>
        </p:spPr>
        <p:txBody>
          <a:bodyPr wrap="none" lIns="0" tIns="0" rIns="0" bIns="0" rtlCol="0" anchor="t"/>
          <a:lstStyle/>
          <a:p>
            <a:pPr algn="l" indent="0" marL="0">
              <a:lnSpc>
                <a:spcPct val="104000"/>
              </a:lnSpc>
              <a:buNone/>
            </a:pPr>
            <a:r>
              <a:rPr lang="en-US" sz="1550" dirty="0">
                <a:solidFill>
                  <a:srgbClr val="D6E5EF"/>
                </a:solidFill>
                <a:latin typeface="Lora" pitchFamily="34" charset="0"/>
                <a:ea typeface="Lora" pitchFamily="34" charset="-122"/>
                <a:cs typeface="Lora" pitchFamily="34" charset="-120"/>
              </a:rPr>
              <a:t>onSubmit → API</a:t>
            </a:r>
            <a:endParaRPr lang="en-US" sz="1550" dirty="0"/>
          </a:p>
        </p:txBody>
      </p:sp>
      <p:sp>
        <p:nvSpPr>
          <p:cNvPr id="13" name="Text 7"/>
          <p:cNvSpPr/>
          <p:nvPr/>
        </p:nvSpPr>
        <p:spPr>
          <a:xfrm>
            <a:off x="1689851" y="4538365"/>
            <a:ext cx="5231872" cy="250924"/>
          </a:xfrm>
          <a:prstGeom prst="rect">
            <a:avLst/>
          </a:prstGeom>
          <a:noFill/>
          <a:ln/>
        </p:spPr>
        <p:txBody>
          <a:bodyPr wrap="none" lIns="0" tIns="0" rIns="0" bIns="0" rtlCol="0" anchor="t"/>
          <a:lstStyle/>
          <a:p>
            <a:pPr algn="l" indent="0" marL="0">
              <a:lnSpc>
                <a:spcPct val="123000"/>
              </a:lnSpc>
              <a:buNone/>
            </a:pPr>
            <a:r>
              <a:rPr lang="en-US" sz="1300" dirty="0">
                <a:solidFill>
                  <a:srgbClr val="D6E5EF"/>
                </a:solidFill>
                <a:latin typeface="Source Sans 3" pitchFamily="34" charset="0"/>
                <a:ea typeface="Source Sans 3" pitchFamily="34" charset="-122"/>
                <a:cs typeface="Source Sans 3" pitchFamily="34" charset="-120"/>
              </a:rPr>
              <a:t>Reads current state and sends data to the backend</a:t>
            </a:r>
            <a:endParaRPr lang="en-US" sz="1300" dirty="0"/>
          </a:p>
        </p:txBody>
      </p:sp>
      <p:sp>
        <p:nvSpPr>
          <p:cNvPr id="14" name="Shape 8"/>
          <p:cNvSpPr/>
          <p:nvPr/>
        </p:nvSpPr>
        <p:spPr>
          <a:xfrm>
            <a:off x="698086" y="5212556"/>
            <a:ext cx="6223638" cy="860326"/>
          </a:xfrm>
          <a:prstGeom prst="roundRect">
            <a:avLst>
              <a:gd name="adj" fmla="val 2956"/>
            </a:avLst>
          </a:prstGeom>
          <a:solidFill>
            <a:srgbClr val="790645"/>
          </a:solidFill>
          <a:ln/>
        </p:spPr>
      </p:sp>
      <p:pic>
        <p:nvPicPr>
          <p:cNvPr id="15" name="Image 4" descr="preencoded.png">    </p:cNvPr>
          <p:cNvPicPr>
            <a:picLocks noChangeAspect="1"/>
          </p:cNvPicPr>
          <p:nvPr/>
        </p:nvPicPr>
        <p:blipFill>
          <a:blip r:embed="rId5"/>
          <a:stretch>
            <a:fillRect/>
          </a:stretch>
        </p:blipFill>
        <p:spPr>
          <a:xfrm>
            <a:off x="867547" y="5422106"/>
            <a:ext cx="211926" cy="169466"/>
          </a:xfrm>
          <a:prstGeom prst="rect">
            <a:avLst/>
          </a:prstGeom>
        </p:spPr>
      </p:pic>
      <p:sp>
        <p:nvSpPr>
          <p:cNvPr id="16" name="Text 9"/>
          <p:cNvSpPr/>
          <p:nvPr/>
        </p:nvSpPr>
        <p:spPr>
          <a:xfrm>
            <a:off x="1248934" y="5398988"/>
            <a:ext cx="5503328"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FFFFFF"/>
                </a:solidFill>
                <a:latin typeface="Source Sans 3" pitchFamily="34" charset="0"/>
                <a:ea typeface="Source Sans 3" pitchFamily="34" charset="-122"/>
                <a:cs typeface="Source Sans 3" pitchFamily="34" charset="-120"/>
              </a:rPr>
              <a:t>HTML input values are strings — convert types when necessary before sending to the API.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98086" y="1030585"/>
            <a:ext cx="10795524" cy="586680"/>
          </a:xfrm>
          <a:prstGeom prst="rect">
            <a:avLst/>
          </a:prstGeom>
          <a:noFill/>
          <a:ln/>
        </p:spPr>
        <p:txBody>
          <a:bodyPr wrap="none" lIns="0" tIns="0" rIns="0" bIns="0" rtlCol="0" anchor="t"/>
          <a:lstStyle/>
          <a:p>
            <a:pPr algn="l" indent="0" marL="0">
              <a:lnSpc>
                <a:spcPct val="104000"/>
              </a:lnSpc>
              <a:buNone/>
            </a:pPr>
            <a:r>
              <a:rPr lang="en-US" sz="3650" dirty="0">
                <a:solidFill>
                  <a:srgbClr val="F98AC7"/>
                </a:solidFill>
                <a:latin typeface="Lora" pitchFamily="34" charset="0"/>
                <a:ea typeface="Lora" pitchFamily="34" charset="-122"/>
                <a:cs typeface="Lora" pitchFamily="34" charset="-120"/>
              </a:rPr>
              <a:t>Conditional Rendering</a:t>
            </a:r>
            <a:endParaRPr lang="en-US" sz="3650" dirty="0"/>
          </a:p>
        </p:txBody>
      </p:sp>
      <p:pic>
        <p:nvPicPr>
          <p:cNvPr id="3" name="Image 0" descr="preencoded.png">    </p:cNvPr>
          <p:cNvPicPr>
            <a:picLocks noChangeAspect="1"/>
          </p:cNvPicPr>
          <p:nvPr/>
        </p:nvPicPr>
        <p:blipFill>
          <a:blip r:embed="rId1"/>
          <a:stretch>
            <a:fillRect/>
          </a:stretch>
        </p:blipFill>
        <p:spPr>
          <a:xfrm>
            <a:off x="698086" y="2140744"/>
            <a:ext cx="3462152" cy="3462238"/>
          </a:xfrm>
          <a:prstGeom prst="rect">
            <a:avLst/>
          </a:prstGeom>
        </p:spPr>
      </p:pic>
      <p:sp>
        <p:nvSpPr>
          <p:cNvPr id="4" name="Text 1"/>
          <p:cNvSpPr/>
          <p:nvPr/>
        </p:nvSpPr>
        <p:spPr>
          <a:xfrm>
            <a:off x="4653144" y="2191841"/>
            <a:ext cx="6846716" cy="293291"/>
          </a:xfrm>
          <a:prstGeom prst="rect">
            <a:avLst/>
          </a:prstGeom>
          <a:noFill/>
          <a:ln/>
        </p:spPr>
        <p:txBody>
          <a:bodyPr wrap="none" lIns="0" tIns="0" rIns="0" bIns="0" rtlCol="0" anchor="t"/>
          <a:lstStyle/>
          <a:p>
            <a:pPr algn="l" indent="0" marL="0">
              <a:lnSpc>
                <a:spcPct val="104000"/>
              </a:lnSpc>
              <a:buNone/>
            </a:pPr>
            <a:r>
              <a:rPr lang="en-US" sz="1800" dirty="0">
                <a:solidFill>
                  <a:srgbClr val="F98AC7"/>
                </a:solidFill>
                <a:latin typeface="Lora" pitchFamily="34" charset="0"/>
                <a:ea typeface="Lora" pitchFamily="34" charset="-122"/>
                <a:cs typeface="Lora" pitchFamily="34" charset="-120"/>
              </a:rPr>
              <a:t>Show the Right UI at the Right Time</a:t>
            </a:r>
            <a:endParaRPr lang="en-US" sz="18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3144" y="2709466"/>
            <a:ext cx="2149223" cy="2817515"/>
          </a:xfrm>
          <a:prstGeom prst="rect">
            <a:avLst/>
          </a:prstGeom>
        </p:spPr>
      </p:pic>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78137" y="2884488"/>
            <a:ext cx="299137" cy="299145"/>
          </a:xfrm>
          <a:prstGeom prst="rect">
            <a:avLst/>
          </a:prstGeom>
        </p:spPr>
      </p:pic>
      <p:sp>
        <p:nvSpPr>
          <p:cNvPr id="7" name="Text 2"/>
          <p:cNvSpPr/>
          <p:nvPr/>
        </p:nvSpPr>
        <p:spPr>
          <a:xfrm>
            <a:off x="4877968" y="3532684"/>
            <a:ext cx="1699575" cy="586581"/>
          </a:xfrm>
          <a:prstGeom prst="rect">
            <a:avLst/>
          </a:prstGeom>
          <a:noFill/>
          <a:ln/>
        </p:spPr>
        <p:txBody>
          <a:bodyPr wrap="square" lIns="0" tIns="0" rIns="0" bIns="0" rtlCol="0" anchor="t">
            <a:normAutofit/>
          </a:bodyPr>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&amp;&amp; Logical AND</a:t>
            </a:r>
            <a:endParaRPr lang="en-US" sz="1800" dirty="0"/>
          </a:p>
        </p:txBody>
      </p:sp>
      <p:sp>
        <p:nvSpPr>
          <p:cNvPr id="8" name="Text 3"/>
          <p:cNvSpPr/>
          <p:nvPr/>
        </p:nvSpPr>
        <p:spPr>
          <a:xfrm>
            <a:off x="4877968" y="4318695"/>
            <a:ext cx="1699575"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Show something </a:t>
            </a:r>
            <a:pPr algn="l" indent="0" marL="0">
              <a:lnSpc>
                <a:spcPct val="133000"/>
              </a:lnSpc>
              <a:buNone/>
            </a:pPr>
            <a:r>
              <a:rPr lang="en-US" sz="1550" b="1" dirty="0">
                <a:solidFill>
                  <a:srgbClr val="D6E5EF"/>
                </a:solidFill>
                <a:latin typeface="Source Sans 3 Bold" pitchFamily="34" charset="0"/>
                <a:ea typeface="Source Sans 3 Bold" pitchFamily="34" charset="-122"/>
                <a:cs typeface="Source Sans 3 Bold" pitchFamily="34" charset="-120"/>
              </a:rPr>
              <a:t>only when</a:t>
            </a:r>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 a condition is true</a:t>
            </a:r>
            <a:endParaRPr lang="en-US" sz="155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01791" y="2709466"/>
            <a:ext cx="2149322" cy="2817515"/>
          </a:xfrm>
          <a:prstGeom prst="rect">
            <a:avLst/>
          </a:prstGeom>
        </p:spPr>
      </p:pic>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26884" y="2884488"/>
            <a:ext cx="299137" cy="299145"/>
          </a:xfrm>
          <a:prstGeom prst="rect">
            <a:avLst/>
          </a:prstGeom>
        </p:spPr>
      </p:pic>
      <p:sp>
        <p:nvSpPr>
          <p:cNvPr id="11" name="Text 4"/>
          <p:cNvSpPr/>
          <p:nvPr/>
        </p:nvSpPr>
        <p:spPr>
          <a:xfrm>
            <a:off x="7226615" y="3532684"/>
            <a:ext cx="1699674"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Ternary ? :</a:t>
            </a:r>
            <a:endParaRPr lang="en-US" sz="1800" dirty="0"/>
          </a:p>
        </p:txBody>
      </p:sp>
      <p:sp>
        <p:nvSpPr>
          <p:cNvPr id="12" name="Text 5"/>
          <p:cNvSpPr/>
          <p:nvPr/>
        </p:nvSpPr>
        <p:spPr>
          <a:xfrm>
            <a:off x="7226615" y="4025404"/>
            <a:ext cx="1699674" cy="95756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Show </a:t>
            </a:r>
            <a:pPr algn="l" indent="0" marL="0">
              <a:lnSpc>
                <a:spcPct val="133000"/>
              </a:lnSpc>
              <a:buNone/>
            </a:pPr>
            <a:r>
              <a:rPr lang="en-US" sz="1550" b="1" dirty="0">
                <a:solidFill>
                  <a:srgbClr val="D6E5EF"/>
                </a:solidFill>
                <a:latin typeface="Source Sans 3 Bold" pitchFamily="34" charset="0"/>
                <a:ea typeface="Source Sans 3 Bold" pitchFamily="34" charset="-122"/>
                <a:cs typeface="Source Sans 3 Bold" pitchFamily="34" charset="-120"/>
              </a:rPr>
              <a:t>one of two</a:t>
            </a:r>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 alternatives based on condition</a:t>
            </a:r>
            <a:endParaRPr lang="en-US" sz="1550" dirty="0"/>
          </a:p>
        </p:txBody>
      </p:sp>
      <p:pic>
        <p:nvPicPr>
          <p:cNvPr id="13"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50538" y="2709466"/>
            <a:ext cx="2149322" cy="2817515"/>
          </a:xfrm>
          <a:prstGeom prst="rect">
            <a:avLst/>
          </a:prstGeom>
        </p:spPr>
      </p:pic>
      <p:pic>
        <p:nvPicPr>
          <p:cNvPr id="14"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275630" y="2884488"/>
            <a:ext cx="299137" cy="299145"/>
          </a:xfrm>
          <a:prstGeom prst="rect">
            <a:avLst/>
          </a:prstGeom>
        </p:spPr>
      </p:pic>
      <p:sp>
        <p:nvSpPr>
          <p:cNvPr id="15" name="Text 6"/>
          <p:cNvSpPr/>
          <p:nvPr/>
        </p:nvSpPr>
        <p:spPr>
          <a:xfrm>
            <a:off x="9575362" y="3532684"/>
            <a:ext cx="1699674" cy="293291"/>
          </a:xfrm>
          <a:prstGeom prst="rect">
            <a:avLst/>
          </a:prstGeom>
          <a:noFill/>
          <a:ln/>
        </p:spPr>
        <p:txBody>
          <a:bodyPr wrap="none" lIns="0" tIns="0" rIns="0" bIns="0" rtlCol="0" anchor="t"/>
          <a:lstStyle/>
          <a:p>
            <a:pPr algn="l" indent="0" marL="0">
              <a:lnSpc>
                <a:spcPct val="104000"/>
              </a:lnSpc>
              <a:buNone/>
            </a:pPr>
            <a:r>
              <a:rPr lang="en-US" sz="1800" dirty="0">
                <a:solidFill>
                  <a:srgbClr val="D6E5EF"/>
                </a:solidFill>
                <a:latin typeface="Lora" pitchFamily="34" charset="0"/>
                <a:ea typeface="Lora" pitchFamily="34" charset="-122"/>
                <a:cs typeface="Lora" pitchFamily="34" charset="-120"/>
              </a:rPr>
              <a:t>Loading State</a:t>
            </a:r>
            <a:endParaRPr lang="en-US" sz="1800" dirty="0"/>
          </a:p>
        </p:txBody>
      </p:sp>
      <p:sp>
        <p:nvSpPr>
          <p:cNvPr id="16" name="Text 7"/>
          <p:cNvSpPr/>
          <p:nvPr/>
        </p:nvSpPr>
        <p:spPr>
          <a:xfrm>
            <a:off x="9575362" y="4025404"/>
            <a:ext cx="1699674" cy="1276747"/>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Display </a:t>
            </a:r>
            <a:pPr algn="l" indent="0" marL="0">
              <a:lnSpc>
                <a:spcPct val="133000"/>
              </a:lnSpc>
              <a:buNone/>
            </a:pPr>
            <a:r>
              <a:rPr lang="en-US" sz="1550" b="1" dirty="0">
                <a:solidFill>
                  <a:srgbClr val="D6E5EF"/>
                </a:solidFill>
                <a:latin typeface="Source Sans 3 Bold" pitchFamily="34" charset="0"/>
                <a:ea typeface="Source Sans 3 Bold" pitchFamily="34" charset="-122"/>
                <a:cs typeface="Source Sans 3 Bold" pitchFamily="34" charset="-120"/>
              </a:rPr>
              <a:t>"Loading..."</a:t>
            </a:r>
            <a:pPr algn="l"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 while fetching data from API</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98086" y="1044972"/>
            <a:ext cx="10795524" cy="440035"/>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Rendering Lists with map() and Keys</a:t>
            </a:r>
            <a:endParaRPr lang="en-US" sz="2750" dirty="0"/>
          </a:p>
        </p:txBody>
      </p:sp>
      <p:pic>
        <p:nvPicPr>
          <p:cNvPr id="3" name="Image 0" descr="preencoded.png">    </p:cNvPr>
          <p:cNvPicPr>
            <a:picLocks noChangeAspect="1"/>
          </p:cNvPicPr>
          <p:nvPr/>
        </p:nvPicPr>
        <p:blipFill>
          <a:blip r:embed="rId1"/>
          <a:stretch>
            <a:fillRect/>
          </a:stretch>
        </p:blipFill>
        <p:spPr>
          <a:xfrm>
            <a:off x="1210438" y="1779488"/>
            <a:ext cx="3074414" cy="3074491"/>
          </a:xfrm>
          <a:prstGeom prst="rect">
            <a:avLst/>
          </a:prstGeom>
        </p:spPr>
      </p:pic>
      <p:sp>
        <p:nvSpPr>
          <p:cNvPr id="4" name="Text 1"/>
          <p:cNvSpPr/>
          <p:nvPr/>
        </p:nvSpPr>
        <p:spPr>
          <a:xfrm>
            <a:off x="5168572" y="1897955"/>
            <a:ext cx="6331288" cy="64105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When displaying dynamic collections of data in React, the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map()</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array method is crucial for transforming data into renderable JSX. For proper functionality and performance, every item in a rendered list must be assigned a unique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key</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prop.</a:t>
            </a:r>
            <a:endParaRPr lang="en-US" sz="1150" dirty="0"/>
          </a:p>
        </p:txBody>
      </p:sp>
      <p:sp>
        <p:nvSpPr>
          <p:cNvPr id="5" name="Text 2"/>
          <p:cNvSpPr/>
          <p:nvPr/>
        </p:nvSpPr>
        <p:spPr>
          <a:xfrm>
            <a:off x="5231277" y="2701479"/>
            <a:ext cx="211132" cy="264021"/>
          </a:xfrm>
          <a:prstGeom prst="rect">
            <a:avLst/>
          </a:prstGeom>
          <a:noFill/>
          <a:ln/>
        </p:spPr>
        <p:txBody>
          <a:bodyPr wrap="none" lIns="0" tIns="0" rIns="0" bIns="0" rtlCol="0" anchor="ctr"/>
          <a:lstStyle/>
          <a:p>
            <a:pPr algn="ctr" indent="0" marL="0">
              <a:lnSpc>
                <a:spcPct val="100000"/>
              </a:lnSpc>
              <a:buNone/>
            </a:pPr>
            <a:r>
              <a:rPr lang="en-US" sz="1650" dirty="0">
                <a:solidFill>
                  <a:srgbClr val="D6E5EF"/>
                </a:solidFill>
                <a:latin typeface="Lora" pitchFamily="34" charset="0"/>
                <a:ea typeface="Lora" pitchFamily="34" charset="-122"/>
                <a:cs typeface="Lora" pitchFamily="34" charset="-120"/>
              </a:rPr>
              <a:t>1</a:t>
            </a:r>
            <a:endParaRPr lang="en-US" sz="1650" dirty="0"/>
          </a:p>
        </p:txBody>
      </p:sp>
      <p:sp>
        <p:nvSpPr>
          <p:cNvPr id="6" name="Text 3"/>
          <p:cNvSpPr/>
          <p:nvPr/>
        </p:nvSpPr>
        <p:spPr>
          <a:xfrm>
            <a:off x="5617228" y="2716609"/>
            <a:ext cx="2646892" cy="22631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highlight>
                  <a:srgbClr val="323540"/>
                </a:highlight>
                <a:latin typeface="Consolas" pitchFamily="34" charset="0"/>
                <a:ea typeface="Consolas" pitchFamily="34" charset="-122"/>
                <a:cs typeface="Consolas" pitchFamily="34" charset="-120"/>
              </a:rPr>
              <a:t>map()</a:t>
            </a:r>
            <a:pPr algn="l" indent="0" marL="0">
              <a:lnSpc>
                <a:spcPct val="104000"/>
              </a:lnSpc>
              <a:buNone/>
            </a:pPr>
            <a:r>
              <a:rPr lang="en-US" sz="1350" dirty="0">
                <a:solidFill>
                  <a:srgbClr val="D6E5EF"/>
                </a:solidFill>
                <a:latin typeface="Lora" pitchFamily="34" charset="0"/>
                <a:ea typeface="Lora" pitchFamily="34" charset="-122"/>
                <a:cs typeface="Lora" pitchFamily="34" charset="-120"/>
              </a:rPr>
              <a:t> for Transformation</a:t>
            </a:r>
            <a:endParaRPr lang="en-US" sz="1350" dirty="0"/>
          </a:p>
        </p:txBody>
      </p:sp>
      <p:sp>
        <p:nvSpPr>
          <p:cNvPr id="7" name="Text 4"/>
          <p:cNvSpPr/>
          <p:nvPr/>
        </p:nvSpPr>
        <p:spPr>
          <a:xfrm>
            <a:off x="5617228" y="3055045"/>
            <a:ext cx="2646892" cy="62835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Iterates over an array, returning a new array of JSX elements to be rendered by React.</a:t>
            </a:r>
            <a:endParaRPr lang="en-US" sz="1150" dirty="0"/>
          </a:p>
        </p:txBody>
      </p:sp>
      <p:sp>
        <p:nvSpPr>
          <p:cNvPr id="8" name="Text 5"/>
          <p:cNvSpPr/>
          <p:nvPr/>
        </p:nvSpPr>
        <p:spPr>
          <a:xfrm>
            <a:off x="8467017" y="2701479"/>
            <a:ext cx="211132" cy="264021"/>
          </a:xfrm>
          <a:prstGeom prst="rect">
            <a:avLst/>
          </a:prstGeom>
          <a:noFill/>
          <a:ln/>
        </p:spPr>
        <p:txBody>
          <a:bodyPr wrap="none" lIns="0" tIns="0" rIns="0" bIns="0" rtlCol="0" anchor="ctr"/>
          <a:lstStyle/>
          <a:p>
            <a:pPr algn="ctr" indent="0" marL="0">
              <a:lnSpc>
                <a:spcPct val="100000"/>
              </a:lnSpc>
              <a:buNone/>
            </a:pPr>
            <a:r>
              <a:rPr lang="en-US" sz="1650" dirty="0">
                <a:solidFill>
                  <a:srgbClr val="D6E5EF"/>
                </a:solidFill>
                <a:latin typeface="Lora" pitchFamily="34" charset="0"/>
                <a:ea typeface="Lora" pitchFamily="34" charset="-122"/>
                <a:cs typeface="Lora" pitchFamily="34" charset="-120"/>
              </a:rPr>
              <a:t>2</a:t>
            </a:r>
            <a:endParaRPr lang="en-US" sz="1650" dirty="0"/>
          </a:p>
        </p:txBody>
      </p:sp>
      <p:sp>
        <p:nvSpPr>
          <p:cNvPr id="9" name="Text 6"/>
          <p:cNvSpPr/>
          <p:nvPr/>
        </p:nvSpPr>
        <p:spPr>
          <a:xfrm>
            <a:off x="8852968" y="2716609"/>
            <a:ext cx="2646892" cy="22631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Unique </a:t>
            </a:r>
            <a:pPr algn="l" indent="0" marL="0">
              <a:lnSpc>
                <a:spcPct val="104000"/>
              </a:lnSpc>
              <a:buNone/>
            </a:pPr>
            <a:r>
              <a:rPr lang="en-US" sz="1350" dirty="0">
                <a:solidFill>
                  <a:srgbClr val="D6E5EF"/>
                </a:solidFill>
                <a:highlight>
                  <a:srgbClr val="323540"/>
                </a:highlight>
                <a:latin typeface="Consolas" pitchFamily="34" charset="0"/>
                <a:ea typeface="Consolas" pitchFamily="34" charset="-122"/>
                <a:cs typeface="Consolas" pitchFamily="34" charset="-120"/>
              </a:rPr>
              <a:t>key</a:t>
            </a:r>
            <a:pPr algn="l" indent="0" marL="0">
              <a:lnSpc>
                <a:spcPct val="104000"/>
              </a:lnSpc>
              <a:buNone/>
            </a:pPr>
            <a:r>
              <a:rPr lang="en-US" sz="1350" dirty="0">
                <a:solidFill>
                  <a:srgbClr val="D6E5EF"/>
                </a:solidFill>
                <a:latin typeface="Lora" pitchFamily="34" charset="0"/>
                <a:ea typeface="Lora" pitchFamily="34" charset="-122"/>
                <a:cs typeface="Lora" pitchFamily="34" charset="-120"/>
              </a:rPr>
              <a:t> Prop</a:t>
            </a:r>
            <a:endParaRPr lang="en-US" sz="1350" dirty="0"/>
          </a:p>
        </p:txBody>
      </p:sp>
      <p:sp>
        <p:nvSpPr>
          <p:cNvPr id="10" name="Text 7"/>
          <p:cNvSpPr/>
          <p:nvPr/>
        </p:nvSpPr>
        <p:spPr>
          <a:xfrm>
            <a:off x="8852968" y="3055045"/>
            <a:ext cx="2646892" cy="62835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A special string attribute that React uses to identify each list item's stable identity across renders.</a:t>
            </a:r>
            <a:endParaRPr lang="en-US" sz="1150" dirty="0"/>
          </a:p>
        </p:txBody>
      </p:sp>
      <p:sp>
        <p:nvSpPr>
          <p:cNvPr id="11" name="Text 8"/>
          <p:cNvSpPr/>
          <p:nvPr/>
        </p:nvSpPr>
        <p:spPr>
          <a:xfrm>
            <a:off x="5231277" y="3943995"/>
            <a:ext cx="211132" cy="264021"/>
          </a:xfrm>
          <a:prstGeom prst="rect">
            <a:avLst/>
          </a:prstGeom>
          <a:noFill/>
          <a:ln/>
        </p:spPr>
        <p:txBody>
          <a:bodyPr wrap="none" lIns="0" tIns="0" rIns="0" bIns="0" rtlCol="0" anchor="ctr"/>
          <a:lstStyle/>
          <a:p>
            <a:pPr algn="ctr" indent="0" marL="0">
              <a:lnSpc>
                <a:spcPct val="100000"/>
              </a:lnSpc>
              <a:buNone/>
            </a:pPr>
            <a:r>
              <a:rPr lang="en-US" sz="1650" dirty="0">
                <a:solidFill>
                  <a:srgbClr val="D6E5EF"/>
                </a:solidFill>
                <a:latin typeface="Lora" pitchFamily="34" charset="0"/>
                <a:ea typeface="Lora" pitchFamily="34" charset="-122"/>
                <a:cs typeface="Lora" pitchFamily="34" charset="-120"/>
              </a:rPr>
              <a:t>3</a:t>
            </a:r>
            <a:endParaRPr lang="en-US" sz="1650" dirty="0"/>
          </a:p>
        </p:txBody>
      </p:sp>
      <p:sp>
        <p:nvSpPr>
          <p:cNvPr id="12" name="Text 9"/>
          <p:cNvSpPr/>
          <p:nvPr/>
        </p:nvSpPr>
        <p:spPr>
          <a:xfrm>
            <a:off x="5617228" y="3959126"/>
            <a:ext cx="588263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Optimized Re-renders</a:t>
            </a:r>
            <a:endParaRPr lang="en-US" sz="1350" dirty="0"/>
          </a:p>
        </p:txBody>
      </p:sp>
      <p:sp>
        <p:nvSpPr>
          <p:cNvPr id="13" name="Text 10"/>
          <p:cNvSpPr/>
          <p:nvPr/>
        </p:nvSpPr>
        <p:spPr>
          <a:xfrm>
            <a:off x="5617228" y="4291211"/>
            <a:ext cx="5882632" cy="41890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Keys enable React to efficiently track which items have changed, been added, or removed, enhancing performance and preventing bugs, especially when lists are reordered or filtered.</a:t>
            </a:r>
            <a:endParaRPr lang="en-US" sz="1150" dirty="0"/>
          </a:p>
        </p:txBody>
      </p:sp>
      <p:sp>
        <p:nvSpPr>
          <p:cNvPr id="14" name="Shape 11"/>
          <p:cNvSpPr/>
          <p:nvPr/>
        </p:nvSpPr>
        <p:spPr>
          <a:xfrm>
            <a:off x="698086" y="5106392"/>
            <a:ext cx="10795524" cy="706537"/>
          </a:xfrm>
          <a:prstGeom prst="roundRect">
            <a:avLst>
              <a:gd name="adj" fmla="val 3176"/>
            </a:avLst>
          </a:prstGeom>
          <a:solidFill>
            <a:srgbClr val="790645"/>
          </a:solidFill>
          <a:ln/>
        </p:spPr>
      </p:sp>
      <p:pic>
        <p:nvPicPr>
          <p:cNvPr id="15" name="Image 1" descr="preencoded.png">    </p:cNvPr>
          <p:cNvPicPr>
            <a:picLocks noChangeAspect="1"/>
          </p:cNvPicPr>
          <p:nvPr/>
        </p:nvPicPr>
        <p:blipFill>
          <a:blip r:embed="rId2"/>
          <a:stretch>
            <a:fillRect/>
          </a:stretch>
        </p:blipFill>
        <p:spPr>
          <a:xfrm>
            <a:off x="847605" y="5264646"/>
            <a:ext cx="186923" cy="149523"/>
          </a:xfrm>
          <a:prstGeom prst="rect">
            <a:avLst/>
          </a:prstGeom>
        </p:spPr>
      </p:pic>
      <p:sp>
        <p:nvSpPr>
          <p:cNvPr id="16" name="Text 12"/>
          <p:cNvSpPr/>
          <p:nvPr/>
        </p:nvSpPr>
        <p:spPr>
          <a:xfrm>
            <a:off x="1184047" y="5255816"/>
            <a:ext cx="10160043" cy="41890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FFFFFF"/>
                </a:solidFill>
                <a:latin typeface="Source Sans 3" pitchFamily="34" charset="0"/>
                <a:ea typeface="Source Sans 3" pitchFamily="34" charset="-122"/>
                <a:cs typeface="Source Sans 3" pitchFamily="34" charset="-120"/>
              </a:rPr>
              <a:t>Always use a stable, unique ID (e.g., from a database) for keys. Using an item's index as a key is generally discouraged if the list items can change order, be added, or removed.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98086" y="845939"/>
            <a:ext cx="10795524" cy="440035"/>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useEffect Hook – Side Effects and API Calls</a:t>
            </a:r>
            <a:endParaRPr lang="en-US" sz="2750" dirty="0"/>
          </a:p>
        </p:txBody>
      </p:sp>
      <p:sp>
        <p:nvSpPr>
          <p:cNvPr id="3" name="Text 1"/>
          <p:cNvSpPr/>
          <p:nvPr/>
        </p:nvSpPr>
        <p:spPr>
          <a:xfrm>
            <a:off x="698086" y="1510308"/>
            <a:ext cx="10795524" cy="42525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The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useEffect</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Hook lets you synchronize a component with an external system after rendering, managing "side effects" like data fetching, subscriptions, or manual DOM manipulation.</a:t>
            </a:r>
            <a:endParaRPr lang="en-US" sz="1150" dirty="0"/>
          </a:p>
        </p:txBody>
      </p:sp>
      <p:pic>
        <p:nvPicPr>
          <p:cNvPr id="4" name="Image 0" descr="preencoded.png">    </p:cNvPr>
          <p:cNvPicPr>
            <a:picLocks noChangeAspect="1"/>
          </p:cNvPicPr>
          <p:nvPr/>
        </p:nvPicPr>
        <p:blipFill>
          <a:blip r:embed="rId1"/>
          <a:stretch>
            <a:fillRect/>
          </a:stretch>
        </p:blipFill>
        <p:spPr>
          <a:xfrm>
            <a:off x="698086" y="2187972"/>
            <a:ext cx="3074414" cy="3074491"/>
          </a:xfrm>
          <a:prstGeom prst="rect">
            <a:avLst/>
          </a:prstGeom>
        </p:spPr>
      </p:pic>
      <p:pic>
        <p:nvPicPr>
          <p:cNvPr id="5" name="Image 1" descr="preencoded.png">    </p:cNvPr>
          <p:cNvPicPr>
            <a:picLocks noChangeAspect="1"/>
          </p:cNvPicPr>
          <p:nvPr/>
        </p:nvPicPr>
        <p:blipFill>
          <a:blip r:embed="rId2"/>
          <a:stretch>
            <a:fillRect/>
          </a:stretch>
        </p:blipFill>
        <p:spPr>
          <a:xfrm>
            <a:off x="5168572" y="2378770"/>
            <a:ext cx="747991" cy="897632"/>
          </a:xfrm>
          <a:prstGeom prst="rect">
            <a:avLst/>
          </a:prstGeom>
        </p:spPr>
      </p:pic>
      <p:sp>
        <p:nvSpPr>
          <p:cNvPr id="6" name="Text 2"/>
          <p:cNvSpPr/>
          <p:nvPr/>
        </p:nvSpPr>
        <p:spPr>
          <a:xfrm>
            <a:off x="6028678" y="2528292"/>
            <a:ext cx="547118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After Render</a:t>
            </a:r>
            <a:endParaRPr lang="en-US" sz="1350" dirty="0"/>
          </a:p>
        </p:txBody>
      </p:sp>
      <p:sp>
        <p:nvSpPr>
          <p:cNvPr id="7" name="Text 3"/>
          <p:cNvSpPr/>
          <p:nvPr/>
        </p:nvSpPr>
        <p:spPr>
          <a:xfrm>
            <a:off x="6028678" y="2860377"/>
            <a:ext cx="5471182" cy="20945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Executes side effects </a:t>
            </a:r>
            <a:pPr algn="l" indent="0" marL="0">
              <a:lnSpc>
                <a:spcPct val="117000"/>
              </a:lnSpc>
              <a:buNone/>
            </a:pPr>
            <a:r>
              <a:rPr lang="en-US" sz="1150" b="1" dirty="0">
                <a:solidFill>
                  <a:srgbClr val="D6E5EF"/>
                </a:solidFill>
                <a:latin typeface="Source Sans 3 Bold" pitchFamily="34" charset="0"/>
                <a:ea typeface="Source Sans 3 Bold" pitchFamily="34" charset="-122"/>
                <a:cs typeface="Source Sans 3 Bold" pitchFamily="34" charset="-120"/>
              </a:rPr>
              <a:t>after</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the component has rendered, preventing UI blocking.</a:t>
            </a:r>
            <a:endParaRPr lang="en-US" sz="1150" dirty="0"/>
          </a:p>
        </p:txBody>
      </p:sp>
      <p:pic>
        <p:nvPicPr>
          <p:cNvPr id="8" name="Image 2" descr="preencoded.png">    </p:cNvPr>
          <p:cNvPicPr>
            <a:picLocks noChangeAspect="1"/>
          </p:cNvPicPr>
          <p:nvPr/>
        </p:nvPicPr>
        <p:blipFill>
          <a:blip r:embed="rId3"/>
          <a:stretch>
            <a:fillRect/>
          </a:stretch>
        </p:blipFill>
        <p:spPr>
          <a:xfrm>
            <a:off x="5168572" y="3276402"/>
            <a:ext cx="747991" cy="897632"/>
          </a:xfrm>
          <a:prstGeom prst="rect">
            <a:avLst/>
          </a:prstGeom>
        </p:spPr>
      </p:pic>
      <p:sp>
        <p:nvSpPr>
          <p:cNvPr id="9" name="Text 4"/>
          <p:cNvSpPr/>
          <p:nvPr/>
        </p:nvSpPr>
        <p:spPr>
          <a:xfrm>
            <a:off x="6028678" y="3425924"/>
            <a:ext cx="547118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Common Uses</a:t>
            </a:r>
            <a:endParaRPr lang="en-US" sz="1350" dirty="0"/>
          </a:p>
        </p:txBody>
      </p:sp>
      <p:sp>
        <p:nvSpPr>
          <p:cNvPr id="10" name="Text 5"/>
          <p:cNvSpPr/>
          <p:nvPr/>
        </p:nvSpPr>
        <p:spPr>
          <a:xfrm>
            <a:off x="6028678" y="3758009"/>
            <a:ext cx="5471182" cy="20945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Ideal for data fetching, setting up subscriptions, or directly interacting with the DOM.</a:t>
            </a:r>
            <a:endParaRPr lang="en-US" sz="1150" dirty="0"/>
          </a:p>
        </p:txBody>
      </p:sp>
      <p:pic>
        <p:nvPicPr>
          <p:cNvPr id="11" name="Image 3" descr="preencoded.png">    </p:cNvPr>
          <p:cNvPicPr>
            <a:picLocks noChangeAspect="1"/>
          </p:cNvPicPr>
          <p:nvPr/>
        </p:nvPicPr>
        <p:blipFill>
          <a:blip r:embed="rId4"/>
          <a:stretch>
            <a:fillRect/>
          </a:stretch>
        </p:blipFill>
        <p:spPr>
          <a:xfrm>
            <a:off x="5168572" y="4174034"/>
            <a:ext cx="747991" cy="897632"/>
          </a:xfrm>
          <a:prstGeom prst="rect">
            <a:avLst/>
          </a:prstGeom>
        </p:spPr>
      </p:pic>
      <p:sp>
        <p:nvSpPr>
          <p:cNvPr id="12" name="Text 6"/>
          <p:cNvSpPr/>
          <p:nvPr/>
        </p:nvSpPr>
        <p:spPr>
          <a:xfrm>
            <a:off x="6028678" y="4323556"/>
            <a:ext cx="547118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Dependency Array</a:t>
            </a:r>
            <a:endParaRPr lang="en-US" sz="1350" dirty="0"/>
          </a:p>
        </p:txBody>
      </p:sp>
      <p:sp>
        <p:nvSpPr>
          <p:cNvPr id="13" name="Text 7"/>
          <p:cNvSpPr/>
          <p:nvPr/>
        </p:nvSpPr>
        <p:spPr>
          <a:xfrm>
            <a:off x="6028678" y="4655641"/>
            <a:ext cx="5471182" cy="21580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Controls when the effect re-runs. An empty array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runs once on mount.</a:t>
            </a:r>
            <a:endParaRPr lang="en-US" sz="1150" dirty="0"/>
          </a:p>
        </p:txBody>
      </p:sp>
      <p:sp>
        <p:nvSpPr>
          <p:cNvPr id="14" name="Shape 8"/>
          <p:cNvSpPr/>
          <p:nvPr/>
        </p:nvSpPr>
        <p:spPr>
          <a:xfrm>
            <a:off x="698086" y="5514876"/>
            <a:ext cx="10795524" cy="497086"/>
          </a:xfrm>
          <a:prstGeom prst="roundRect">
            <a:avLst>
              <a:gd name="adj" fmla="val 4515"/>
            </a:avLst>
          </a:prstGeom>
          <a:solidFill>
            <a:srgbClr val="022349"/>
          </a:solidFill>
          <a:ln/>
        </p:spPr>
      </p:sp>
      <p:pic>
        <p:nvPicPr>
          <p:cNvPr id="15" name="Image 4" descr="preencoded.png">    </p:cNvPr>
          <p:cNvPicPr>
            <a:picLocks noChangeAspect="1"/>
          </p:cNvPicPr>
          <p:nvPr/>
        </p:nvPicPr>
        <p:blipFill>
          <a:blip r:embed="rId5"/>
          <a:stretch>
            <a:fillRect/>
          </a:stretch>
        </p:blipFill>
        <p:spPr>
          <a:xfrm>
            <a:off x="847605" y="5673130"/>
            <a:ext cx="186923" cy="149523"/>
          </a:xfrm>
          <a:prstGeom prst="rect">
            <a:avLst/>
          </a:prstGeom>
        </p:spPr>
      </p:pic>
      <p:sp>
        <p:nvSpPr>
          <p:cNvPr id="16" name="Text 9"/>
          <p:cNvSpPr/>
          <p:nvPr/>
        </p:nvSpPr>
        <p:spPr>
          <a:xfrm>
            <a:off x="1184047" y="5664299"/>
            <a:ext cx="10769628" cy="209451"/>
          </a:xfrm>
          <a:prstGeom prst="rect">
            <a:avLst/>
          </a:prstGeom>
          <a:noFill/>
          <a:ln/>
        </p:spPr>
        <p:txBody>
          <a:bodyPr wrap="none" lIns="0" tIns="0" rIns="0" bIns="0" rtlCol="0" anchor="t"/>
          <a:lstStyle/>
          <a:p>
            <a:pPr algn="l" indent="0" marL="0">
              <a:lnSpc>
                <a:spcPct val="117000"/>
              </a:lnSpc>
              <a:buNone/>
            </a:pPr>
            <a:r>
              <a:rPr lang="en-US" sz="1150" dirty="0">
                <a:solidFill>
                  <a:srgbClr val="FFFFFF"/>
                </a:solidFill>
                <a:latin typeface="Source Sans 3" pitchFamily="34" charset="0"/>
                <a:ea typeface="Source Sans 3" pitchFamily="34" charset="-122"/>
                <a:cs typeface="Source Sans 3" pitchFamily="34" charset="-120"/>
              </a:rPr>
              <a:t>Omitting the dependency array causes the effect to run after </a:t>
            </a:r>
            <a:pPr algn="l" indent="0" marL="0">
              <a:lnSpc>
                <a:spcPct val="117000"/>
              </a:lnSpc>
              <a:buNone/>
            </a:pPr>
            <a:r>
              <a:rPr lang="en-US" sz="1150" b="1" dirty="0">
                <a:solidFill>
                  <a:srgbClr val="FFFFFF"/>
                </a:solidFill>
                <a:latin typeface="Source Sans 3 Bold" pitchFamily="34" charset="0"/>
                <a:ea typeface="Source Sans 3 Bold" pitchFamily="34" charset="-122"/>
                <a:cs typeface="Source Sans 3 Bold" pitchFamily="34" charset="-120"/>
              </a:rPr>
              <a:t>every</a:t>
            </a:r>
            <a:pPr algn="l" indent="0" marL="0">
              <a:lnSpc>
                <a:spcPct val="117000"/>
              </a:lnSpc>
              <a:buNone/>
            </a:pPr>
            <a:r>
              <a:rPr lang="en-US" sz="1150" dirty="0">
                <a:solidFill>
                  <a:srgbClr val="FFFFFF"/>
                </a:solidFill>
                <a:latin typeface="Source Sans 3" pitchFamily="34" charset="0"/>
                <a:ea typeface="Source Sans 3" pitchFamily="34" charset="-122"/>
                <a:cs typeface="Source Sans 3" pitchFamily="34" charset="-120"/>
              </a:rPr>
              <a:t> render, which can lead to performance issues or infinite loops if not handled carefully.</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98086" y="554038"/>
            <a:ext cx="10795524" cy="303808"/>
          </a:xfrm>
          <a:prstGeom prst="rect">
            <a:avLst/>
          </a:prstGeom>
          <a:noFill/>
          <a:ln/>
        </p:spPr>
        <p:txBody>
          <a:bodyPr wrap="none" lIns="0" tIns="0" rIns="0" bIns="0" rtlCol="0" anchor="t"/>
          <a:lstStyle/>
          <a:p>
            <a:pPr algn="l" indent="0" marL="0">
              <a:lnSpc>
                <a:spcPct val="104000"/>
              </a:lnSpc>
              <a:buNone/>
            </a:pPr>
            <a:r>
              <a:rPr lang="en-US" sz="1900" dirty="0">
                <a:solidFill>
                  <a:srgbClr val="F98AC7"/>
                </a:solidFill>
                <a:latin typeface="Lora" pitchFamily="34" charset="0"/>
                <a:ea typeface="Lora" pitchFamily="34" charset="-122"/>
                <a:cs typeface="Lora" pitchFamily="34" charset="-120"/>
              </a:rPr>
              <a:t>Key Takeaways for Students</a:t>
            </a:r>
            <a:endParaRPr lang="en-US" sz="1900" dirty="0"/>
          </a:p>
        </p:txBody>
      </p:sp>
      <p:sp>
        <p:nvSpPr>
          <p:cNvPr id="3" name="Text 1"/>
          <p:cNvSpPr/>
          <p:nvPr/>
        </p:nvSpPr>
        <p:spPr>
          <a:xfrm>
            <a:off x="698086" y="964803"/>
            <a:ext cx="11405108"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Mastering React involves understanding its core principles and how they work together to create dynamic user interfaces.</a:t>
            </a:r>
            <a:endParaRPr lang="en-US" sz="800" dirty="0"/>
          </a:p>
        </p:txBody>
      </p:sp>
      <p:sp>
        <p:nvSpPr>
          <p:cNvPr id="4" name="Shape 2"/>
          <p:cNvSpPr/>
          <p:nvPr/>
        </p:nvSpPr>
        <p:spPr>
          <a:xfrm>
            <a:off x="698086" y="1150342"/>
            <a:ext cx="232464" cy="232470"/>
          </a:xfrm>
          <a:prstGeom prst="roundRect">
            <a:avLst>
              <a:gd name="adj" fmla="val 6667"/>
            </a:avLst>
          </a:prstGeom>
          <a:solidFill>
            <a:srgbClr val="444752"/>
          </a:solidFill>
          <a:ln/>
        </p:spPr>
      </p:sp>
      <p:sp>
        <p:nvSpPr>
          <p:cNvPr id="5" name="Text 3"/>
          <p:cNvSpPr/>
          <p:nvPr/>
        </p:nvSpPr>
        <p:spPr>
          <a:xfrm>
            <a:off x="741344" y="1175395"/>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1</a:t>
            </a:r>
            <a:endParaRPr lang="en-US" sz="1100" dirty="0"/>
          </a:p>
        </p:txBody>
      </p:sp>
      <p:sp>
        <p:nvSpPr>
          <p:cNvPr id="6" name="Text 4"/>
          <p:cNvSpPr/>
          <p:nvPr/>
        </p:nvSpPr>
        <p:spPr>
          <a:xfrm>
            <a:off x="984027" y="1185763"/>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React and Components</a:t>
            </a:r>
            <a:endParaRPr lang="en-US" sz="950" dirty="0"/>
          </a:p>
        </p:txBody>
      </p:sp>
      <p:sp>
        <p:nvSpPr>
          <p:cNvPr id="7" name="Text 5"/>
          <p:cNvSpPr/>
          <p:nvPr/>
        </p:nvSpPr>
        <p:spPr>
          <a:xfrm>
            <a:off x="984027" y="1369715"/>
            <a:ext cx="10509582"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Grasp what React is and why building with reusable components is fundamental to modern UI development.</a:t>
            </a:r>
            <a:endParaRPr lang="en-US" sz="800" dirty="0"/>
          </a:p>
        </p:txBody>
      </p:sp>
      <p:sp>
        <p:nvSpPr>
          <p:cNvPr id="8" name="Shape 6"/>
          <p:cNvSpPr/>
          <p:nvPr/>
        </p:nvSpPr>
        <p:spPr>
          <a:xfrm>
            <a:off x="698086" y="1602085"/>
            <a:ext cx="232464" cy="232470"/>
          </a:xfrm>
          <a:prstGeom prst="roundRect">
            <a:avLst>
              <a:gd name="adj" fmla="val 6667"/>
            </a:avLst>
          </a:prstGeom>
          <a:solidFill>
            <a:srgbClr val="444752"/>
          </a:solidFill>
          <a:ln/>
        </p:spPr>
      </p:sp>
      <p:sp>
        <p:nvSpPr>
          <p:cNvPr id="9" name="Text 7"/>
          <p:cNvSpPr/>
          <p:nvPr/>
        </p:nvSpPr>
        <p:spPr>
          <a:xfrm>
            <a:off x="741344" y="1627138"/>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2</a:t>
            </a:r>
            <a:endParaRPr lang="en-US" sz="1100" dirty="0"/>
          </a:p>
        </p:txBody>
      </p:sp>
      <p:sp>
        <p:nvSpPr>
          <p:cNvPr id="10" name="Text 8"/>
          <p:cNvSpPr/>
          <p:nvPr/>
        </p:nvSpPr>
        <p:spPr>
          <a:xfrm>
            <a:off x="984027" y="1637506"/>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JSX Syntax</a:t>
            </a:r>
            <a:endParaRPr lang="en-US" sz="950" dirty="0"/>
          </a:p>
        </p:txBody>
      </p:sp>
      <p:sp>
        <p:nvSpPr>
          <p:cNvPr id="11" name="Text 9"/>
          <p:cNvSpPr/>
          <p:nvPr/>
        </p:nvSpPr>
        <p:spPr>
          <a:xfrm>
            <a:off x="984027" y="1821458"/>
            <a:ext cx="10509582"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Learn to write JavaScript XML (JSX) to seamlessly combine HTML-like markup with JavaScript logic.</a:t>
            </a:r>
            <a:endParaRPr lang="en-US" sz="800" dirty="0"/>
          </a:p>
        </p:txBody>
      </p:sp>
      <p:sp>
        <p:nvSpPr>
          <p:cNvPr id="12" name="Shape 10"/>
          <p:cNvSpPr/>
          <p:nvPr/>
        </p:nvSpPr>
        <p:spPr>
          <a:xfrm>
            <a:off x="698086" y="2053828"/>
            <a:ext cx="232464" cy="232470"/>
          </a:xfrm>
          <a:prstGeom prst="roundRect">
            <a:avLst>
              <a:gd name="adj" fmla="val 6667"/>
            </a:avLst>
          </a:prstGeom>
          <a:solidFill>
            <a:srgbClr val="444752"/>
          </a:solidFill>
          <a:ln/>
        </p:spPr>
      </p:sp>
      <p:sp>
        <p:nvSpPr>
          <p:cNvPr id="13" name="Text 11"/>
          <p:cNvSpPr/>
          <p:nvPr/>
        </p:nvSpPr>
        <p:spPr>
          <a:xfrm>
            <a:off x="741344" y="2078881"/>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3</a:t>
            </a:r>
            <a:endParaRPr lang="en-US" sz="1100" dirty="0"/>
          </a:p>
        </p:txBody>
      </p:sp>
      <p:sp>
        <p:nvSpPr>
          <p:cNvPr id="14" name="Text 12"/>
          <p:cNvSpPr/>
          <p:nvPr/>
        </p:nvSpPr>
        <p:spPr>
          <a:xfrm>
            <a:off x="984027" y="2089249"/>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Props for Communication</a:t>
            </a:r>
            <a:endParaRPr lang="en-US" sz="950" dirty="0"/>
          </a:p>
        </p:txBody>
      </p:sp>
      <p:sp>
        <p:nvSpPr>
          <p:cNvPr id="15" name="Text 13"/>
          <p:cNvSpPr/>
          <p:nvPr/>
        </p:nvSpPr>
        <p:spPr>
          <a:xfrm>
            <a:off x="984027" y="2273201"/>
            <a:ext cx="10509582"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Understand how to pass data from parent to child components using props to make them dynamic and configurable.</a:t>
            </a:r>
            <a:endParaRPr lang="en-US" sz="800" dirty="0"/>
          </a:p>
        </p:txBody>
      </p:sp>
      <p:sp>
        <p:nvSpPr>
          <p:cNvPr id="16" name="Shape 14"/>
          <p:cNvSpPr/>
          <p:nvPr/>
        </p:nvSpPr>
        <p:spPr>
          <a:xfrm>
            <a:off x="698086" y="2505571"/>
            <a:ext cx="232464" cy="232470"/>
          </a:xfrm>
          <a:prstGeom prst="roundRect">
            <a:avLst>
              <a:gd name="adj" fmla="val 6667"/>
            </a:avLst>
          </a:prstGeom>
          <a:solidFill>
            <a:srgbClr val="444752"/>
          </a:solidFill>
          <a:ln/>
        </p:spPr>
      </p:sp>
      <p:sp>
        <p:nvSpPr>
          <p:cNvPr id="17" name="Text 15"/>
          <p:cNvSpPr/>
          <p:nvPr/>
        </p:nvSpPr>
        <p:spPr>
          <a:xfrm>
            <a:off x="741344" y="2530624"/>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4</a:t>
            </a:r>
            <a:endParaRPr lang="en-US" sz="1100" dirty="0"/>
          </a:p>
        </p:txBody>
      </p:sp>
      <p:sp>
        <p:nvSpPr>
          <p:cNvPr id="18" name="Text 16"/>
          <p:cNvSpPr/>
          <p:nvPr/>
        </p:nvSpPr>
        <p:spPr>
          <a:xfrm>
            <a:off x="984027" y="2540992"/>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State and </a:t>
            </a:r>
            <a:pPr algn="l" indent="0" marL="0">
              <a:lnSpc>
                <a:spcPct val="104000"/>
              </a:lnSpc>
              <a:buNone/>
            </a:pPr>
            <a:r>
              <a:rPr lang="en-US" sz="950" dirty="0">
                <a:solidFill>
                  <a:srgbClr val="D6E5EF"/>
                </a:solidFill>
                <a:highlight>
                  <a:srgbClr val="323540"/>
                </a:highlight>
                <a:latin typeface="Consolas" pitchFamily="34" charset="0"/>
                <a:ea typeface="Consolas" pitchFamily="34" charset="-122"/>
                <a:cs typeface="Consolas" pitchFamily="34" charset="-120"/>
              </a:rPr>
              <a:t>useState</a:t>
            </a:r>
            <a:endParaRPr lang="en-US" sz="950" dirty="0"/>
          </a:p>
        </p:txBody>
      </p:sp>
      <p:sp>
        <p:nvSpPr>
          <p:cNvPr id="19" name="Text 17"/>
          <p:cNvSpPr/>
          <p:nvPr/>
        </p:nvSpPr>
        <p:spPr>
          <a:xfrm>
            <a:off x="984027" y="2724944"/>
            <a:ext cx="10509582" cy="131763"/>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Manage dynamic data within components using the </a:t>
            </a:r>
            <a:pPr algn="l" indent="0" marL="0">
              <a:lnSpc>
                <a:spcPct val="101000"/>
              </a:lnSpc>
              <a:buNone/>
            </a:pPr>
            <a:r>
              <a:rPr lang="en-US" sz="800" dirty="0">
                <a:solidFill>
                  <a:srgbClr val="D6E5EF"/>
                </a:solidFill>
                <a:highlight>
                  <a:srgbClr val="323540"/>
                </a:highlight>
                <a:latin typeface="Consolas" pitchFamily="34" charset="0"/>
                <a:ea typeface="Consolas" pitchFamily="34" charset="-122"/>
                <a:cs typeface="Consolas" pitchFamily="34" charset="-120"/>
              </a:rPr>
              <a:t>useState</a:t>
            </a:r>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 Hook to enable interactive UIs.</a:t>
            </a:r>
            <a:endParaRPr lang="en-US" sz="800" dirty="0"/>
          </a:p>
        </p:txBody>
      </p:sp>
      <p:sp>
        <p:nvSpPr>
          <p:cNvPr id="20" name="Shape 18"/>
          <p:cNvSpPr/>
          <p:nvPr/>
        </p:nvSpPr>
        <p:spPr>
          <a:xfrm>
            <a:off x="698086" y="2963664"/>
            <a:ext cx="232464" cy="232470"/>
          </a:xfrm>
          <a:prstGeom prst="roundRect">
            <a:avLst>
              <a:gd name="adj" fmla="val 6667"/>
            </a:avLst>
          </a:prstGeom>
          <a:solidFill>
            <a:srgbClr val="444752"/>
          </a:solidFill>
          <a:ln/>
        </p:spPr>
      </p:sp>
      <p:sp>
        <p:nvSpPr>
          <p:cNvPr id="21" name="Text 19"/>
          <p:cNvSpPr/>
          <p:nvPr/>
        </p:nvSpPr>
        <p:spPr>
          <a:xfrm>
            <a:off x="741344" y="2988717"/>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5</a:t>
            </a:r>
            <a:endParaRPr lang="en-US" sz="1100" dirty="0"/>
          </a:p>
        </p:txBody>
      </p:sp>
      <p:sp>
        <p:nvSpPr>
          <p:cNvPr id="22" name="Text 20"/>
          <p:cNvSpPr/>
          <p:nvPr/>
        </p:nvSpPr>
        <p:spPr>
          <a:xfrm>
            <a:off x="984027" y="2999085"/>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Event Handlers</a:t>
            </a:r>
            <a:endParaRPr lang="en-US" sz="950" dirty="0"/>
          </a:p>
        </p:txBody>
      </p:sp>
      <p:sp>
        <p:nvSpPr>
          <p:cNvPr id="23" name="Text 21"/>
          <p:cNvSpPr/>
          <p:nvPr/>
        </p:nvSpPr>
        <p:spPr>
          <a:xfrm>
            <a:off x="984027" y="3183037"/>
            <a:ext cx="10509582" cy="131763"/>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Implement event handlers (like </a:t>
            </a:r>
            <a:pPr algn="l" indent="0" marL="0">
              <a:lnSpc>
                <a:spcPct val="101000"/>
              </a:lnSpc>
              <a:buNone/>
            </a:pPr>
            <a:r>
              <a:rPr lang="en-US" sz="800" dirty="0">
                <a:solidFill>
                  <a:srgbClr val="D6E5EF"/>
                </a:solidFill>
                <a:highlight>
                  <a:srgbClr val="323540"/>
                </a:highlight>
                <a:latin typeface="Consolas" pitchFamily="34" charset="0"/>
                <a:ea typeface="Consolas" pitchFamily="34" charset="-122"/>
                <a:cs typeface="Consolas" pitchFamily="34" charset="-120"/>
              </a:rPr>
              <a:t>onClick</a:t>
            </a:r>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 </a:t>
            </a:r>
            <a:pPr algn="l" indent="0" marL="0">
              <a:lnSpc>
                <a:spcPct val="101000"/>
              </a:lnSpc>
              <a:buNone/>
            </a:pPr>
            <a:r>
              <a:rPr lang="en-US" sz="800" dirty="0">
                <a:solidFill>
                  <a:srgbClr val="D6E5EF"/>
                </a:solidFill>
                <a:highlight>
                  <a:srgbClr val="323540"/>
                </a:highlight>
                <a:latin typeface="Consolas" pitchFamily="34" charset="0"/>
                <a:ea typeface="Consolas" pitchFamily="34" charset="-122"/>
                <a:cs typeface="Consolas" pitchFamily="34" charset="-120"/>
              </a:rPr>
              <a:t>onChange</a:t>
            </a:r>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 to respond to user interactions effectively.</a:t>
            </a:r>
            <a:endParaRPr lang="en-US" sz="800" dirty="0"/>
          </a:p>
        </p:txBody>
      </p:sp>
      <p:sp>
        <p:nvSpPr>
          <p:cNvPr id="24" name="Shape 22"/>
          <p:cNvSpPr/>
          <p:nvPr/>
        </p:nvSpPr>
        <p:spPr>
          <a:xfrm>
            <a:off x="698086" y="3421757"/>
            <a:ext cx="232464" cy="232470"/>
          </a:xfrm>
          <a:prstGeom prst="roundRect">
            <a:avLst>
              <a:gd name="adj" fmla="val 6667"/>
            </a:avLst>
          </a:prstGeom>
          <a:solidFill>
            <a:srgbClr val="444752"/>
          </a:solidFill>
          <a:ln/>
        </p:spPr>
      </p:sp>
      <p:sp>
        <p:nvSpPr>
          <p:cNvPr id="25" name="Text 23"/>
          <p:cNvSpPr/>
          <p:nvPr/>
        </p:nvSpPr>
        <p:spPr>
          <a:xfrm>
            <a:off x="741344" y="3446810"/>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6</a:t>
            </a:r>
            <a:endParaRPr lang="en-US" sz="1100" dirty="0"/>
          </a:p>
        </p:txBody>
      </p:sp>
      <p:sp>
        <p:nvSpPr>
          <p:cNvPr id="26" name="Text 24"/>
          <p:cNvSpPr/>
          <p:nvPr/>
        </p:nvSpPr>
        <p:spPr>
          <a:xfrm>
            <a:off x="984027" y="3457178"/>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Controlled Components</a:t>
            </a:r>
            <a:endParaRPr lang="en-US" sz="950" dirty="0"/>
          </a:p>
        </p:txBody>
      </p:sp>
      <p:sp>
        <p:nvSpPr>
          <p:cNvPr id="27" name="Text 25"/>
          <p:cNvSpPr/>
          <p:nvPr/>
        </p:nvSpPr>
        <p:spPr>
          <a:xfrm>
            <a:off x="984027" y="3641130"/>
            <a:ext cx="10509582"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Handle form inputs by connecting them to React state, ensuring predictable data flow and validation.</a:t>
            </a:r>
            <a:endParaRPr lang="en-US" sz="800" dirty="0"/>
          </a:p>
        </p:txBody>
      </p:sp>
      <p:sp>
        <p:nvSpPr>
          <p:cNvPr id="28" name="Shape 26"/>
          <p:cNvSpPr/>
          <p:nvPr/>
        </p:nvSpPr>
        <p:spPr>
          <a:xfrm>
            <a:off x="698086" y="3873500"/>
            <a:ext cx="232464" cy="232470"/>
          </a:xfrm>
          <a:prstGeom prst="roundRect">
            <a:avLst>
              <a:gd name="adj" fmla="val 6667"/>
            </a:avLst>
          </a:prstGeom>
          <a:solidFill>
            <a:srgbClr val="444752"/>
          </a:solidFill>
          <a:ln/>
        </p:spPr>
      </p:sp>
      <p:sp>
        <p:nvSpPr>
          <p:cNvPr id="29" name="Text 27"/>
          <p:cNvSpPr/>
          <p:nvPr/>
        </p:nvSpPr>
        <p:spPr>
          <a:xfrm>
            <a:off x="741344" y="3898553"/>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7</a:t>
            </a:r>
            <a:endParaRPr lang="en-US" sz="1100" dirty="0"/>
          </a:p>
        </p:txBody>
      </p:sp>
      <p:sp>
        <p:nvSpPr>
          <p:cNvPr id="30" name="Text 28"/>
          <p:cNvSpPr/>
          <p:nvPr/>
        </p:nvSpPr>
        <p:spPr>
          <a:xfrm>
            <a:off x="984027" y="3908921"/>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Conditional Rendering</a:t>
            </a:r>
            <a:endParaRPr lang="en-US" sz="950" dirty="0"/>
          </a:p>
        </p:txBody>
      </p:sp>
      <p:sp>
        <p:nvSpPr>
          <p:cNvPr id="31" name="Text 29"/>
          <p:cNvSpPr/>
          <p:nvPr/>
        </p:nvSpPr>
        <p:spPr>
          <a:xfrm>
            <a:off x="984027" y="4092873"/>
            <a:ext cx="10509582"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Display different UI elements based on certain conditions, making your applications responsive and adaptable.</a:t>
            </a:r>
            <a:endParaRPr lang="en-US" sz="800" dirty="0"/>
          </a:p>
        </p:txBody>
      </p:sp>
      <p:sp>
        <p:nvSpPr>
          <p:cNvPr id="32" name="Shape 30"/>
          <p:cNvSpPr/>
          <p:nvPr/>
        </p:nvSpPr>
        <p:spPr>
          <a:xfrm>
            <a:off x="698086" y="4325243"/>
            <a:ext cx="232464" cy="232470"/>
          </a:xfrm>
          <a:prstGeom prst="roundRect">
            <a:avLst>
              <a:gd name="adj" fmla="val 6667"/>
            </a:avLst>
          </a:prstGeom>
          <a:solidFill>
            <a:srgbClr val="444752"/>
          </a:solidFill>
          <a:ln/>
        </p:spPr>
      </p:sp>
      <p:sp>
        <p:nvSpPr>
          <p:cNvPr id="33" name="Text 31"/>
          <p:cNvSpPr/>
          <p:nvPr/>
        </p:nvSpPr>
        <p:spPr>
          <a:xfrm>
            <a:off x="741344" y="4350296"/>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8</a:t>
            </a:r>
            <a:endParaRPr lang="en-US" sz="1100" dirty="0"/>
          </a:p>
        </p:txBody>
      </p:sp>
      <p:sp>
        <p:nvSpPr>
          <p:cNvPr id="34" name="Text 32"/>
          <p:cNvSpPr/>
          <p:nvPr/>
        </p:nvSpPr>
        <p:spPr>
          <a:xfrm>
            <a:off x="984027" y="4360664"/>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Lists with </a:t>
            </a:r>
            <a:pPr algn="l" indent="0" marL="0">
              <a:lnSpc>
                <a:spcPct val="104000"/>
              </a:lnSpc>
              <a:buNone/>
            </a:pPr>
            <a:r>
              <a:rPr lang="en-US" sz="950" dirty="0">
                <a:solidFill>
                  <a:srgbClr val="D6E5EF"/>
                </a:solidFill>
                <a:highlight>
                  <a:srgbClr val="323540"/>
                </a:highlight>
                <a:latin typeface="Consolas" pitchFamily="34" charset="0"/>
                <a:ea typeface="Consolas" pitchFamily="34" charset="-122"/>
                <a:cs typeface="Consolas" pitchFamily="34" charset="-120"/>
              </a:rPr>
              <a:t>map()</a:t>
            </a:r>
            <a:pPr algn="l" indent="0" marL="0">
              <a:lnSpc>
                <a:spcPct val="104000"/>
              </a:lnSpc>
              <a:buNone/>
            </a:pPr>
            <a:r>
              <a:rPr lang="en-US" sz="950" dirty="0">
                <a:solidFill>
                  <a:srgbClr val="D6E5EF"/>
                </a:solidFill>
                <a:latin typeface="Lora" pitchFamily="34" charset="0"/>
                <a:ea typeface="Lora" pitchFamily="34" charset="-122"/>
                <a:cs typeface="Lora" pitchFamily="34" charset="-120"/>
              </a:rPr>
              <a:t> and Keys</a:t>
            </a:r>
            <a:endParaRPr lang="en-US" sz="950" dirty="0"/>
          </a:p>
        </p:txBody>
      </p:sp>
      <p:sp>
        <p:nvSpPr>
          <p:cNvPr id="35" name="Text 33"/>
          <p:cNvSpPr/>
          <p:nvPr/>
        </p:nvSpPr>
        <p:spPr>
          <a:xfrm>
            <a:off x="984027" y="4544616"/>
            <a:ext cx="10509582" cy="131763"/>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Efficiently render dynamic lists of data using the </a:t>
            </a:r>
            <a:pPr algn="l" indent="0" marL="0">
              <a:lnSpc>
                <a:spcPct val="101000"/>
              </a:lnSpc>
              <a:buNone/>
            </a:pPr>
            <a:r>
              <a:rPr lang="en-US" sz="800" dirty="0">
                <a:solidFill>
                  <a:srgbClr val="D6E5EF"/>
                </a:solidFill>
                <a:highlight>
                  <a:srgbClr val="323540"/>
                </a:highlight>
                <a:latin typeface="Consolas" pitchFamily="34" charset="0"/>
                <a:ea typeface="Consolas" pitchFamily="34" charset="-122"/>
                <a:cs typeface="Consolas" pitchFamily="34" charset="-120"/>
              </a:rPr>
              <a:t>map()</a:t>
            </a:r>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 method, remembering the importance of unique </a:t>
            </a:r>
            <a:pPr algn="l" indent="0" marL="0">
              <a:lnSpc>
                <a:spcPct val="101000"/>
              </a:lnSpc>
              <a:buNone/>
            </a:pPr>
            <a:r>
              <a:rPr lang="en-US" sz="800" dirty="0">
                <a:solidFill>
                  <a:srgbClr val="D6E5EF"/>
                </a:solidFill>
                <a:highlight>
                  <a:srgbClr val="323540"/>
                </a:highlight>
                <a:latin typeface="Consolas" pitchFamily="34" charset="0"/>
                <a:ea typeface="Consolas" pitchFamily="34" charset="-122"/>
                <a:cs typeface="Consolas" pitchFamily="34" charset="-120"/>
              </a:rPr>
              <a:t>key</a:t>
            </a:r>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 props.</a:t>
            </a:r>
            <a:endParaRPr lang="en-US" sz="800" dirty="0"/>
          </a:p>
        </p:txBody>
      </p:sp>
      <p:sp>
        <p:nvSpPr>
          <p:cNvPr id="36" name="Shape 34"/>
          <p:cNvSpPr/>
          <p:nvPr/>
        </p:nvSpPr>
        <p:spPr>
          <a:xfrm>
            <a:off x="698086" y="4783336"/>
            <a:ext cx="232464" cy="232470"/>
          </a:xfrm>
          <a:prstGeom prst="roundRect">
            <a:avLst>
              <a:gd name="adj" fmla="val 6667"/>
            </a:avLst>
          </a:prstGeom>
          <a:solidFill>
            <a:srgbClr val="444752"/>
          </a:solidFill>
          <a:ln/>
        </p:spPr>
      </p:sp>
      <p:sp>
        <p:nvSpPr>
          <p:cNvPr id="37" name="Text 35"/>
          <p:cNvSpPr/>
          <p:nvPr/>
        </p:nvSpPr>
        <p:spPr>
          <a:xfrm>
            <a:off x="741344" y="4808389"/>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9</a:t>
            </a:r>
            <a:endParaRPr lang="en-US" sz="1100" dirty="0"/>
          </a:p>
        </p:txBody>
      </p:sp>
      <p:sp>
        <p:nvSpPr>
          <p:cNvPr id="38" name="Text 36"/>
          <p:cNvSpPr/>
          <p:nvPr/>
        </p:nvSpPr>
        <p:spPr>
          <a:xfrm>
            <a:off x="984027" y="4818757"/>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highlight>
                  <a:srgbClr val="323540"/>
                </a:highlight>
                <a:latin typeface="Consolas" pitchFamily="34" charset="0"/>
                <a:ea typeface="Consolas" pitchFamily="34" charset="-122"/>
                <a:cs typeface="Consolas" pitchFamily="34" charset="-120"/>
              </a:rPr>
              <a:t>useEffect</a:t>
            </a:r>
            <a:pPr algn="l" indent="0" marL="0">
              <a:lnSpc>
                <a:spcPct val="104000"/>
              </a:lnSpc>
              <a:buNone/>
            </a:pPr>
            <a:r>
              <a:rPr lang="en-US" sz="950" dirty="0">
                <a:solidFill>
                  <a:srgbClr val="D6E5EF"/>
                </a:solidFill>
                <a:latin typeface="Lora" pitchFamily="34" charset="0"/>
                <a:ea typeface="Lora" pitchFamily="34" charset="-122"/>
                <a:cs typeface="Lora" pitchFamily="34" charset="-120"/>
              </a:rPr>
              <a:t> for Side Effects</a:t>
            </a:r>
            <a:endParaRPr lang="en-US" sz="950" dirty="0"/>
          </a:p>
        </p:txBody>
      </p:sp>
      <p:sp>
        <p:nvSpPr>
          <p:cNvPr id="39" name="Text 37"/>
          <p:cNvSpPr/>
          <p:nvPr/>
        </p:nvSpPr>
        <p:spPr>
          <a:xfrm>
            <a:off x="984027" y="5002709"/>
            <a:ext cx="10509582" cy="131763"/>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Utilize the </a:t>
            </a:r>
            <a:pPr algn="l" indent="0" marL="0">
              <a:lnSpc>
                <a:spcPct val="101000"/>
              </a:lnSpc>
              <a:buNone/>
            </a:pPr>
            <a:r>
              <a:rPr lang="en-US" sz="800" dirty="0">
                <a:solidFill>
                  <a:srgbClr val="D6E5EF"/>
                </a:solidFill>
                <a:highlight>
                  <a:srgbClr val="323540"/>
                </a:highlight>
                <a:latin typeface="Consolas" pitchFamily="34" charset="0"/>
                <a:ea typeface="Consolas" pitchFamily="34" charset="-122"/>
                <a:cs typeface="Consolas" pitchFamily="34" charset="-120"/>
              </a:rPr>
              <a:t>useEffect</a:t>
            </a:r>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 Hook for managing side effects, such as data fetching, subscriptions, and DOM manipulation.</a:t>
            </a:r>
            <a:endParaRPr lang="en-US" sz="800" dirty="0"/>
          </a:p>
        </p:txBody>
      </p:sp>
      <p:sp>
        <p:nvSpPr>
          <p:cNvPr id="40" name="Shape 38"/>
          <p:cNvSpPr/>
          <p:nvPr/>
        </p:nvSpPr>
        <p:spPr>
          <a:xfrm>
            <a:off x="698086" y="5241429"/>
            <a:ext cx="232464" cy="232470"/>
          </a:xfrm>
          <a:prstGeom prst="roundRect">
            <a:avLst>
              <a:gd name="adj" fmla="val 6667"/>
            </a:avLst>
          </a:prstGeom>
          <a:solidFill>
            <a:srgbClr val="444752"/>
          </a:solidFill>
          <a:ln/>
        </p:spPr>
      </p:sp>
      <p:sp>
        <p:nvSpPr>
          <p:cNvPr id="41" name="Text 39"/>
          <p:cNvSpPr/>
          <p:nvPr/>
        </p:nvSpPr>
        <p:spPr>
          <a:xfrm>
            <a:off x="741344" y="5266482"/>
            <a:ext cx="145848" cy="182265"/>
          </a:xfrm>
          <a:prstGeom prst="rect">
            <a:avLst/>
          </a:prstGeom>
          <a:noFill/>
          <a:ln/>
        </p:spPr>
        <p:txBody>
          <a:bodyPr wrap="none" lIns="0" tIns="0" rIns="0" bIns="0" rtlCol="0" anchor="ctr"/>
          <a:lstStyle/>
          <a:p>
            <a:pPr algn="ctr" indent="0" marL="0">
              <a:lnSpc>
                <a:spcPct val="100000"/>
              </a:lnSpc>
              <a:buNone/>
            </a:pPr>
            <a:r>
              <a:rPr lang="en-US" sz="1100" dirty="0">
                <a:solidFill>
                  <a:srgbClr val="D6E5EF"/>
                </a:solidFill>
                <a:latin typeface="Lora" pitchFamily="34" charset="0"/>
                <a:ea typeface="Lora" pitchFamily="34" charset="-122"/>
                <a:cs typeface="Lora" pitchFamily="34" charset="-120"/>
              </a:rPr>
              <a:t>10</a:t>
            </a:r>
            <a:endParaRPr lang="en-US" sz="1100" dirty="0"/>
          </a:p>
        </p:txBody>
      </p:sp>
      <p:sp>
        <p:nvSpPr>
          <p:cNvPr id="42" name="Text 40"/>
          <p:cNvSpPr/>
          <p:nvPr/>
        </p:nvSpPr>
        <p:spPr>
          <a:xfrm>
            <a:off x="984027" y="5276850"/>
            <a:ext cx="10509582" cy="151904"/>
          </a:xfrm>
          <a:prstGeom prst="rect">
            <a:avLst/>
          </a:prstGeom>
          <a:noFill/>
          <a:ln/>
        </p:spPr>
        <p:txBody>
          <a:bodyPr wrap="none" lIns="0" tIns="0" rIns="0" bIns="0" rtlCol="0" anchor="t"/>
          <a:lstStyle/>
          <a:p>
            <a:pPr algn="l" indent="0" marL="0">
              <a:lnSpc>
                <a:spcPct val="104000"/>
              </a:lnSpc>
              <a:buNone/>
            </a:pPr>
            <a:r>
              <a:rPr lang="en-US" sz="950" dirty="0">
                <a:solidFill>
                  <a:srgbClr val="D6E5EF"/>
                </a:solidFill>
                <a:latin typeface="Lora" pitchFamily="34" charset="0"/>
                <a:ea typeface="Lora" pitchFamily="34" charset="-122"/>
                <a:cs typeface="Lora" pitchFamily="34" charset="-120"/>
              </a:rPr>
              <a:t>Component Communication</a:t>
            </a:r>
            <a:endParaRPr lang="en-US" sz="950" dirty="0"/>
          </a:p>
        </p:txBody>
      </p:sp>
      <p:sp>
        <p:nvSpPr>
          <p:cNvPr id="43" name="Text 41"/>
          <p:cNvSpPr/>
          <p:nvPr/>
        </p:nvSpPr>
        <p:spPr>
          <a:xfrm>
            <a:off x="984027" y="5460802"/>
            <a:ext cx="10509582" cy="125412"/>
          </a:xfrm>
          <a:prstGeom prst="rect">
            <a:avLst/>
          </a:prstGeom>
          <a:noFill/>
          <a:ln/>
        </p:spPr>
        <p:txBody>
          <a:bodyPr wrap="none" lIns="0" tIns="0" rIns="0" bIns="0" rtlCol="0" anchor="t"/>
          <a:lstStyle/>
          <a:p>
            <a:pPr algn="l" indent="0" marL="0">
              <a:lnSpc>
                <a:spcPct val="101000"/>
              </a:lnSpc>
              <a:buNone/>
            </a:pPr>
            <a:r>
              <a:rPr lang="en-US" sz="800" dirty="0">
                <a:solidFill>
                  <a:srgbClr val="D6E5EF"/>
                </a:solidFill>
                <a:latin typeface="Source Sans 3" pitchFamily="34" charset="0"/>
                <a:ea typeface="Source Sans 3" pitchFamily="34" charset="-122"/>
                <a:cs typeface="Source Sans 3" pitchFamily="34" charset="-120"/>
              </a:rPr>
              <a:t>Explore patterns for how components interact, including lifting state up and passing functions as props.</a:t>
            </a:r>
            <a:endParaRPr lang="en-US" sz="800" dirty="0"/>
          </a:p>
        </p:txBody>
      </p:sp>
      <p:sp>
        <p:nvSpPr>
          <p:cNvPr id="44" name="Shape 42"/>
          <p:cNvSpPr/>
          <p:nvPr/>
        </p:nvSpPr>
        <p:spPr>
          <a:xfrm>
            <a:off x="698086" y="5646341"/>
            <a:ext cx="10795524" cy="657523"/>
          </a:xfrm>
          <a:prstGeom prst="roundRect">
            <a:avLst>
              <a:gd name="adj" fmla="val 2357"/>
            </a:avLst>
          </a:prstGeom>
          <a:solidFill>
            <a:srgbClr val="790645"/>
          </a:solidFill>
          <a:ln/>
        </p:spPr>
      </p:sp>
      <p:pic>
        <p:nvPicPr>
          <p:cNvPr id="45" name="Image 0" descr="preencoded.png">    </p:cNvPr>
          <p:cNvPicPr>
            <a:picLocks noChangeAspect="1"/>
          </p:cNvPicPr>
          <p:nvPr/>
        </p:nvPicPr>
        <p:blipFill>
          <a:blip r:embed="rId1"/>
          <a:stretch>
            <a:fillRect/>
          </a:stretch>
        </p:blipFill>
        <p:spPr>
          <a:xfrm>
            <a:off x="801370" y="5726906"/>
            <a:ext cx="161425" cy="129084"/>
          </a:xfrm>
          <a:prstGeom prst="rect">
            <a:avLst/>
          </a:prstGeom>
        </p:spPr>
      </p:pic>
      <p:sp>
        <p:nvSpPr>
          <p:cNvPr id="46" name="Text 43"/>
          <p:cNvSpPr/>
          <p:nvPr/>
        </p:nvSpPr>
        <p:spPr>
          <a:xfrm>
            <a:off x="1066079" y="5725616"/>
            <a:ext cx="10324246" cy="151904"/>
          </a:xfrm>
          <a:prstGeom prst="rect">
            <a:avLst/>
          </a:prstGeom>
          <a:noFill/>
          <a:ln/>
        </p:spPr>
        <p:txBody>
          <a:bodyPr wrap="none" lIns="0" tIns="0" rIns="0" bIns="0" rtlCol="0" anchor="t"/>
          <a:lstStyle/>
          <a:p>
            <a:pPr algn="l" indent="0" marL="0">
              <a:lnSpc>
                <a:spcPct val="104000"/>
              </a:lnSpc>
              <a:buNone/>
            </a:pPr>
            <a:r>
              <a:rPr lang="en-US" sz="950" dirty="0">
                <a:solidFill>
                  <a:srgbClr val="FFFFFF"/>
                </a:solidFill>
                <a:latin typeface="Lora" pitchFamily="34" charset="0"/>
                <a:ea typeface="Lora" pitchFamily="34" charset="-122"/>
                <a:cs typeface="Lora" pitchFamily="34" charset="-120"/>
              </a:rPr>
              <a:t>The Most Important Chain</a:t>
            </a:r>
            <a:endParaRPr lang="en-US" sz="950" dirty="0"/>
          </a:p>
        </p:txBody>
      </p:sp>
      <p:sp>
        <p:nvSpPr>
          <p:cNvPr id="47" name="Text 44"/>
          <p:cNvSpPr/>
          <p:nvPr/>
        </p:nvSpPr>
        <p:spPr>
          <a:xfrm>
            <a:off x="1066079" y="5930999"/>
            <a:ext cx="10324246" cy="298946"/>
          </a:xfrm>
          <a:prstGeom prst="rect">
            <a:avLst/>
          </a:prstGeom>
          <a:noFill/>
          <a:ln/>
        </p:spPr>
        <p:txBody>
          <a:bodyPr wrap="square" lIns="0" tIns="0" rIns="0" bIns="0" rtlCol="0" anchor="t"/>
          <a:lstStyle/>
          <a:p>
            <a:pPr algn="l" indent="0" marL="0">
              <a:lnSpc>
                <a:spcPct val="101000"/>
              </a:lnSpc>
              <a:spcAft>
                <a:spcPts val="350"/>
              </a:spcAft>
              <a:buNone/>
            </a:pPr>
            <a:r>
              <a:rPr lang="en-US" sz="800" dirty="0">
                <a:solidFill>
                  <a:srgbClr val="FFFFFF"/>
                </a:solidFill>
                <a:latin typeface="Source Sans 3" pitchFamily="34" charset="0"/>
                <a:ea typeface="Source Sans 3" pitchFamily="34" charset="-122"/>
                <a:cs typeface="Source Sans 3" pitchFamily="34" charset="-120"/>
              </a:rPr>
              <a:t>Understanding the complete data flow is key:</a:t>
            </a:r>
            <a:endParaRPr lang="en-US" sz="800" dirty="0"/>
          </a:p>
          <a:p>
            <a:pPr algn="l" indent="0" marL="0">
              <a:lnSpc>
                <a:spcPct val="101000"/>
              </a:lnSpc>
              <a:buNone/>
            </a:pPr>
            <a:r>
              <a:rPr lang="en-US" sz="800" b="1" dirty="0">
                <a:solidFill>
                  <a:srgbClr val="FFFFFF"/>
                </a:solidFill>
                <a:latin typeface="Source Sans 3 Bold" pitchFamily="34" charset="0"/>
                <a:ea typeface="Source Sans 3 Bold" pitchFamily="34" charset="-122"/>
                <a:cs typeface="Source Sans 3 Bold" pitchFamily="34" charset="-120"/>
              </a:rPr>
              <a:t>Component → State → Event → API → Response → State Update → UI Re-render</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98086" y="615652"/>
            <a:ext cx="10795524" cy="410567"/>
          </a:xfrm>
          <a:prstGeom prst="rect">
            <a:avLst/>
          </a:prstGeom>
          <a:noFill/>
          <a:ln/>
        </p:spPr>
        <p:txBody>
          <a:bodyPr wrap="none" lIns="0" tIns="0" rIns="0" bIns="0" rtlCol="0" anchor="t"/>
          <a:lstStyle/>
          <a:p>
            <a:pPr algn="l" indent="0" marL="0">
              <a:lnSpc>
                <a:spcPct val="104000"/>
              </a:lnSpc>
              <a:buNone/>
            </a:pPr>
            <a:r>
              <a:rPr lang="en-US" sz="2550" dirty="0">
                <a:solidFill>
                  <a:srgbClr val="F98AC7"/>
                </a:solidFill>
                <a:latin typeface="Lora" pitchFamily="34" charset="0"/>
                <a:ea typeface="Lora" pitchFamily="34" charset="-122"/>
                <a:cs typeface="Lora" pitchFamily="34" charset="-120"/>
              </a:rPr>
              <a:t>Advanced Topics to Explore Later</a:t>
            </a:r>
            <a:endParaRPr lang="en-US" sz="2550" dirty="0"/>
          </a:p>
        </p:txBody>
      </p:sp>
      <p:sp>
        <p:nvSpPr>
          <p:cNvPr id="3" name="Text 1"/>
          <p:cNvSpPr/>
          <p:nvPr/>
        </p:nvSpPr>
        <p:spPr>
          <a:xfrm>
            <a:off x="698086" y="1172766"/>
            <a:ext cx="10795524" cy="379611"/>
          </a:xfrm>
          <a:prstGeom prst="rect">
            <a:avLst/>
          </a:prstGeom>
          <a:noFill/>
          <a:ln/>
        </p:spPr>
        <p:txBody>
          <a:bodyPr wrap="square" lIns="0" tIns="0" rIns="0" bIns="0" rtlCol="0" anchor="t">
            <a:normAutofit/>
          </a:bodyPr>
          <a:lstStyle/>
          <a:p>
            <a:pPr algn="l" indent="0" marL="0">
              <a:lnSpc>
                <a:spcPct val="113000"/>
              </a:lnSpc>
              <a:buNone/>
            </a:pPr>
            <a:r>
              <a:rPr lang="en-US" sz="1050" dirty="0">
                <a:solidFill>
                  <a:srgbClr val="D6E5EF"/>
                </a:solidFill>
                <a:latin typeface="Source Sans 3" pitchFamily="34" charset="0"/>
                <a:ea typeface="Source Sans 3" pitchFamily="34" charset="-122"/>
                <a:cs typeface="Source Sans 3" pitchFamily="34" charset="-120"/>
              </a:rPr>
              <a:t>With only 10 hours allocated for the entire MERN stack, we've focused on core React fundamentals. These advanced topics are your next steps for mastering React development and building more robust applications.</a:t>
            </a:r>
            <a:endParaRPr lang="en-US" sz="10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662311"/>
            <a:ext cx="10795524" cy="837803"/>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1657" y="1976437"/>
            <a:ext cx="209446" cy="209451"/>
          </a:xfrm>
          <a:prstGeom prst="rect">
            <a:avLst/>
          </a:prstGeom>
        </p:spPr>
      </p:pic>
      <p:sp>
        <p:nvSpPr>
          <p:cNvPr id="6" name="Text 2"/>
          <p:cNvSpPr/>
          <p:nvPr/>
        </p:nvSpPr>
        <p:spPr>
          <a:xfrm>
            <a:off x="1373352" y="1820962"/>
            <a:ext cx="9961611" cy="205383"/>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State Management</a:t>
            </a:r>
            <a:endParaRPr lang="en-US" sz="1250" dirty="0"/>
          </a:p>
        </p:txBody>
      </p:sp>
      <p:sp>
        <p:nvSpPr>
          <p:cNvPr id="7" name="Text 3"/>
          <p:cNvSpPr/>
          <p:nvPr/>
        </p:nvSpPr>
        <p:spPr>
          <a:xfrm>
            <a:off x="1373352" y="2084983"/>
            <a:ext cx="9961611" cy="189805"/>
          </a:xfrm>
          <a:prstGeom prst="rect">
            <a:avLst/>
          </a:prstGeom>
          <a:noFill/>
          <a:ln/>
        </p:spPr>
        <p:txBody>
          <a:bodyPr wrap="none" lIns="0" tIns="0" rIns="0" bIns="0" rtlCol="0" anchor="t"/>
          <a:lstStyle/>
          <a:p>
            <a:pPr algn="l" indent="0" marL="0">
              <a:lnSpc>
                <a:spcPct val="113000"/>
              </a:lnSpc>
              <a:buNone/>
            </a:pPr>
            <a:r>
              <a:rPr lang="en-US" sz="1050" dirty="0">
                <a:solidFill>
                  <a:srgbClr val="D6E5EF"/>
                </a:solidFill>
                <a:latin typeface="Source Sans 3" pitchFamily="34" charset="0"/>
                <a:ea typeface="Source Sans 3" pitchFamily="34" charset="-122"/>
                <a:cs typeface="Source Sans 3" pitchFamily="34" charset="-120"/>
              </a:rPr>
              <a:t>Redux, Redux Toolkit, React Query</a:t>
            </a:r>
            <a:endParaRPr lang="en-US" sz="10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2597845"/>
            <a:ext cx="10795524" cy="837803"/>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1657" y="2911971"/>
            <a:ext cx="209446" cy="209451"/>
          </a:xfrm>
          <a:prstGeom prst="rect">
            <a:avLst/>
          </a:prstGeom>
        </p:spPr>
      </p:pic>
      <p:sp>
        <p:nvSpPr>
          <p:cNvPr id="10" name="Text 4"/>
          <p:cNvSpPr/>
          <p:nvPr/>
        </p:nvSpPr>
        <p:spPr>
          <a:xfrm>
            <a:off x="1373352" y="2756495"/>
            <a:ext cx="9961611" cy="205383"/>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Advanced Hooks</a:t>
            </a:r>
            <a:endParaRPr lang="en-US" sz="1250" dirty="0"/>
          </a:p>
        </p:txBody>
      </p:sp>
      <p:sp>
        <p:nvSpPr>
          <p:cNvPr id="11" name="Text 5"/>
          <p:cNvSpPr/>
          <p:nvPr/>
        </p:nvSpPr>
        <p:spPr>
          <a:xfrm>
            <a:off x="1373352" y="3020516"/>
            <a:ext cx="9961611" cy="189805"/>
          </a:xfrm>
          <a:prstGeom prst="rect">
            <a:avLst/>
          </a:prstGeom>
          <a:noFill/>
          <a:ln/>
        </p:spPr>
        <p:txBody>
          <a:bodyPr wrap="none" lIns="0" tIns="0" rIns="0" bIns="0" rtlCol="0" anchor="t"/>
          <a:lstStyle/>
          <a:p>
            <a:pPr algn="l" indent="0" marL="0">
              <a:lnSpc>
                <a:spcPct val="113000"/>
              </a:lnSpc>
              <a:buNone/>
            </a:pPr>
            <a:r>
              <a:rPr lang="en-US" sz="1050" dirty="0">
                <a:solidFill>
                  <a:srgbClr val="D6E5EF"/>
                </a:solidFill>
                <a:latin typeface="Source Sans 3" pitchFamily="34" charset="0"/>
                <a:ea typeface="Source Sans 3" pitchFamily="34" charset="-122"/>
                <a:cs typeface="Source Sans 3" pitchFamily="34" charset="-120"/>
              </a:rPr>
              <a:t>useReducer, useMemo, useCallback, useRef</a:t>
            </a:r>
            <a:endParaRPr lang="en-US" sz="105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8086" y="3533378"/>
            <a:ext cx="10795524" cy="837803"/>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1657" y="3847505"/>
            <a:ext cx="209446" cy="209451"/>
          </a:xfrm>
          <a:prstGeom prst="rect">
            <a:avLst/>
          </a:prstGeom>
        </p:spPr>
      </p:pic>
      <p:sp>
        <p:nvSpPr>
          <p:cNvPr id="14" name="Text 6"/>
          <p:cNvSpPr/>
          <p:nvPr/>
        </p:nvSpPr>
        <p:spPr>
          <a:xfrm>
            <a:off x="1373352" y="3692029"/>
            <a:ext cx="9961611" cy="205383"/>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Advanced Features</a:t>
            </a:r>
            <a:endParaRPr lang="en-US" sz="1250" dirty="0"/>
          </a:p>
        </p:txBody>
      </p:sp>
      <p:sp>
        <p:nvSpPr>
          <p:cNvPr id="15" name="Text 7"/>
          <p:cNvSpPr/>
          <p:nvPr/>
        </p:nvSpPr>
        <p:spPr>
          <a:xfrm>
            <a:off x="1373352" y="3956050"/>
            <a:ext cx="9961611" cy="189805"/>
          </a:xfrm>
          <a:prstGeom prst="rect">
            <a:avLst/>
          </a:prstGeom>
          <a:noFill/>
          <a:ln/>
        </p:spPr>
        <p:txBody>
          <a:bodyPr wrap="none" lIns="0" tIns="0" rIns="0" bIns="0" rtlCol="0" anchor="t"/>
          <a:lstStyle/>
          <a:p>
            <a:pPr algn="l" indent="0" marL="0">
              <a:lnSpc>
                <a:spcPct val="113000"/>
              </a:lnSpc>
              <a:buNone/>
            </a:pPr>
            <a:r>
              <a:rPr lang="en-US" sz="1050" dirty="0">
                <a:solidFill>
                  <a:srgbClr val="D6E5EF"/>
                </a:solidFill>
                <a:latin typeface="Source Sans 3" pitchFamily="34" charset="0"/>
                <a:ea typeface="Source Sans 3" pitchFamily="34" charset="-122"/>
                <a:cs typeface="Source Sans 3" pitchFamily="34" charset="-120"/>
              </a:rPr>
              <a:t>Error Boundaries, Suspense, Server Components</a:t>
            </a:r>
            <a:endParaRPr lang="en-US" sz="105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98086" y="4468912"/>
            <a:ext cx="10795524" cy="837803"/>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1657" y="4783038"/>
            <a:ext cx="209446" cy="209451"/>
          </a:xfrm>
          <a:prstGeom prst="rect">
            <a:avLst/>
          </a:prstGeom>
        </p:spPr>
      </p:pic>
      <p:sp>
        <p:nvSpPr>
          <p:cNvPr id="18" name="Text 8"/>
          <p:cNvSpPr/>
          <p:nvPr/>
        </p:nvSpPr>
        <p:spPr>
          <a:xfrm>
            <a:off x="1373352" y="4627563"/>
            <a:ext cx="9961611" cy="205383"/>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Performance &amp; Testing</a:t>
            </a:r>
            <a:endParaRPr lang="en-US" sz="1250" dirty="0"/>
          </a:p>
        </p:txBody>
      </p:sp>
      <p:sp>
        <p:nvSpPr>
          <p:cNvPr id="19" name="Text 9"/>
          <p:cNvSpPr/>
          <p:nvPr/>
        </p:nvSpPr>
        <p:spPr>
          <a:xfrm>
            <a:off x="1373352" y="4891584"/>
            <a:ext cx="9961611" cy="189805"/>
          </a:xfrm>
          <a:prstGeom prst="rect">
            <a:avLst/>
          </a:prstGeom>
          <a:noFill/>
          <a:ln/>
        </p:spPr>
        <p:txBody>
          <a:bodyPr wrap="none" lIns="0" tIns="0" rIns="0" bIns="0" rtlCol="0" anchor="t"/>
          <a:lstStyle/>
          <a:p>
            <a:pPr algn="l" indent="0" marL="0">
              <a:lnSpc>
                <a:spcPct val="113000"/>
              </a:lnSpc>
              <a:buNone/>
            </a:pPr>
            <a:r>
              <a:rPr lang="en-US" sz="1050" dirty="0">
                <a:solidFill>
                  <a:srgbClr val="D6E5EF"/>
                </a:solidFill>
                <a:latin typeface="Source Sans 3" pitchFamily="34" charset="0"/>
                <a:ea typeface="Source Sans 3" pitchFamily="34" charset="-122"/>
                <a:cs typeface="Source Sans 3" pitchFamily="34" charset="-120"/>
              </a:rPr>
              <a:t>Optimization techniques, Testing strategies</a:t>
            </a:r>
            <a:endParaRPr lang="en-US" sz="1050" dirty="0"/>
          </a:p>
        </p:txBody>
      </p:sp>
      <p:pic>
        <p:nvPicPr>
          <p:cNvPr id="2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8086" y="5404445"/>
            <a:ext cx="10795524" cy="837803"/>
          </a:xfrm>
          <a:prstGeom prst="rect">
            <a:avLst/>
          </a:prstGeom>
        </p:spPr>
      </p:pic>
      <p:pic>
        <p:nvPicPr>
          <p:cNvPr id="2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91657" y="5718572"/>
            <a:ext cx="209446" cy="209451"/>
          </a:xfrm>
          <a:prstGeom prst="rect">
            <a:avLst/>
          </a:prstGeom>
        </p:spPr>
      </p:pic>
      <p:sp>
        <p:nvSpPr>
          <p:cNvPr id="22" name="Text 10"/>
          <p:cNvSpPr/>
          <p:nvPr/>
        </p:nvSpPr>
        <p:spPr>
          <a:xfrm>
            <a:off x="1373352" y="5563096"/>
            <a:ext cx="9961611" cy="205383"/>
          </a:xfrm>
          <a:prstGeom prst="rect">
            <a:avLst/>
          </a:prstGeom>
          <a:noFill/>
          <a:ln/>
        </p:spPr>
        <p:txBody>
          <a:bodyPr wrap="none" lIns="0" tIns="0" rIns="0" bIns="0" rtlCol="0" anchor="t"/>
          <a:lstStyle/>
          <a:p>
            <a:pPr algn="l" indent="0" marL="0">
              <a:lnSpc>
                <a:spcPct val="104000"/>
              </a:lnSpc>
              <a:buNone/>
            </a:pPr>
            <a:r>
              <a:rPr lang="en-US" sz="1250" dirty="0">
                <a:solidFill>
                  <a:srgbClr val="D6E5EF"/>
                </a:solidFill>
                <a:latin typeface="Lora" pitchFamily="34" charset="0"/>
                <a:ea typeface="Lora" pitchFamily="34" charset="-122"/>
                <a:cs typeface="Lora" pitchFamily="34" charset="-120"/>
              </a:rPr>
              <a:t>Custom Hooks</a:t>
            </a:r>
            <a:endParaRPr lang="en-US" sz="1250" dirty="0"/>
          </a:p>
        </p:txBody>
      </p:sp>
      <p:sp>
        <p:nvSpPr>
          <p:cNvPr id="23" name="Text 11"/>
          <p:cNvSpPr/>
          <p:nvPr/>
        </p:nvSpPr>
        <p:spPr>
          <a:xfrm>
            <a:off x="1373352" y="5827117"/>
            <a:ext cx="9961611" cy="189805"/>
          </a:xfrm>
          <a:prstGeom prst="rect">
            <a:avLst/>
          </a:prstGeom>
          <a:noFill/>
          <a:ln/>
        </p:spPr>
        <p:txBody>
          <a:bodyPr wrap="none" lIns="0" tIns="0" rIns="0" bIns="0" rtlCol="0" anchor="t"/>
          <a:lstStyle/>
          <a:p>
            <a:pPr algn="l" indent="0" marL="0">
              <a:lnSpc>
                <a:spcPct val="113000"/>
              </a:lnSpc>
              <a:buNone/>
            </a:pPr>
            <a:r>
              <a:rPr lang="en-US" sz="1050" dirty="0">
                <a:solidFill>
                  <a:srgbClr val="D6E5EF"/>
                </a:solidFill>
                <a:latin typeface="Source Sans 3" pitchFamily="34" charset="0"/>
                <a:ea typeface="Source Sans 3" pitchFamily="34" charset="-122"/>
                <a:cs typeface="Source Sans 3" pitchFamily="34" charset="-120"/>
              </a:rPr>
              <a:t>Creating reusable logic</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98086" y="862013"/>
            <a:ext cx="10795524" cy="469404"/>
          </a:xfrm>
          <a:prstGeom prst="rect">
            <a:avLst/>
          </a:prstGeom>
          <a:noFill/>
          <a:ln/>
        </p:spPr>
        <p:txBody>
          <a:bodyPr wrap="none" lIns="0" tIns="0" rIns="0" bIns="0" rtlCol="0" anchor="t"/>
          <a:lstStyle/>
          <a:p>
            <a:pPr algn="l" indent="0" marL="0">
              <a:lnSpc>
                <a:spcPct val="104000"/>
              </a:lnSpc>
              <a:buNone/>
            </a:pPr>
            <a:r>
              <a:rPr lang="en-US" sz="2950" dirty="0">
                <a:solidFill>
                  <a:srgbClr val="F98AC7"/>
                </a:solidFill>
                <a:latin typeface="Lora" pitchFamily="34" charset="0"/>
                <a:ea typeface="Lora" pitchFamily="34" charset="-122"/>
                <a:cs typeface="Lora" pitchFamily="34" charset="-120"/>
              </a:rPr>
              <a:t>The Complete MERN Flow</a:t>
            </a:r>
            <a:endParaRPr lang="en-US" sz="2950" dirty="0"/>
          </a:p>
        </p:txBody>
      </p:sp>
      <p:sp>
        <p:nvSpPr>
          <p:cNvPr id="3" name="Text 1"/>
          <p:cNvSpPr/>
          <p:nvPr/>
        </p:nvSpPr>
        <p:spPr>
          <a:xfrm>
            <a:off x="698086" y="1586706"/>
            <a:ext cx="11405108" cy="229691"/>
          </a:xfrm>
          <a:prstGeom prst="rect">
            <a:avLst/>
          </a:prstGeom>
          <a:noFill/>
          <a:ln/>
        </p:spPr>
        <p:txBody>
          <a:bodyPr wrap="none" lIns="0" tIns="0" rIns="0" bIns="0" rtlCol="0" anchor="t"/>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Understanding the full lifecycle of a request in a MERN stack application, from user interaction to data display.</a:t>
            </a:r>
            <a:endParaRPr lang="en-US" sz="1250" dirty="0"/>
          </a:p>
        </p:txBody>
      </p:sp>
      <p:sp>
        <p:nvSpPr>
          <p:cNvPr id="4" name="Text 2"/>
          <p:cNvSpPr/>
          <p:nvPr/>
        </p:nvSpPr>
        <p:spPr>
          <a:xfrm>
            <a:off x="698086" y="1959967"/>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01</a:t>
            </a:r>
            <a:endParaRPr lang="en-US" sz="1250" dirty="0"/>
          </a:p>
        </p:txBody>
      </p:sp>
      <p:sp>
        <p:nvSpPr>
          <p:cNvPr id="5" name="Shape 3"/>
          <p:cNvSpPr/>
          <p:nvPr/>
        </p:nvSpPr>
        <p:spPr>
          <a:xfrm>
            <a:off x="698086" y="2212082"/>
            <a:ext cx="3513446" cy="19050"/>
          </a:xfrm>
          <a:prstGeom prst="rect">
            <a:avLst/>
          </a:prstGeom>
          <a:solidFill>
            <a:srgbClr val="6EB9FC"/>
          </a:solidFill>
          <a:ln/>
        </p:spPr>
      </p:sp>
      <p:sp>
        <p:nvSpPr>
          <p:cNvPr id="6" name="Text 4"/>
          <p:cNvSpPr/>
          <p:nvPr/>
        </p:nvSpPr>
        <p:spPr>
          <a:xfrm>
            <a:off x="698086" y="2329954"/>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React Renders</a:t>
            </a:r>
            <a:endParaRPr lang="en-US" sz="1450" dirty="0"/>
          </a:p>
        </p:txBody>
      </p:sp>
      <p:sp>
        <p:nvSpPr>
          <p:cNvPr id="7" name="Text 5"/>
          <p:cNvSpPr/>
          <p:nvPr/>
        </p:nvSpPr>
        <p:spPr>
          <a:xfrm>
            <a:off x="698086" y="2641203"/>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The UI initially renders or updates based on state/props changes.</a:t>
            </a:r>
            <a:endParaRPr lang="en-US" sz="1250" dirty="0"/>
          </a:p>
        </p:txBody>
      </p:sp>
      <p:sp>
        <p:nvSpPr>
          <p:cNvPr id="8" name="Text 6"/>
          <p:cNvSpPr/>
          <p:nvPr/>
        </p:nvSpPr>
        <p:spPr>
          <a:xfrm>
            <a:off x="4339124" y="1959967"/>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02</a:t>
            </a:r>
            <a:endParaRPr lang="en-US" sz="1250" dirty="0"/>
          </a:p>
        </p:txBody>
      </p:sp>
      <p:sp>
        <p:nvSpPr>
          <p:cNvPr id="9" name="Shape 7"/>
          <p:cNvSpPr/>
          <p:nvPr/>
        </p:nvSpPr>
        <p:spPr>
          <a:xfrm>
            <a:off x="4339124" y="2212082"/>
            <a:ext cx="3513446" cy="19050"/>
          </a:xfrm>
          <a:prstGeom prst="rect">
            <a:avLst/>
          </a:prstGeom>
          <a:solidFill>
            <a:srgbClr val="6EB9FC"/>
          </a:solidFill>
          <a:ln/>
        </p:spPr>
      </p:sp>
      <p:sp>
        <p:nvSpPr>
          <p:cNvPr id="10" name="Text 8"/>
          <p:cNvSpPr/>
          <p:nvPr/>
        </p:nvSpPr>
        <p:spPr>
          <a:xfrm>
            <a:off x="4339124" y="2329954"/>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User Interaction</a:t>
            </a:r>
            <a:endParaRPr lang="en-US" sz="1450" dirty="0"/>
          </a:p>
        </p:txBody>
      </p:sp>
      <p:sp>
        <p:nvSpPr>
          <p:cNvPr id="11" name="Text 9"/>
          <p:cNvSpPr/>
          <p:nvPr/>
        </p:nvSpPr>
        <p:spPr>
          <a:xfrm>
            <a:off x="4339124" y="2641203"/>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User actions (e.g., button click, form submit) trigger events in the React component.</a:t>
            </a:r>
            <a:endParaRPr lang="en-US" sz="1250" dirty="0"/>
          </a:p>
        </p:txBody>
      </p:sp>
      <p:sp>
        <p:nvSpPr>
          <p:cNvPr id="12" name="Text 10"/>
          <p:cNvSpPr/>
          <p:nvPr/>
        </p:nvSpPr>
        <p:spPr>
          <a:xfrm>
            <a:off x="7980163" y="1959967"/>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03</a:t>
            </a:r>
            <a:endParaRPr lang="en-US" sz="1250" dirty="0"/>
          </a:p>
        </p:txBody>
      </p:sp>
      <p:sp>
        <p:nvSpPr>
          <p:cNvPr id="13" name="Shape 11"/>
          <p:cNvSpPr/>
          <p:nvPr/>
        </p:nvSpPr>
        <p:spPr>
          <a:xfrm>
            <a:off x="7980163" y="2212082"/>
            <a:ext cx="3513446" cy="19050"/>
          </a:xfrm>
          <a:prstGeom prst="rect">
            <a:avLst/>
          </a:prstGeom>
          <a:solidFill>
            <a:srgbClr val="6EB9FC"/>
          </a:solidFill>
          <a:ln/>
        </p:spPr>
      </p:sp>
      <p:sp>
        <p:nvSpPr>
          <p:cNvPr id="14" name="Text 12"/>
          <p:cNvSpPr/>
          <p:nvPr/>
        </p:nvSpPr>
        <p:spPr>
          <a:xfrm>
            <a:off x="7980163" y="2329954"/>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Frontend Request</a:t>
            </a:r>
            <a:endParaRPr lang="en-US" sz="1450" dirty="0"/>
          </a:p>
        </p:txBody>
      </p:sp>
      <p:sp>
        <p:nvSpPr>
          <p:cNvPr id="15" name="Text 13"/>
          <p:cNvSpPr/>
          <p:nvPr/>
        </p:nvSpPr>
        <p:spPr>
          <a:xfrm>
            <a:off x="7980163" y="2641203"/>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React sends an HTTP API request (e.g., using Fetch or Axios) to the Express backend.</a:t>
            </a:r>
            <a:endParaRPr lang="en-US" sz="1250" dirty="0"/>
          </a:p>
        </p:txBody>
      </p:sp>
      <p:sp>
        <p:nvSpPr>
          <p:cNvPr id="16" name="Text 14"/>
          <p:cNvSpPr/>
          <p:nvPr/>
        </p:nvSpPr>
        <p:spPr>
          <a:xfrm>
            <a:off x="698086" y="3347839"/>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04</a:t>
            </a:r>
            <a:endParaRPr lang="en-US" sz="1250" dirty="0"/>
          </a:p>
        </p:txBody>
      </p:sp>
      <p:sp>
        <p:nvSpPr>
          <p:cNvPr id="17" name="Shape 15"/>
          <p:cNvSpPr/>
          <p:nvPr/>
        </p:nvSpPr>
        <p:spPr>
          <a:xfrm>
            <a:off x="698086" y="3583980"/>
            <a:ext cx="3513446" cy="19050"/>
          </a:xfrm>
          <a:prstGeom prst="rect">
            <a:avLst/>
          </a:prstGeom>
          <a:solidFill>
            <a:srgbClr val="6EB9FC"/>
          </a:solidFill>
          <a:ln/>
        </p:spPr>
      </p:sp>
      <p:sp>
        <p:nvSpPr>
          <p:cNvPr id="18" name="Text 16"/>
          <p:cNvSpPr/>
          <p:nvPr/>
        </p:nvSpPr>
        <p:spPr>
          <a:xfrm>
            <a:off x="698086" y="3717826"/>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Backend Routing</a:t>
            </a:r>
            <a:endParaRPr lang="en-US" sz="1450" dirty="0"/>
          </a:p>
        </p:txBody>
      </p:sp>
      <p:sp>
        <p:nvSpPr>
          <p:cNvPr id="19" name="Text 17"/>
          <p:cNvSpPr/>
          <p:nvPr/>
        </p:nvSpPr>
        <p:spPr>
          <a:xfrm>
            <a:off x="698086" y="4029075"/>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The Express server receives the request and routes it to the appropriate Node.js handler.</a:t>
            </a:r>
            <a:endParaRPr lang="en-US" sz="1250" dirty="0"/>
          </a:p>
        </p:txBody>
      </p:sp>
      <p:sp>
        <p:nvSpPr>
          <p:cNvPr id="20" name="Text 18"/>
          <p:cNvSpPr/>
          <p:nvPr/>
        </p:nvSpPr>
        <p:spPr>
          <a:xfrm>
            <a:off x="4339124" y="3347839"/>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05</a:t>
            </a:r>
            <a:endParaRPr lang="en-US" sz="1250" dirty="0"/>
          </a:p>
        </p:txBody>
      </p:sp>
      <p:sp>
        <p:nvSpPr>
          <p:cNvPr id="21" name="Shape 19"/>
          <p:cNvSpPr/>
          <p:nvPr/>
        </p:nvSpPr>
        <p:spPr>
          <a:xfrm>
            <a:off x="4339124" y="3583980"/>
            <a:ext cx="3513446" cy="19050"/>
          </a:xfrm>
          <a:prstGeom prst="rect">
            <a:avLst/>
          </a:prstGeom>
          <a:solidFill>
            <a:srgbClr val="6EB9FC"/>
          </a:solidFill>
          <a:ln/>
        </p:spPr>
      </p:sp>
      <p:sp>
        <p:nvSpPr>
          <p:cNvPr id="22" name="Text 20"/>
          <p:cNvSpPr/>
          <p:nvPr/>
        </p:nvSpPr>
        <p:spPr>
          <a:xfrm>
            <a:off x="4339124" y="3717826"/>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Database Query</a:t>
            </a:r>
            <a:endParaRPr lang="en-US" sz="1450" dirty="0"/>
          </a:p>
        </p:txBody>
      </p:sp>
      <p:sp>
        <p:nvSpPr>
          <p:cNvPr id="23" name="Text 21"/>
          <p:cNvSpPr/>
          <p:nvPr/>
        </p:nvSpPr>
        <p:spPr>
          <a:xfrm>
            <a:off x="4339124" y="4029075"/>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Node.js, often using Mongoose, queries the MongoDB database to retrieve or store data.</a:t>
            </a:r>
            <a:endParaRPr lang="en-US" sz="1250" dirty="0"/>
          </a:p>
        </p:txBody>
      </p:sp>
      <p:sp>
        <p:nvSpPr>
          <p:cNvPr id="24" name="Text 22"/>
          <p:cNvSpPr/>
          <p:nvPr/>
        </p:nvSpPr>
        <p:spPr>
          <a:xfrm>
            <a:off x="7980163" y="3347839"/>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06</a:t>
            </a:r>
            <a:endParaRPr lang="en-US" sz="1250" dirty="0"/>
          </a:p>
        </p:txBody>
      </p:sp>
      <p:sp>
        <p:nvSpPr>
          <p:cNvPr id="25" name="Shape 23"/>
          <p:cNvSpPr/>
          <p:nvPr/>
        </p:nvSpPr>
        <p:spPr>
          <a:xfrm>
            <a:off x="7980163" y="3583980"/>
            <a:ext cx="3513446" cy="19050"/>
          </a:xfrm>
          <a:prstGeom prst="rect">
            <a:avLst/>
          </a:prstGeom>
          <a:solidFill>
            <a:srgbClr val="6EB9FC"/>
          </a:solidFill>
          <a:ln/>
        </p:spPr>
      </p:sp>
      <p:sp>
        <p:nvSpPr>
          <p:cNvPr id="26" name="Text 24"/>
          <p:cNvSpPr/>
          <p:nvPr/>
        </p:nvSpPr>
        <p:spPr>
          <a:xfrm>
            <a:off x="7980163" y="3717826"/>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Database Response</a:t>
            </a:r>
            <a:endParaRPr lang="en-US" sz="1450" dirty="0"/>
          </a:p>
        </p:txBody>
      </p:sp>
      <p:sp>
        <p:nvSpPr>
          <p:cNvPr id="27" name="Text 25"/>
          <p:cNvSpPr/>
          <p:nvPr/>
        </p:nvSpPr>
        <p:spPr>
          <a:xfrm>
            <a:off x="7980163" y="4029075"/>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MongoDB executes the query and returns the requested data to the Node.js application.</a:t>
            </a:r>
            <a:endParaRPr lang="en-US" sz="1250" dirty="0"/>
          </a:p>
        </p:txBody>
      </p:sp>
      <p:sp>
        <p:nvSpPr>
          <p:cNvPr id="28" name="Text 26"/>
          <p:cNvSpPr/>
          <p:nvPr/>
        </p:nvSpPr>
        <p:spPr>
          <a:xfrm>
            <a:off x="698086" y="4735711"/>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07</a:t>
            </a:r>
            <a:endParaRPr lang="en-US" sz="1250" dirty="0"/>
          </a:p>
        </p:txBody>
      </p:sp>
      <p:sp>
        <p:nvSpPr>
          <p:cNvPr id="29" name="Shape 27"/>
          <p:cNvSpPr/>
          <p:nvPr/>
        </p:nvSpPr>
        <p:spPr>
          <a:xfrm>
            <a:off x="698086" y="4955977"/>
            <a:ext cx="3513446" cy="19050"/>
          </a:xfrm>
          <a:prstGeom prst="rect">
            <a:avLst/>
          </a:prstGeom>
          <a:solidFill>
            <a:srgbClr val="6EB9FC"/>
          </a:solidFill>
          <a:ln/>
        </p:spPr>
      </p:sp>
      <p:sp>
        <p:nvSpPr>
          <p:cNvPr id="30" name="Text 28"/>
          <p:cNvSpPr/>
          <p:nvPr/>
        </p:nvSpPr>
        <p:spPr>
          <a:xfrm>
            <a:off x="698086" y="5105698"/>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Backend Response</a:t>
            </a:r>
            <a:endParaRPr lang="en-US" sz="1450" dirty="0"/>
          </a:p>
        </p:txBody>
      </p:sp>
      <p:sp>
        <p:nvSpPr>
          <p:cNvPr id="31" name="Text 29"/>
          <p:cNvSpPr/>
          <p:nvPr/>
        </p:nvSpPr>
        <p:spPr>
          <a:xfrm>
            <a:off x="698086" y="5416947"/>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Express processes the data, formats it as JSON, and sends it back as a response to React.</a:t>
            </a:r>
            <a:endParaRPr lang="en-US" sz="1250" dirty="0"/>
          </a:p>
        </p:txBody>
      </p:sp>
      <p:sp>
        <p:nvSpPr>
          <p:cNvPr id="32" name="Text 30"/>
          <p:cNvSpPr/>
          <p:nvPr/>
        </p:nvSpPr>
        <p:spPr>
          <a:xfrm>
            <a:off x="4339124" y="4735711"/>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08</a:t>
            </a:r>
            <a:endParaRPr lang="en-US" sz="1250" dirty="0"/>
          </a:p>
        </p:txBody>
      </p:sp>
      <p:sp>
        <p:nvSpPr>
          <p:cNvPr id="33" name="Shape 31"/>
          <p:cNvSpPr/>
          <p:nvPr/>
        </p:nvSpPr>
        <p:spPr>
          <a:xfrm>
            <a:off x="4339124" y="4955977"/>
            <a:ext cx="3513446" cy="19050"/>
          </a:xfrm>
          <a:prstGeom prst="rect">
            <a:avLst/>
          </a:prstGeom>
          <a:solidFill>
            <a:srgbClr val="6EB9FC"/>
          </a:solidFill>
          <a:ln/>
        </p:spPr>
      </p:sp>
      <p:sp>
        <p:nvSpPr>
          <p:cNvPr id="34" name="Text 32"/>
          <p:cNvSpPr/>
          <p:nvPr/>
        </p:nvSpPr>
        <p:spPr>
          <a:xfrm>
            <a:off x="4339124" y="5105698"/>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State Update</a:t>
            </a:r>
            <a:endParaRPr lang="en-US" sz="1450" dirty="0"/>
          </a:p>
        </p:txBody>
      </p:sp>
      <p:sp>
        <p:nvSpPr>
          <p:cNvPr id="35" name="Text 33"/>
          <p:cNvSpPr/>
          <p:nvPr/>
        </p:nvSpPr>
        <p:spPr>
          <a:xfrm>
            <a:off x="4339124" y="5416947"/>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The React component receives the JSON response and updates its internal state with the new data.</a:t>
            </a:r>
            <a:endParaRPr lang="en-US" sz="1250" dirty="0"/>
          </a:p>
        </p:txBody>
      </p:sp>
      <p:sp>
        <p:nvSpPr>
          <p:cNvPr id="36" name="Text 34"/>
          <p:cNvSpPr/>
          <p:nvPr/>
        </p:nvSpPr>
        <p:spPr>
          <a:xfrm>
            <a:off x="7980163" y="4735711"/>
            <a:ext cx="319080" cy="199430"/>
          </a:xfrm>
          <a:prstGeom prst="rect">
            <a:avLst/>
          </a:prstGeom>
          <a:noFill/>
          <a:ln/>
        </p:spPr>
        <p:txBody>
          <a:bodyPr wrap="none" lIns="0" tIns="0" rIns="0" bIns="0" rtlCol="0" anchor="ctr"/>
          <a:lstStyle/>
          <a:p>
            <a:pPr algn="l" indent="0" marL="0">
              <a:lnSpc>
                <a:spcPct val="100000"/>
              </a:lnSpc>
              <a:buNone/>
            </a:pPr>
            <a:r>
              <a:rPr lang="en-US" sz="1250" dirty="0">
                <a:solidFill>
                  <a:srgbClr val="D6E5EF"/>
                </a:solidFill>
                <a:latin typeface="Lora" pitchFamily="34" charset="0"/>
                <a:ea typeface="Lora" pitchFamily="34" charset="-122"/>
                <a:cs typeface="Lora" pitchFamily="34" charset="-120"/>
              </a:rPr>
              <a:t>09</a:t>
            </a:r>
            <a:endParaRPr lang="en-US" sz="1250" dirty="0"/>
          </a:p>
        </p:txBody>
      </p:sp>
      <p:sp>
        <p:nvSpPr>
          <p:cNvPr id="37" name="Shape 35"/>
          <p:cNvSpPr/>
          <p:nvPr/>
        </p:nvSpPr>
        <p:spPr>
          <a:xfrm>
            <a:off x="7980163" y="4955977"/>
            <a:ext cx="3513446" cy="19050"/>
          </a:xfrm>
          <a:prstGeom prst="rect">
            <a:avLst/>
          </a:prstGeom>
          <a:solidFill>
            <a:srgbClr val="6EB9FC"/>
          </a:solidFill>
          <a:ln/>
        </p:spPr>
      </p:sp>
      <p:sp>
        <p:nvSpPr>
          <p:cNvPr id="38" name="Text 36"/>
          <p:cNvSpPr/>
          <p:nvPr/>
        </p:nvSpPr>
        <p:spPr>
          <a:xfrm>
            <a:off x="7980163" y="5105698"/>
            <a:ext cx="3513446"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UI Re-render</a:t>
            </a:r>
            <a:endParaRPr lang="en-US" sz="1450" dirty="0"/>
          </a:p>
        </p:txBody>
      </p:sp>
      <p:sp>
        <p:nvSpPr>
          <p:cNvPr id="39" name="Text 37"/>
          <p:cNvSpPr/>
          <p:nvPr/>
        </p:nvSpPr>
        <p:spPr>
          <a:xfrm>
            <a:off x="7980163" y="5416947"/>
            <a:ext cx="3513446"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React automatically re-renders the component to display the updated information to the user.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98086" y="567630"/>
            <a:ext cx="10795524" cy="285948"/>
          </a:xfrm>
          <a:prstGeom prst="rect">
            <a:avLst/>
          </a:prstGeom>
          <a:noFill/>
          <a:ln/>
        </p:spPr>
        <p:txBody>
          <a:bodyPr wrap="none" lIns="0" tIns="0" rIns="0" bIns="0" rtlCol="0" anchor="t"/>
          <a:lstStyle/>
          <a:p>
            <a:pPr algn="l" indent="0" marL="0">
              <a:lnSpc>
                <a:spcPct val="104000"/>
              </a:lnSpc>
              <a:buNone/>
            </a:pPr>
            <a:r>
              <a:rPr lang="en-US" sz="1800" dirty="0">
                <a:solidFill>
                  <a:srgbClr val="F98AC7"/>
                </a:solidFill>
                <a:latin typeface="Lora" pitchFamily="34" charset="0"/>
                <a:ea typeface="Lora" pitchFamily="34" charset="-122"/>
                <a:cs typeface="Lora" pitchFamily="34" charset="-120"/>
              </a:rPr>
              <a:t>Component Communication</a:t>
            </a:r>
            <a:endParaRPr lang="en-US" sz="1800" dirty="0"/>
          </a:p>
        </p:txBody>
      </p:sp>
      <p:sp>
        <p:nvSpPr>
          <p:cNvPr id="3" name="Text 1"/>
          <p:cNvSpPr/>
          <p:nvPr/>
        </p:nvSpPr>
        <p:spPr>
          <a:xfrm>
            <a:off x="698086" y="948333"/>
            <a:ext cx="11405108" cy="115689"/>
          </a:xfrm>
          <a:prstGeom prst="rect">
            <a:avLst/>
          </a:prstGeom>
          <a:noFill/>
          <a:ln/>
        </p:spPr>
        <p:txBody>
          <a:bodyPr wrap="none" lIns="0" tIns="0" rIns="0" bIns="0" rtlCol="0" anchor="t"/>
          <a:lstStyle/>
          <a:p>
            <a:pPr algn="l" indent="0" marL="0">
              <a:lnSpc>
                <a:spcPct val="99000"/>
              </a:lnSpc>
              <a:buNone/>
            </a:pPr>
            <a:r>
              <a:rPr lang="en-US" sz="750" dirty="0">
                <a:solidFill>
                  <a:srgbClr val="D6E5EF"/>
                </a:solidFill>
                <a:latin typeface="Source Sans 3" pitchFamily="34" charset="0"/>
                <a:ea typeface="Source Sans 3" pitchFamily="34" charset="-122"/>
                <a:cs typeface="Source Sans 3" pitchFamily="34" charset="-120"/>
              </a:rPr>
              <a:t>Understanding how components communicate is fundamental to building robust React applications. Data flows predictably, and interactions are managed through well-defined patterns.</a:t>
            </a:r>
            <a:endParaRPr lang="en-US" sz="750" dirty="0"/>
          </a:p>
        </p:txBody>
      </p:sp>
      <p:pic>
        <p:nvPicPr>
          <p:cNvPr id="4" name="Image 0" descr="preencoded.png">    </p:cNvPr>
          <p:cNvPicPr>
            <a:picLocks noChangeAspect="1"/>
          </p:cNvPicPr>
          <p:nvPr/>
        </p:nvPicPr>
        <p:blipFill>
          <a:blip r:embed="rId1"/>
          <a:stretch>
            <a:fillRect/>
          </a:stretch>
        </p:blipFill>
        <p:spPr>
          <a:xfrm>
            <a:off x="4143668" y="1117302"/>
            <a:ext cx="3904259" cy="3904258"/>
          </a:xfrm>
          <a:prstGeom prst="rect">
            <a:avLst/>
          </a:prstGeom>
        </p:spPr>
      </p:pic>
      <p:sp>
        <p:nvSpPr>
          <p:cNvPr id="5" name="Text 2"/>
          <p:cNvSpPr/>
          <p:nvPr/>
        </p:nvSpPr>
        <p:spPr>
          <a:xfrm>
            <a:off x="4522892" y="1886746"/>
            <a:ext cx="1257998" cy="185624"/>
          </a:xfrm>
          <a:prstGeom prst="rect">
            <a:avLst/>
          </a:prstGeom>
          <a:noFill/>
          <a:ln/>
        </p:spPr>
        <p:txBody>
          <a:bodyPr wrap="none" lIns="0" tIns="0" rIns="0" bIns="0" rtlCol="0" anchor="t"/>
          <a:lstStyle/>
          <a:p>
            <a:pPr algn="ctr" indent="0" marL="0">
              <a:lnSpc>
                <a:spcPct val="104000"/>
              </a:lnSpc>
              <a:buNone/>
            </a:pPr>
            <a:r>
              <a:rPr lang="en-US" sz="1150" dirty="0">
                <a:solidFill>
                  <a:srgbClr val="000000"/>
                </a:solidFill>
                <a:latin typeface="Lora" pitchFamily="34" charset="0"/>
                <a:ea typeface="Lora" pitchFamily="34" charset="-122"/>
                <a:cs typeface="Lora" pitchFamily="34" charset="-120"/>
              </a:rPr>
              <a:t>Parent</a:t>
            </a:r>
            <a:endParaRPr lang="en-US" sz="1150" dirty="0"/>
          </a:p>
        </p:txBody>
      </p:sp>
      <p:sp>
        <p:nvSpPr>
          <p:cNvPr id="6" name="Text 3"/>
          <p:cNvSpPr/>
          <p:nvPr/>
        </p:nvSpPr>
        <p:spPr>
          <a:xfrm>
            <a:off x="4522892" y="2128507"/>
            <a:ext cx="1257998" cy="234853"/>
          </a:xfrm>
          <a:prstGeom prst="rect">
            <a:avLst/>
          </a:prstGeom>
          <a:noFill/>
          <a:ln/>
        </p:spPr>
        <p:txBody>
          <a:bodyPr wrap="square" lIns="0" tIns="0" rIns="0" bIns="0" rtlCol="0" anchor="t">
            <a:normAutofit/>
          </a:bodyPr>
          <a:lstStyle/>
          <a:p>
            <a:pPr algn="ctr" indent="0" marL="0">
              <a:lnSpc>
                <a:spcPct val="77000"/>
              </a:lnSpc>
              <a:buNone/>
            </a:pPr>
            <a:r>
              <a:rPr lang="en-US" sz="950" dirty="0">
                <a:solidFill>
                  <a:srgbClr val="000000"/>
                </a:solidFill>
                <a:latin typeface="Source Sans 3" pitchFamily="34" charset="0"/>
                <a:ea typeface="Source Sans 3" pitchFamily="34" charset="-122"/>
                <a:cs typeface="Source Sans 3" pitchFamily="34" charset="-120"/>
              </a:rPr>
              <a:t>Holds state and passes props down to child.</a:t>
            </a:r>
            <a:endParaRPr lang="en-US" sz="950" dirty="0"/>
          </a:p>
        </p:txBody>
      </p:sp>
      <p:sp>
        <p:nvSpPr>
          <p:cNvPr id="7" name="Text 4"/>
          <p:cNvSpPr/>
          <p:nvPr/>
        </p:nvSpPr>
        <p:spPr>
          <a:xfrm>
            <a:off x="6417454" y="1828088"/>
            <a:ext cx="1257999" cy="185623"/>
          </a:xfrm>
          <a:prstGeom prst="rect">
            <a:avLst/>
          </a:prstGeom>
          <a:noFill/>
          <a:ln/>
        </p:spPr>
        <p:txBody>
          <a:bodyPr wrap="none" lIns="0" tIns="0" rIns="0" bIns="0" rtlCol="0" anchor="t"/>
          <a:lstStyle/>
          <a:p>
            <a:pPr algn="ctr" indent="0" marL="0">
              <a:lnSpc>
                <a:spcPct val="104000"/>
              </a:lnSpc>
              <a:buNone/>
            </a:pPr>
            <a:r>
              <a:rPr lang="en-US" sz="1150" dirty="0">
                <a:solidFill>
                  <a:srgbClr val="000000"/>
                </a:solidFill>
                <a:latin typeface="Lora" pitchFamily="34" charset="0"/>
                <a:ea typeface="Lora" pitchFamily="34" charset="-122"/>
                <a:cs typeface="Lora" pitchFamily="34" charset="-120"/>
              </a:rPr>
              <a:t>Props</a:t>
            </a:r>
            <a:endParaRPr lang="en-US" sz="1150" dirty="0"/>
          </a:p>
        </p:txBody>
      </p:sp>
      <p:sp>
        <p:nvSpPr>
          <p:cNvPr id="8" name="Text 5"/>
          <p:cNvSpPr/>
          <p:nvPr/>
        </p:nvSpPr>
        <p:spPr>
          <a:xfrm>
            <a:off x="6417454" y="2069848"/>
            <a:ext cx="1257999" cy="352279"/>
          </a:xfrm>
          <a:prstGeom prst="rect">
            <a:avLst/>
          </a:prstGeom>
          <a:noFill/>
          <a:ln/>
        </p:spPr>
        <p:txBody>
          <a:bodyPr wrap="square" lIns="0" tIns="0" rIns="0" bIns="0" rtlCol="0" anchor="t">
            <a:normAutofit/>
          </a:bodyPr>
          <a:lstStyle/>
          <a:p>
            <a:pPr algn="ctr" indent="0" marL="0">
              <a:lnSpc>
                <a:spcPct val="77000"/>
              </a:lnSpc>
              <a:buNone/>
            </a:pPr>
            <a:r>
              <a:rPr lang="en-US" sz="950" dirty="0">
                <a:solidFill>
                  <a:srgbClr val="000000"/>
                </a:solidFill>
                <a:latin typeface="Source Sans 3" pitchFamily="34" charset="0"/>
                <a:ea typeface="Source Sans 3" pitchFamily="34" charset="-122"/>
                <a:cs typeface="Source Sans 3" pitchFamily="34" charset="-120"/>
              </a:rPr>
              <a:t>Data flows down from parent into child components.</a:t>
            </a:r>
            <a:endParaRPr lang="en-US" sz="950" dirty="0"/>
          </a:p>
        </p:txBody>
      </p:sp>
      <p:sp>
        <p:nvSpPr>
          <p:cNvPr id="9" name="Text 6"/>
          <p:cNvSpPr/>
          <p:nvPr/>
        </p:nvSpPr>
        <p:spPr>
          <a:xfrm>
            <a:off x="4523001" y="3722588"/>
            <a:ext cx="1257998" cy="185624"/>
          </a:xfrm>
          <a:prstGeom prst="rect">
            <a:avLst/>
          </a:prstGeom>
          <a:noFill/>
          <a:ln/>
        </p:spPr>
        <p:txBody>
          <a:bodyPr wrap="none" lIns="0" tIns="0" rIns="0" bIns="0" rtlCol="0" anchor="t"/>
          <a:lstStyle/>
          <a:p>
            <a:pPr algn="ctr" indent="0" marL="0">
              <a:lnSpc>
                <a:spcPct val="104000"/>
              </a:lnSpc>
              <a:buNone/>
            </a:pPr>
            <a:r>
              <a:rPr lang="en-US" sz="1150" dirty="0">
                <a:solidFill>
                  <a:srgbClr val="000000"/>
                </a:solidFill>
                <a:latin typeface="Lora" pitchFamily="34" charset="0"/>
                <a:ea typeface="Lora" pitchFamily="34" charset="-122"/>
                <a:cs typeface="Lora" pitchFamily="34" charset="-120"/>
              </a:rPr>
              <a:t>Child</a:t>
            </a:r>
            <a:endParaRPr lang="en-US" sz="1150" dirty="0"/>
          </a:p>
        </p:txBody>
      </p:sp>
      <p:sp>
        <p:nvSpPr>
          <p:cNvPr id="10" name="Text 7"/>
          <p:cNvSpPr/>
          <p:nvPr/>
        </p:nvSpPr>
        <p:spPr>
          <a:xfrm>
            <a:off x="4523001" y="3964348"/>
            <a:ext cx="1257998" cy="352279"/>
          </a:xfrm>
          <a:prstGeom prst="rect">
            <a:avLst/>
          </a:prstGeom>
          <a:noFill/>
          <a:ln/>
        </p:spPr>
        <p:txBody>
          <a:bodyPr wrap="square" lIns="0" tIns="0" rIns="0" bIns="0" rtlCol="0" anchor="t">
            <a:normAutofit/>
          </a:bodyPr>
          <a:lstStyle/>
          <a:p>
            <a:pPr algn="ctr" indent="0" marL="0">
              <a:lnSpc>
                <a:spcPct val="77000"/>
              </a:lnSpc>
              <a:buNone/>
            </a:pPr>
            <a:r>
              <a:rPr lang="en-US" sz="950" dirty="0">
                <a:solidFill>
                  <a:srgbClr val="000000"/>
                </a:solidFill>
                <a:latin typeface="Source Sans 3" pitchFamily="34" charset="0"/>
                <a:ea typeface="Source Sans 3" pitchFamily="34" charset="-122"/>
                <a:cs typeface="Source Sans 3" pitchFamily="34" charset="-120"/>
              </a:rPr>
              <a:t>Receives props and triggers callbacks upward.</a:t>
            </a:r>
            <a:endParaRPr lang="en-US" sz="950" dirty="0"/>
          </a:p>
        </p:txBody>
      </p:sp>
      <p:sp>
        <p:nvSpPr>
          <p:cNvPr id="11" name="Text 8"/>
          <p:cNvSpPr/>
          <p:nvPr/>
        </p:nvSpPr>
        <p:spPr>
          <a:xfrm>
            <a:off x="6417454" y="3781247"/>
            <a:ext cx="1257999" cy="185624"/>
          </a:xfrm>
          <a:prstGeom prst="rect">
            <a:avLst/>
          </a:prstGeom>
          <a:noFill/>
          <a:ln/>
        </p:spPr>
        <p:txBody>
          <a:bodyPr wrap="none" lIns="0" tIns="0" rIns="0" bIns="0" rtlCol="0" anchor="t"/>
          <a:lstStyle/>
          <a:p>
            <a:pPr algn="ctr" indent="0" marL="0">
              <a:lnSpc>
                <a:spcPct val="104000"/>
              </a:lnSpc>
              <a:buNone/>
            </a:pPr>
            <a:r>
              <a:rPr lang="en-US" sz="1150" dirty="0">
                <a:solidFill>
                  <a:srgbClr val="000000"/>
                </a:solidFill>
                <a:latin typeface="Lora" pitchFamily="34" charset="0"/>
                <a:ea typeface="Lora" pitchFamily="34" charset="-122"/>
                <a:cs typeface="Lora" pitchFamily="34" charset="-120"/>
              </a:rPr>
              <a:t>Callbacks</a:t>
            </a:r>
            <a:endParaRPr lang="en-US" sz="1150" dirty="0"/>
          </a:p>
        </p:txBody>
      </p:sp>
      <p:sp>
        <p:nvSpPr>
          <p:cNvPr id="12" name="Text 9"/>
          <p:cNvSpPr/>
          <p:nvPr/>
        </p:nvSpPr>
        <p:spPr>
          <a:xfrm>
            <a:off x="6417454" y="4023007"/>
            <a:ext cx="1257999" cy="234853"/>
          </a:xfrm>
          <a:prstGeom prst="rect">
            <a:avLst/>
          </a:prstGeom>
          <a:noFill/>
          <a:ln/>
        </p:spPr>
        <p:txBody>
          <a:bodyPr wrap="square" lIns="0" tIns="0" rIns="0" bIns="0" rtlCol="0" anchor="t">
            <a:normAutofit/>
          </a:bodyPr>
          <a:lstStyle/>
          <a:p>
            <a:pPr algn="ctr" indent="0" marL="0">
              <a:lnSpc>
                <a:spcPct val="77000"/>
              </a:lnSpc>
              <a:buNone/>
            </a:pPr>
            <a:r>
              <a:rPr lang="en-US" sz="950" dirty="0">
                <a:solidFill>
                  <a:srgbClr val="000000"/>
                </a:solidFill>
                <a:latin typeface="Source Sans 3" pitchFamily="34" charset="0"/>
                <a:ea typeface="Source Sans 3" pitchFamily="34" charset="-122"/>
                <a:cs typeface="Source Sans 3" pitchFamily="34" charset="-120"/>
              </a:rPr>
              <a:t>Events bubble up to update parent state.</a:t>
            </a:r>
            <a:endParaRPr lang="en-US" sz="950" dirty="0"/>
          </a:p>
        </p:txBody>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086" y="5074841"/>
            <a:ext cx="3566924" cy="907951"/>
          </a:xfrm>
          <a:prstGeom prst="rect">
            <a:avLst/>
          </a:prstGeom>
        </p:spPr>
      </p:pic>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3159" y="5162352"/>
            <a:ext cx="116678" cy="116681"/>
          </a:xfrm>
          <a:prstGeom prst="rect">
            <a:avLst/>
          </a:prstGeom>
        </p:spPr>
      </p:pic>
      <p:sp>
        <p:nvSpPr>
          <p:cNvPr id="15" name="Text 10"/>
          <p:cNvSpPr/>
          <p:nvPr/>
        </p:nvSpPr>
        <p:spPr>
          <a:xfrm>
            <a:off x="808017" y="5463778"/>
            <a:ext cx="3347061" cy="142974"/>
          </a:xfrm>
          <a:prstGeom prst="rect">
            <a:avLst/>
          </a:prstGeom>
          <a:noFill/>
          <a:ln/>
        </p:spPr>
        <p:txBody>
          <a:bodyPr wrap="none" lIns="0" tIns="0" rIns="0" bIns="0" rtlCol="0" anchor="t"/>
          <a:lstStyle/>
          <a:p>
            <a:pPr algn="l" indent="0" marL="0">
              <a:lnSpc>
                <a:spcPct val="104000"/>
              </a:lnSpc>
              <a:buNone/>
            </a:pPr>
            <a:r>
              <a:rPr lang="en-US" sz="900" dirty="0">
                <a:solidFill>
                  <a:srgbClr val="D6E5EF"/>
                </a:solidFill>
                <a:latin typeface="Lora" pitchFamily="34" charset="0"/>
                <a:ea typeface="Lora" pitchFamily="34" charset="-122"/>
                <a:cs typeface="Lora" pitchFamily="34" charset="-120"/>
              </a:rPr>
              <a:t>Data Down (Props)</a:t>
            </a:r>
            <a:endParaRPr lang="en-US" sz="900" dirty="0"/>
          </a:p>
        </p:txBody>
      </p:sp>
      <p:sp>
        <p:nvSpPr>
          <p:cNvPr id="16" name="Text 11"/>
          <p:cNvSpPr/>
          <p:nvPr/>
        </p:nvSpPr>
        <p:spPr>
          <a:xfrm>
            <a:off x="808017" y="5635129"/>
            <a:ext cx="3347061" cy="237728"/>
          </a:xfrm>
          <a:prstGeom prst="rect">
            <a:avLst/>
          </a:prstGeom>
          <a:noFill/>
          <a:ln/>
        </p:spPr>
        <p:txBody>
          <a:bodyPr wrap="square" lIns="0" tIns="0" rIns="0" bIns="0" rtlCol="0" anchor="t">
            <a:normAutofit/>
          </a:bodyPr>
          <a:lstStyle/>
          <a:p>
            <a:pPr algn="l" indent="0" marL="0">
              <a:lnSpc>
                <a:spcPct val="99000"/>
              </a:lnSpc>
              <a:buNone/>
            </a:pPr>
            <a:r>
              <a:rPr lang="en-US" sz="750" dirty="0">
                <a:solidFill>
                  <a:srgbClr val="D6E5EF"/>
                </a:solidFill>
                <a:latin typeface="Source Sans 3" pitchFamily="34" charset="0"/>
                <a:ea typeface="Source Sans 3" pitchFamily="34" charset="-122"/>
                <a:cs typeface="Source Sans 3" pitchFamily="34" charset="-120"/>
              </a:rPr>
              <a:t>Parents pass data to children using </a:t>
            </a:r>
            <a:pPr algn="l" indent="0" marL="0">
              <a:lnSpc>
                <a:spcPct val="99000"/>
              </a:lnSpc>
              <a:buNone/>
            </a:pPr>
            <a:r>
              <a:rPr lang="en-US" sz="750" dirty="0">
                <a:solidFill>
                  <a:srgbClr val="D6E5EF"/>
                </a:solidFill>
                <a:highlight>
                  <a:srgbClr val="323540"/>
                </a:highlight>
                <a:latin typeface="Consolas" pitchFamily="34" charset="0"/>
                <a:ea typeface="Consolas" pitchFamily="34" charset="-122"/>
                <a:cs typeface="Consolas" pitchFamily="34" charset="-120"/>
              </a:rPr>
              <a:t>props</a:t>
            </a:r>
            <a:pPr algn="l" indent="0" marL="0">
              <a:lnSpc>
                <a:spcPct val="99000"/>
              </a:lnSpc>
              <a:buNone/>
            </a:pPr>
            <a:r>
              <a:rPr lang="en-US" sz="750" dirty="0">
                <a:solidFill>
                  <a:srgbClr val="D6E5EF"/>
                </a:solidFill>
                <a:latin typeface="Source Sans 3" pitchFamily="34" charset="0"/>
                <a:ea typeface="Source Sans 3" pitchFamily="34" charset="-122"/>
                <a:cs typeface="Source Sans 3" pitchFamily="34" charset="-120"/>
              </a:rPr>
              <a:t>. This is a one-way flow, making data predictable and easy to trace.</a:t>
            </a:r>
            <a:endParaRPr lang="en-US" sz="750" dirty="0"/>
          </a:p>
        </p:txBody>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12336" y="5074841"/>
            <a:ext cx="3566924" cy="907951"/>
          </a:xfrm>
          <a:prstGeom prst="rect">
            <a:avLst/>
          </a:prstGeom>
        </p:spPr>
      </p:pic>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37409" y="5162352"/>
            <a:ext cx="116678" cy="116681"/>
          </a:xfrm>
          <a:prstGeom prst="rect">
            <a:avLst/>
          </a:prstGeom>
        </p:spPr>
      </p:pic>
      <p:sp>
        <p:nvSpPr>
          <p:cNvPr id="19" name="Text 12"/>
          <p:cNvSpPr/>
          <p:nvPr/>
        </p:nvSpPr>
        <p:spPr>
          <a:xfrm>
            <a:off x="4422267" y="5463778"/>
            <a:ext cx="3347061" cy="142974"/>
          </a:xfrm>
          <a:prstGeom prst="rect">
            <a:avLst/>
          </a:prstGeom>
          <a:noFill/>
          <a:ln/>
        </p:spPr>
        <p:txBody>
          <a:bodyPr wrap="none" lIns="0" tIns="0" rIns="0" bIns="0" rtlCol="0" anchor="t"/>
          <a:lstStyle/>
          <a:p>
            <a:pPr algn="l" indent="0" marL="0">
              <a:lnSpc>
                <a:spcPct val="104000"/>
              </a:lnSpc>
              <a:buNone/>
            </a:pPr>
            <a:r>
              <a:rPr lang="en-US" sz="900" dirty="0">
                <a:solidFill>
                  <a:srgbClr val="D6E5EF"/>
                </a:solidFill>
                <a:latin typeface="Lora" pitchFamily="34" charset="0"/>
                <a:ea typeface="Lora" pitchFamily="34" charset="-122"/>
                <a:cs typeface="Lora" pitchFamily="34" charset="-120"/>
              </a:rPr>
              <a:t>Events Up (Callbacks)</a:t>
            </a:r>
            <a:endParaRPr lang="en-US" sz="900" dirty="0"/>
          </a:p>
        </p:txBody>
      </p:sp>
      <p:sp>
        <p:nvSpPr>
          <p:cNvPr id="20" name="Text 13"/>
          <p:cNvSpPr/>
          <p:nvPr/>
        </p:nvSpPr>
        <p:spPr>
          <a:xfrm>
            <a:off x="4422267" y="5635129"/>
            <a:ext cx="3347061" cy="231378"/>
          </a:xfrm>
          <a:prstGeom prst="rect">
            <a:avLst/>
          </a:prstGeom>
          <a:noFill/>
          <a:ln/>
        </p:spPr>
        <p:txBody>
          <a:bodyPr wrap="square" lIns="0" tIns="0" rIns="0" bIns="0" rtlCol="0" anchor="t">
            <a:normAutofit/>
          </a:bodyPr>
          <a:lstStyle/>
          <a:p>
            <a:pPr algn="l" indent="0" marL="0">
              <a:lnSpc>
                <a:spcPct val="99000"/>
              </a:lnSpc>
              <a:buNone/>
            </a:pPr>
            <a:r>
              <a:rPr lang="en-US" sz="750" dirty="0">
                <a:solidFill>
                  <a:srgbClr val="D6E5EF"/>
                </a:solidFill>
                <a:latin typeface="Source Sans 3" pitchFamily="34" charset="0"/>
                <a:ea typeface="Source Sans 3" pitchFamily="34" charset="-122"/>
                <a:cs typeface="Source Sans 3" pitchFamily="34" charset="-120"/>
              </a:rPr>
              <a:t>Children communicate with parents by calling functions (callbacks) passed down as props, notifying the parent of events or state changes.</a:t>
            </a:r>
            <a:endParaRPr lang="en-US" sz="750" dirty="0"/>
          </a:p>
        </p:txBody>
      </p:sp>
      <p:pic>
        <p:nvPicPr>
          <p:cNvPr id="21"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6586" y="5074841"/>
            <a:ext cx="3566924" cy="907951"/>
          </a:xfrm>
          <a:prstGeom prst="rect">
            <a:avLst/>
          </a:prstGeom>
        </p:spPr>
      </p:pic>
      <p:pic>
        <p:nvPicPr>
          <p:cNvPr id="22"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51659" y="5162352"/>
            <a:ext cx="116678" cy="116681"/>
          </a:xfrm>
          <a:prstGeom prst="rect">
            <a:avLst/>
          </a:prstGeom>
        </p:spPr>
      </p:pic>
      <p:sp>
        <p:nvSpPr>
          <p:cNvPr id="23" name="Text 14"/>
          <p:cNvSpPr/>
          <p:nvPr/>
        </p:nvSpPr>
        <p:spPr>
          <a:xfrm>
            <a:off x="8036518" y="5463778"/>
            <a:ext cx="3347061" cy="142974"/>
          </a:xfrm>
          <a:prstGeom prst="rect">
            <a:avLst/>
          </a:prstGeom>
          <a:noFill/>
          <a:ln/>
        </p:spPr>
        <p:txBody>
          <a:bodyPr wrap="none" lIns="0" tIns="0" rIns="0" bIns="0" rtlCol="0" anchor="t"/>
          <a:lstStyle/>
          <a:p>
            <a:pPr algn="l" indent="0" marL="0">
              <a:lnSpc>
                <a:spcPct val="104000"/>
              </a:lnSpc>
              <a:buNone/>
            </a:pPr>
            <a:r>
              <a:rPr lang="en-US" sz="900" dirty="0">
                <a:solidFill>
                  <a:srgbClr val="D6E5EF"/>
                </a:solidFill>
                <a:latin typeface="Lora" pitchFamily="34" charset="0"/>
                <a:ea typeface="Lora" pitchFamily="34" charset="-122"/>
                <a:cs typeface="Lora" pitchFamily="34" charset="-120"/>
              </a:rPr>
              <a:t>Shared State</a:t>
            </a:r>
            <a:endParaRPr lang="en-US" sz="900" dirty="0"/>
          </a:p>
        </p:txBody>
      </p:sp>
      <p:sp>
        <p:nvSpPr>
          <p:cNvPr id="24" name="Text 15"/>
          <p:cNvSpPr/>
          <p:nvPr/>
        </p:nvSpPr>
        <p:spPr>
          <a:xfrm>
            <a:off x="8036518" y="5635129"/>
            <a:ext cx="3347061" cy="231378"/>
          </a:xfrm>
          <a:prstGeom prst="rect">
            <a:avLst/>
          </a:prstGeom>
          <a:noFill/>
          <a:ln/>
        </p:spPr>
        <p:txBody>
          <a:bodyPr wrap="square" lIns="0" tIns="0" rIns="0" bIns="0" rtlCol="0" anchor="t">
            <a:normAutofit/>
          </a:bodyPr>
          <a:lstStyle/>
          <a:p>
            <a:pPr algn="l" indent="0" marL="0">
              <a:lnSpc>
                <a:spcPct val="99000"/>
              </a:lnSpc>
              <a:buNone/>
            </a:pPr>
            <a:r>
              <a:rPr lang="en-US" sz="750" dirty="0">
                <a:solidFill>
                  <a:srgbClr val="D6E5EF"/>
                </a:solidFill>
                <a:latin typeface="Source Sans 3" pitchFamily="34" charset="0"/>
                <a:ea typeface="Source Sans 3" pitchFamily="34" charset="-122"/>
                <a:cs typeface="Source Sans 3" pitchFamily="34" charset="-120"/>
              </a:rPr>
              <a:t>When multiple components need to share the same state, lift that state up to their closest common parent component.</a:t>
            </a:r>
            <a:endParaRPr lang="en-US" sz="750" dirty="0"/>
          </a:p>
        </p:txBody>
      </p:sp>
      <p:sp>
        <p:nvSpPr>
          <p:cNvPr id="25" name="Shape 16"/>
          <p:cNvSpPr/>
          <p:nvPr/>
        </p:nvSpPr>
        <p:spPr>
          <a:xfrm>
            <a:off x="698086" y="6036072"/>
            <a:ext cx="10795524" cy="254298"/>
          </a:xfrm>
          <a:prstGeom prst="roundRect">
            <a:avLst>
              <a:gd name="adj" fmla="val 5736"/>
            </a:avLst>
          </a:prstGeom>
          <a:solidFill>
            <a:srgbClr val="790645"/>
          </a:solidFill>
          <a:ln/>
        </p:spPr>
      </p:sp>
      <p:pic>
        <p:nvPicPr>
          <p:cNvPr id="26" name="Image 7" descr="preencoded.png">    </p:cNvPr>
          <p:cNvPicPr>
            <a:picLocks noChangeAspect="1"/>
          </p:cNvPicPr>
          <p:nvPr/>
        </p:nvPicPr>
        <p:blipFill>
          <a:blip r:embed="rId14"/>
          <a:stretch>
            <a:fillRect/>
          </a:stretch>
        </p:blipFill>
        <p:spPr>
          <a:xfrm>
            <a:off x="795318" y="6107708"/>
            <a:ext cx="121540" cy="97234"/>
          </a:xfrm>
          <a:prstGeom prst="rect">
            <a:avLst/>
          </a:prstGeom>
        </p:spPr>
      </p:pic>
      <p:sp>
        <p:nvSpPr>
          <p:cNvPr id="27" name="Text 17"/>
          <p:cNvSpPr/>
          <p:nvPr/>
        </p:nvSpPr>
        <p:spPr>
          <a:xfrm>
            <a:off x="1014089" y="6107708"/>
            <a:ext cx="10991873" cy="115689"/>
          </a:xfrm>
          <a:prstGeom prst="rect">
            <a:avLst/>
          </a:prstGeom>
          <a:noFill/>
          <a:ln/>
        </p:spPr>
        <p:txBody>
          <a:bodyPr wrap="none" lIns="0" tIns="0" rIns="0" bIns="0" rtlCol="0" anchor="t"/>
          <a:lstStyle/>
          <a:p>
            <a:pPr algn="l" indent="0" marL="0">
              <a:lnSpc>
                <a:spcPct val="99000"/>
              </a:lnSpc>
              <a:buNone/>
            </a:pPr>
            <a:r>
              <a:rPr lang="en-US" sz="750" dirty="0">
                <a:solidFill>
                  <a:srgbClr val="FFFFFF"/>
                </a:solidFill>
                <a:latin typeface="Source Sans 3" pitchFamily="34" charset="0"/>
                <a:ea typeface="Source Sans 3" pitchFamily="34" charset="-122"/>
                <a:cs typeface="Source Sans 3" pitchFamily="34" charset="-120"/>
              </a:rPr>
              <a:t>The "data down, events up" pattern ensures a clear and understandable data flow, reducing potential bugs and simplifying debugging.</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444752"/>
          </a:solidFill>
          <a:ln/>
        </p:spPr>
      </p:sp>
      <p:pic>
        <p:nvPicPr>
          <p:cNvPr id="3" name="Image 0" descr="preencoded.png">    </p:cNvPr>
          <p:cNvPicPr>
            <a:picLocks noChangeAspect="1"/>
          </p:cNvPicPr>
          <p:nvPr/>
        </p:nvPicPr>
        <p:blipFill>
          <a:blip r:embed="rId1"/>
          <a:stretch>
            <a:fillRect/>
          </a:stretch>
        </p:blipFill>
        <p:spPr>
          <a:xfrm>
            <a:off x="74710" y="112018"/>
            <a:ext cx="4422466" cy="6633865"/>
          </a:xfrm>
          <a:prstGeom prst="rect">
            <a:avLst/>
          </a:prstGeom>
        </p:spPr>
      </p:pic>
      <p:sp>
        <p:nvSpPr>
          <p:cNvPr id="4" name="Text 1"/>
          <p:cNvSpPr/>
          <p:nvPr/>
        </p:nvSpPr>
        <p:spPr>
          <a:xfrm>
            <a:off x="5269971" y="952302"/>
            <a:ext cx="6223638" cy="440035"/>
          </a:xfrm>
          <a:prstGeom prst="rect">
            <a:avLst/>
          </a:prstGeom>
          <a:noFill/>
          <a:ln/>
        </p:spPr>
        <p:txBody>
          <a:bodyPr wrap="none" lIns="0" tIns="0" rIns="0" bIns="0" rtlCol="0" anchor="t"/>
          <a:lstStyle/>
          <a:p>
            <a:pPr algn="l" indent="0" marL="0">
              <a:lnSpc>
                <a:spcPct val="104000"/>
              </a:lnSpc>
              <a:buNone/>
            </a:pPr>
            <a:r>
              <a:rPr lang="en-US" sz="2750" dirty="0">
                <a:solidFill>
                  <a:srgbClr val="F98AC7"/>
                </a:solidFill>
                <a:latin typeface="Lora" pitchFamily="34" charset="0"/>
                <a:ea typeface="Lora" pitchFamily="34" charset="-122"/>
                <a:cs typeface="Lora" pitchFamily="34" charset="-120"/>
              </a:rPr>
              <a:t>React Router – Navigation</a:t>
            </a:r>
            <a:endParaRPr lang="en-US" sz="2750" dirty="0"/>
          </a:p>
        </p:txBody>
      </p:sp>
      <p:sp>
        <p:nvSpPr>
          <p:cNvPr id="5" name="Text 2"/>
          <p:cNvSpPr/>
          <p:nvPr/>
        </p:nvSpPr>
        <p:spPr>
          <a:xfrm>
            <a:off x="5269971" y="1560612"/>
            <a:ext cx="6223638" cy="62835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React Router provides declarative routing, allowing your React application to display different UI components based on the browser's URL, without requiring a full page reload. It's essential for building dynamic single-page applications.</a:t>
            </a:r>
            <a:endParaRPr lang="en-US" sz="1150" dirty="0"/>
          </a:p>
        </p:txBody>
      </p:sp>
      <p:pic>
        <p:nvPicPr>
          <p:cNvPr id="6" name="Image 1" descr="preencoded.png">    </p:cNvPr>
          <p:cNvPicPr>
            <a:picLocks noChangeAspect="1"/>
          </p:cNvPicPr>
          <p:nvPr/>
        </p:nvPicPr>
        <p:blipFill>
          <a:blip r:embed="rId2"/>
          <a:stretch>
            <a:fillRect/>
          </a:stretch>
        </p:blipFill>
        <p:spPr>
          <a:xfrm>
            <a:off x="5269971" y="2315170"/>
            <a:ext cx="747991" cy="897632"/>
          </a:xfrm>
          <a:prstGeom prst="rect">
            <a:avLst/>
          </a:prstGeom>
        </p:spPr>
      </p:pic>
      <p:sp>
        <p:nvSpPr>
          <p:cNvPr id="7" name="Text 3"/>
          <p:cNvSpPr/>
          <p:nvPr/>
        </p:nvSpPr>
        <p:spPr>
          <a:xfrm>
            <a:off x="6130077" y="2464693"/>
            <a:ext cx="536353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Dynamic Views</a:t>
            </a:r>
            <a:endParaRPr lang="en-US" sz="1350" dirty="0"/>
          </a:p>
        </p:txBody>
      </p:sp>
      <p:sp>
        <p:nvSpPr>
          <p:cNvPr id="8" name="Text 4"/>
          <p:cNvSpPr/>
          <p:nvPr/>
        </p:nvSpPr>
        <p:spPr>
          <a:xfrm>
            <a:off x="6130077" y="2751931"/>
            <a:ext cx="5363532" cy="20945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Displays different components based on the current URL path.</a:t>
            </a:r>
            <a:endParaRPr lang="en-US" sz="1150" dirty="0"/>
          </a:p>
        </p:txBody>
      </p:sp>
      <p:pic>
        <p:nvPicPr>
          <p:cNvPr id="9" name="Image 2" descr="preencoded.png">    </p:cNvPr>
          <p:cNvPicPr>
            <a:picLocks noChangeAspect="1"/>
          </p:cNvPicPr>
          <p:nvPr/>
        </p:nvPicPr>
        <p:blipFill>
          <a:blip r:embed="rId3"/>
          <a:stretch>
            <a:fillRect/>
          </a:stretch>
        </p:blipFill>
        <p:spPr>
          <a:xfrm>
            <a:off x="5269971" y="3212802"/>
            <a:ext cx="747991" cy="897632"/>
          </a:xfrm>
          <a:prstGeom prst="rect">
            <a:avLst/>
          </a:prstGeom>
        </p:spPr>
      </p:pic>
      <p:sp>
        <p:nvSpPr>
          <p:cNvPr id="10" name="Text 5"/>
          <p:cNvSpPr/>
          <p:nvPr/>
        </p:nvSpPr>
        <p:spPr>
          <a:xfrm>
            <a:off x="6130077" y="3362325"/>
            <a:ext cx="536353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SPA Navigation</a:t>
            </a:r>
            <a:endParaRPr lang="en-US" sz="1350" dirty="0"/>
          </a:p>
        </p:txBody>
      </p:sp>
      <p:sp>
        <p:nvSpPr>
          <p:cNvPr id="11" name="Text 6"/>
          <p:cNvSpPr/>
          <p:nvPr/>
        </p:nvSpPr>
        <p:spPr>
          <a:xfrm>
            <a:off x="6130077" y="3649563"/>
            <a:ext cx="5363532" cy="20945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Enables seamless single-page application (SPA) user experiences.</a:t>
            </a:r>
            <a:endParaRPr lang="en-US" sz="1150" dirty="0"/>
          </a:p>
        </p:txBody>
      </p:sp>
      <p:pic>
        <p:nvPicPr>
          <p:cNvPr id="12" name="Image 3" descr="preencoded.png">    </p:cNvPr>
          <p:cNvPicPr>
            <a:picLocks noChangeAspect="1"/>
          </p:cNvPicPr>
          <p:nvPr/>
        </p:nvPicPr>
        <p:blipFill>
          <a:blip r:embed="rId4"/>
          <a:stretch>
            <a:fillRect/>
          </a:stretch>
        </p:blipFill>
        <p:spPr>
          <a:xfrm>
            <a:off x="5269971" y="4110434"/>
            <a:ext cx="747991" cy="897632"/>
          </a:xfrm>
          <a:prstGeom prst="rect">
            <a:avLst/>
          </a:prstGeom>
        </p:spPr>
      </p:pic>
      <p:sp>
        <p:nvSpPr>
          <p:cNvPr id="13" name="Text 7"/>
          <p:cNvSpPr/>
          <p:nvPr/>
        </p:nvSpPr>
        <p:spPr>
          <a:xfrm>
            <a:off x="6130077" y="4259957"/>
            <a:ext cx="536353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Easy Setup</a:t>
            </a:r>
            <a:endParaRPr lang="en-US" sz="1350" dirty="0"/>
          </a:p>
        </p:txBody>
      </p:sp>
      <p:sp>
        <p:nvSpPr>
          <p:cNvPr id="14" name="Text 8"/>
          <p:cNvSpPr/>
          <p:nvPr/>
        </p:nvSpPr>
        <p:spPr>
          <a:xfrm>
            <a:off x="6130077" y="4547195"/>
            <a:ext cx="5363532" cy="21580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Install with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npm install react-router-dom</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a:t>
            </a:r>
            <a:endParaRPr lang="en-US" sz="1150" dirty="0"/>
          </a:p>
        </p:txBody>
      </p:sp>
      <p:pic>
        <p:nvPicPr>
          <p:cNvPr id="15" name="Image 4" descr="preencoded.png">    </p:cNvPr>
          <p:cNvPicPr>
            <a:picLocks noChangeAspect="1"/>
          </p:cNvPicPr>
          <p:nvPr/>
        </p:nvPicPr>
        <p:blipFill>
          <a:blip r:embed="rId5"/>
          <a:stretch>
            <a:fillRect/>
          </a:stretch>
        </p:blipFill>
        <p:spPr>
          <a:xfrm>
            <a:off x="5269971" y="5008066"/>
            <a:ext cx="747991" cy="897632"/>
          </a:xfrm>
          <a:prstGeom prst="rect">
            <a:avLst/>
          </a:prstGeom>
        </p:spPr>
      </p:pic>
      <p:sp>
        <p:nvSpPr>
          <p:cNvPr id="16" name="Text 9"/>
          <p:cNvSpPr/>
          <p:nvPr/>
        </p:nvSpPr>
        <p:spPr>
          <a:xfrm>
            <a:off x="6130077" y="5157589"/>
            <a:ext cx="5363532" cy="219968"/>
          </a:xfrm>
          <a:prstGeom prst="rect">
            <a:avLst/>
          </a:prstGeom>
          <a:noFill/>
          <a:ln/>
        </p:spPr>
        <p:txBody>
          <a:bodyPr wrap="none" lIns="0" tIns="0" rIns="0" bIns="0" rtlCol="0" anchor="t"/>
          <a:lstStyle/>
          <a:p>
            <a:pPr algn="l" indent="0" marL="0">
              <a:lnSpc>
                <a:spcPct val="104000"/>
              </a:lnSpc>
              <a:buNone/>
            </a:pPr>
            <a:r>
              <a:rPr lang="en-US" sz="1350" dirty="0">
                <a:solidFill>
                  <a:srgbClr val="D6E5EF"/>
                </a:solidFill>
                <a:latin typeface="Lora" pitchFamily="34" charset="0"/>
                <a:ea typeface="Lora" pitchFamily="34" charset="-122"/>
                <a:cs typeface="Lora" pitchFamily="34" charset="-120"/>
              </a:rPr>
              <a:t>Core Routes</a:t>
            </a:r>
            <a:endParaRPr lang="en-US" sz="1350" dirty="0"/>
          </a:p>
        </p:txBody>
      </p:sp>
      <p:sp>
        <p:nvSpPr>
          <p:cNvPr id="17" name="Text 10"/>
          <p:cNvSpPr/>
          <p:nvPr/>
        </p:nvSpPr>
        <p:spPr>
          <a:xfrm>
            <a:off x="6130077" y="5444827"/>
            <a:ext cx="5363532" cy="215801"/>
          </a:xfrm>
          <a:prstGeom prst="rect">
            <a:avLst/>
          </a:prstGeom>
          <a:noFill/>
          <a:ln/>
        </p:spPr>
        <p:txBody>
          <a:bodyPr wrap="none" lIns="0" tIns="0" rIns="0" bIns="0" rtlCol="0" anchor="t"/>
          <a:lstStyle/>
          <a:p>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Use for main screens like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/home</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/students</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 or </a:t>
            </a:r>
            <a:pPr algn="l" indent="0" marL="0">
              <a:lnSpc>
                <a:spcPct val="117000"/>
              </a:lnSpc>
              <a:buNone/>
            </a:pPr>
            <a:r>
              <a:rPr lang="en-US" sz="1150" dirty="0">
                <a:solidFill>
                  <a:srgbClr val="D6E5EF"/>
                </a:solidFill>
                <a:highlight>
                  <a:srgbClr val="323540"/>
                </a:highlight>
                <a:latin typeface="Consolas" pitchFamily="34" charset="0"/>
                <a:ea typeface="Consolas" pitchFamily="34" charset="-122"/>
                <a:cs typeface="Consolas" pitchFamily="34" charset="-120"/>
              </a:rPr>
              <a:t>/add-student</a:t>
            </a:r>
            <a:pPr algn="l" indent="0" marL="0">
              <a:lnSpc>
                <a:spcPct val="117000"/>
              </a:lnSpc>
              <a:buNone/>
            </a:pPr>
            <a:r>
              <a:rPr lang="en-US" sz="1150" dirty="0">
                <a:solidFill>
                  <a:srgbClr val="D6E5EF"/>
                </a:solidFill>
                <a:latin typeface="Source Sans 3" pitchFamily="34" charset="0"/>
                <a:ea typeface="Source Sans 3" pitchFamily="34" charset="-122"/>
                <a:cs typeface="Source Sans 3" pitchFamily="34" charset="-120"/>
              </a:rPr>
              <a: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98086" y="925612"/>
            <a:ext cx="10795524" cy="469404"/>
          </a:xfrm>
          <a:prstGeom prst="rect">
            <a:avLst/>
          </a:prstGeom>
          <a:noFill/>
          <a:ln/>
        </p:spPr>
        <p:txBody>
          <a:bodyPr wrap="none" lIns="0" tIns="0" rIns="0" bIns="0" rtlCol="0" anchor="t"/>
          <a:lstStyle/>
          <a:p>
            <a:pPr algn="l" indent="0" marL="0">
              <a:lnSpc>
                <a:spcPct val="104000"/>
              </a:lnSpc>
              <a:buNone/>
            </a:pPr>
            <a:r>
              <a:rPr lang="en-US" sz="2950" dirty="0">
                <a:solidFill>
                  <a:srgbClr val="F98AC7"/>
                </a:solidFill>
                <a:latin typeface="Lora" pitchFamily="34" charset="0"/>
                <a:ea typeface="Lora" pitchFamily="34" charset="-122"/>
                <a:cs typeface="Lora" pitchFamily="34" charset="-120"/>
              </a:rPr>
              <a:t>Handling API Request States</a:t>
            </a:r>
            <a:endParaRPr lang="en-US" sz="2950" dirty="0"/>
          </a:p>
        </p:txBody>
      </p:sp>
      <p:sp>
        <p:nvSpPr>
          <p:cNvPr id="3" name="Text 1"/>
          <p:cNvSpPr/>
          <p:nvPr/>
        </p:nvSpPr>
        <p:spPr>
          <a:xfrm>
            <a:off x="698086" y="1650305"/>
            <a:ext cx="10795524"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When building dynamic applications, fetching data from APIs is common. These requests are asynchronous, meaning they take time and can result in various outcomes. Effectively handling these states ensures a robust and user-friendly experience.</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2253258"/>
            <a:ext cx="319080" cy="319088"/>
          </a:xfrm>
          <a:prstGeom prst="rect">
            <a:avLst/>
          </a:prstGeom>
        </p:spPr>
      </p:pic>
      <p:sp>
        <p:nvSpPr>
          <p:cNvPr id="5" name="Text 2"/>
          <p:cNvSpPr/>
          <p:nvPr/>
        </p:nvSpPr>
        <p:spPr>
          <a:xfrm>
            <a:off x="698086" y="2731889"/>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Loading State</a:t>
            </a:r>
            <a:endParaRPr lang="en-US" sz="1450" dirty="0"/>
          </a:p>
        </p:txBody>
      </p:sp>
      <p:sp>
        <p:nvSpPr>
          <p:cNvPr id="6" name="Text 3"/>
          <p:cNvSpPr/>
          <p:nvPr/>
        </p:nvSpPr>
        <p:spPr>
          <a:xfrm>
            <a:off x="698086" y="3043138"/>
            <a:ext cx="531799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Display a "Loading..." message or spinner while data is being fetched, preventing UI blocking and informing the user.</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5617" y="2253258"/>
            <a:ext cx="319080" cy="319088"/>
          </a:xfrm>
          <a:prstGeom prst="rect">
            <a:avLst/>
          </a:prstGeom>
        </p:spPr>
      </p:pic>
      <p:sp>
        <p:nvSpPr>
          <p:cNvPr id="8" name="Text 4"/>
          <p:cNvSpPr/>
          <p:nvPr/>
        </p:nvSpPr>
        <p:spPr>
          <a:xfrm>
            <a:off x="6175617" y="2731889"/>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Error State</a:t>
            </a:r>
            <a:endParaRPr lang="en-US" sz="1450" dirty="0"/>
          </a:p>
        </p:txBody>
      </p:sp>
      <p:sp>
        <p:nvSpPr>
          <p:cNvPr id="9" name="Text 5"/>
          <p:cNvSpPr/>
          <p:nvPr/>
        </p:nvSpPr>
        <p:spPr>
          <a:xfrm>
            <a:off x="6175617" y="3043138"/>
            <a:ext cx="531799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Show clear, actionable error messages if the API request fails (e.g., network error, server issue), guiding the user on next steps.</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757811"/>
            <a:ext cx="319080" cy="319088"/>
          </a:xfrm>
          <a:prstGeom prst="rect">
            <a:avLst/>
          </a:prstGeom>
        </p:spPr>
      </p:pic>
      <p:sp>
        <p:nvSpPr>
          <p:cNvPr id="11" name="Text 6"/>
          <p:cNvSpPr/>
          <p:nvPr/>
        </p:nvSpPr>
        <p:spPr>
          <a:xfrm>
            <a:off x="698086" y="4236442"/>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Empty State</a:t>
            </a:r>
            <a:endParaRPr lang="en-US" sz="1450" dirty="0"/>
          </a:p>
        </p:txBody>
      </p:sp>
      <p:sp>
        <p:nvSpPr>
          <p:cNvPr id="12" name="Text 7"/>
          <p:cNvSpPr/>
          <p:nvPr/>
        </p:nvSpPr>
        <p:spPr>
          <a:xfrm>
            <a:off x="698086" y="4547691"/>
            <a:ext cx="531799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Inform the user when an API request succeeds but returns no data (e.g., "No results found"), offering alternatives or suggestions.</a:t>
            </a:r>
            <a:endParaRPr lang="en-US" sz="12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5617" y="3757811"/>
            <a:ext cx="319080" cy="319088"/>
          </a:xfrm>
          <a:prstGeom prst="rect">
            <a:avLst/>
          </a:prstGeom>
        </p:spPr>
      </p:pic>
      <p:sp>
        <p:nvSpPr>
          <p:cNvPr id="14" name="Text 8"/>
          <p:cNvSpPr/>
          <p:nvPr/>
        </p:nvSpPr>
        <p:spPr>
          <a:xfrm>
            <a:off x="6175617" y="4236442"/>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Success State</a:t>
            </a:r>
            <a:endParaRPr lang="en-US" sz="1450" dirty="0"/>
          </a:p>
        </p:txBody>
      </p:sp>
      <p:sp>
        <p:nvSpPr>
          <p:cNvPr id="15" name="Text 9"/>
          <p:cNvSpPr/>
          <p:nvPr/>
        </p:nvSpPr>
        <p:spPr>
          <a:xfrm>
            <a:off x="6175617" y="4547691"/>
            <a:ext cx="531799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Render the fetched data once the API request is successful, presenting the content as intended.</a:t>
            </a:r>
            <a:endParaRPr lang="en-US" sz="1250" dirty="0"/>
          </a:p>
        </p:txBody>
      </p:sp>
      <p:sp>
        <p:nvSpPr>
          <p:cNvPr id="16" name="Shape 10"/>
          <p:cNvSpPr/>
          <p:nvPr/>
        </p:nvSpPr>
        <p:spPr>
          <a:xfrm>
            <a:off x="698086" y="5150644"/>
            <a:ext cx="10795524" cy="781645"/>
          </a:xfrm>
          <a:prstGeom prst="roundRect">
            <a:avLst>
              <a:gd name="adj" fmla="val 3062"/>
            </a:avLst>
          </a:prstGeom>
          <a:solidFill>
            <a:srgbClr val="790645"/>
          </a:solidFill>
          <a:ln/>
        </p:spPr>
      </p:sp>
      <p:pic>
        <p:nvPicPr>
          <p:cNvPr id="17" name="Image 4" descr="preencoded.png">    </p:cNvPr>
          <p:cNvPicPr>
            <a:picLocks noChangeAspect="1"/>
          </p:cNvPicPr>
          <p:nvPr/>
        </p:nvPicPr>
        <p:blipFill>
          <a:blip r:embed="rId9"/>
          <a:stretch>
            <a:fillRect/>
          </a:stretch>
        </p:blipFill>
        <p:spPr>
          <a:xfrm>
            <a:off x="857625" y="5337274"/>
            <a:ext cx="199425" cy="159544"/>
          </a:xfrm>
          <a:prstGeom prst="rect">
            <a:avLst/>
          </a:prstGeom>
        </p:spPr>
      </p:pic>
      <p:sp>
        <p:nvSpPr>
          <p:cNvPr id="18" name="Text 11"/>
          <p:cNvSpPr/>
          <p:nvPr/>
        </p:nvSpPr>
        <p:spPr>
          <a:xfrm>
            <a:off x="1216590" y="5318125"/>
            <a:ext cx="10117480"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FFFFFF"/>
                </a:solidFill>
                <a:latin typeface="Source Sans 3" pitchFamily="34" charset="0"/>
                <a:ea typeface="Source Sans 3" pitchFamily="34" charset="-122"/>
                <a:cs typeface="Source Sans 3" pitchFamily="34" charset="-120"/>
              </a:rPr>
              <a:t>Teaching students to consider the </a:t>
            </a:r>
            <a:pPr algn="l" indent="0" marL="0">
              <a:lnSpc>
                <a:spcPct val="120000"/>
              </a:lnSpc>
              <a:buNone/>
            </a:pPr>
            <a:r>
              <a:rPr lang="en-US" sz="1250" b="1" dirty="0">
                <a:solidFill>
                  <a:srgbClr val="FFFFFF"/>
                </a:solidFill>
                <a:latin typeface="Source Sans 3 Bold" pitchFamily="34" charset="0"/>
                <a:ea typeface="Source Sans 3 Bold" pitchFamily="34" charset="-122"/>
                <a:cs typeface="Source Sans 3 Bold" pitchFamily="34" charset="-120"/>
              </a:rPr>
              <a:t>full lifecycle</a:t>
            </a:r>
            <a:pPr algn="l" indent="0" marL="0">
              <a:lnSpc>
                <a:spcPct val="120000"/>
              </a:lnSpc>
              <a:buNone/>
            </a:pPr>
            <a:r>
              <a:rPr lang="en-US" sz="1250" dirty="0">
                <a:solidFill>
                  <a:srgbClr val="FFFFFF"/>
                </a:solidFill>
                <a:latin typeface="Source Sans 3" pitchFamily="34" charset="0"/>
                <a:ea typeface="Source Sans 3" pitchFamily="34" charset="-122"/>
                <a:cs typeface="Source Sans 3" pitchFamily="34" charset="-120"/>
              </a:rPr>
              <a:t> of an API request – from initiation to all possible outcomes – is crucial for building resilient React applications.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98086" y="944860"/>
            <a:ext cx="10795524" cy="469404"/>
          </a:xfrm>
          <a:prstGeom prst="rect">
            <a:avLst/>
          </a:prstGeom>
          <a:noFill/>
          <a:ln/>
        </p:spPr>
        <p:txBody>
          <a:bodyPr wrap="none" lIns="0" tIns="0" rIns="0" bIns="0" rtlCol="0" anchor="t"/>
          <a:lstStyle/>
          <a:p>
            <a:pPr algn="l" indent="0" marL="0">
              <a:lnSpc>
                <a:spcPct val="104000"/>
              </a:lnSpc>
              <a:buNone/>
            </a:pPr>
            <a:r>
              <a:rPr lang="en-US" sz="2950" dirty="0">
                <a:solidFill>
                  <a:srgbClr val="F98AC7"/>
                </a:solidFill>
                <a:latin typeface="Lora" pitchFamily="34" charset="0"/>
                <a:ea typeface="Lora" pitchFamily="34" charset="-122"/>
                <a:cs typeface="Lora" pitchFamily="34" charset="-120"/>
              </a:rPr>
              <a:t>API Calls from React</a:t>
            </a:r>
            <a:endParaRPr lang="en-US" sz="2950" dirty="0"/>
          </a:p>
        </p:txBody>
      </p:sp>
      <p:sp>
        <p:nvSpPr>
          <p:cNvPr id="3" name="Text 1"/>
          <p:cNvSpPr/>
          <p:nvPr/>
        </p:nvSpPr>
        <p:spPr>
          <a:xfrm>
            <a:off x="698086" y="1605756"/>
            <a:ext cx="10795524"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React applications typically communicate with a backend server (like Node.js with Express) through HTTP requests to fetch, create, update, and delete data. This interaction occurs via a well-defined Application Programming Interface (API).</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2208709"/>
            <a:ext cx="319080" cy="319088"/>
          </a:xfrm>
          <a:prstGeom prst="rect">
            <a:avLst/>
          </a:prstGeom>
        </p:spPr>
      </p:pic>
      <p:sp>
        <p:nvSpPr>
          <p:cNvPr id="5" name="Text 2"/>
          <p:cNvSpPr/>
          <p:nvPr/>
        </p:nvSpPr>
        <p:spPr>
          <a:xfrm>
            <a:off x="698086" y="2687340"/>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GET</a:t>
            </a:r>
            <a:endParaRPr lang="en-US" sz="1450" dirty="0"/>
          </a:p>
        </p:txBody>
      </p:sp>
      <p:sp>
        <p:nvSpPr>
          <p:cNvPr id="6" name="Text 3"/>
          <p:cNvSpPr/>
          <p:nvPr/>
        </p:nvSpPr>
        <p:spPr>
          <a:xfrm>
            <a:off x="698086" y="2998589"/>
            <a:ext cx="531799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Retrieves data from the server. Used for fetching all resources or a specific resource by ID.</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5617" y="2208709"/>
            <a:ext cx="319080" cy="319088"/>
          </a:xfrm>
          <a:prstGeom prst="rect">
            <a:avLst/>
          </a:prstGeom>
        </p:spPr>
      </p:pic>
      <p:sp>
        <p:nvSpPr>
          <p:cNvPr id="8" name="Text 4"/>
          <p:cNvSpPr/>
          <p:nvPr/>
        </p:nvSpPr>
        <p:spPr>
          <a:xfrm>
            <a:off x="6175617" y="2687340"/>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POST</a:t>
            </a:r>
            <a:endParaRPr lang="en-US" sz="1450" dirty="0"/>
          </a:p>
        </p:txBody>
      </p:sp>
      <p:sp>
        <p:nvSpPr>
          <p:cNvPr id="9" name="Text 5"/>
          <p:cNvSpPr/>
          <p:nvPr/>
        </p:nvSpPr>
        <p:spPr>
          <a:xfrm>
            <a:off x="6175617" y="2998589"/>
            <a:ext cx="5317992"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Sends new data to create a resource on the server. Commonly used for form submissions.</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713262"/>
            <a:ext cx="319080" cy="319088"/>
          </a:xfrm>
          <a:prstGeom prst="rect">
            <a:avLst/>
          </a:prstGeom>
        </p:spPr>
      </p:pic>
      <p:sp>
        <p:nvSpPr>
          <p:cNvPr id="11" name="Text 6"/>
          <p:cNvSpPr/>
          <p:nvPr/>
        </p:nvSpPr>
        <p:spPr>
          <a:xfrm>
            <a:off x="698086" y="4191893"/>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PUT / PATCH</a:t>
            </a:r>
            <a:endParaRPr lang="en-US" sz="1450" dirty="0"/>
          </a:p>
        </p:txBody>
      </p:sp>
      <p:sp>
        <p:nvSpPr>
          <p:cNvPr id="12" name="Text 7"/>
          <p:cNvSpPr/>
          <p:nvPr/>
        </p:nvSpPr>
        <p:spPr>
          <a:xfrm>
            <a:off x="698086" y="4503142"/>
            <a:ext cx="5317992" cy="4847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Updates an existing resource on the server. </a:t>
            </a:r>
            <a:pPr algn="l" indent="0" marL="0">
              <a:lnSpc>
                <a:spcPct val="120000"/>
              </a:lnSpc>
              <a:buNone/>
            </a:pPr>
            <a:r>
              <a:rPr lang="en-US" sz="1250" dirty="0">
                <a:solidFill>
                  <a:srgbClr val="D6E5EF"/>
                </a:solidFill>
                <a:highlight>
                  <a:srgbClr val="323540"/>
                </a:highlight>
                <a:latin typeface="Consolas" pitchFamily="34" charset="0"/>
                <a:ea typeface="Consolas" pitchFamily="34" charset="-122"/>
                <a:cs typeface="Consolas" pitchFamily="34" charset="-120"/>
              </a:rPr>
              <a:t>PUT</a:t>
            </a:r>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 replaces the entire resource, </a:t>
            </a:r>
            <a:pPr algn="l" indent="0" marL="0">
              <a:lnSpc>
                <a:spcPct val="120000"/>
              </a:lnSpc>
              <a:buNone/>
            </a:pPr>
            <a:r>
              <a:rPr lang="en-US" sz="1250" dirty="0">
                <a:solidFill>
                  <a:srgbClr val="D6E5EF"/>
                </a:solidFill>
                <a:highlight>
                  <a:srgbClr val="323540"/>
                </a:highlight>
                <a:latin typeface="Consolas" pitchFamily="34" charset="0"/>
                <a:ea typeface="Consolas" pitchFamily="34" charset="-122"/>
                <a:cs typeface="Consolas" pitchFamily="34" charset="-120"/>
              </a:rPr>
              <a:t>PATCH</a:t>
            </a:r>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 applies partial modifications.</a:t>
            </a:r>
            <a:endParaRPr lang="en-US" sz="12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5617" y="3713262"/>
            <a:ext cx="319080" cy="319088"/>
          </a:xfrm>
          <a:prstGeom prst="rect">
            <a:avLst/>
          </a:prstGeom>
        </p:spPr>
      </p:pic>
      <p:sp>
        <p:nvSpPr>
          <p:cNvPr id="14" name="Text 8"/>
          <p:cNvSpPr/>
          <p:nvPr/>
        </p:nvSpPr>
        <p:spPr>
          <a:xfrm>
            <a:off x="6175617" y="4191893"/>
            <a:ext cx="5317992" cy="234652"/>
          </a:xfrm>
          <a:prstGeom prst="rect">
            <a:avLst/>
          </a:prstGeom>
          <a:noFill/>
          <a:ln/>
        </p:spPr>
        <p:txBody>
          <a:bodyPr wrap="none" lIns="0" tIns="0" rIns="0" bIns="0" rtlCol="0" anchor="t"/>
          <a:lstStyle/>
          <a:p>
            <a:pPr algn="l" indent="0" marL="0">
              <a:lnSpc>
                <a:spcPct val="104000"/>
              </a:lnSpc>
              <a:buNone/>
            </a:pPr>
            <a:r>
              <a:rPr lang="en-US" sz="1450" dirty="0">
                <a:solidFill>
                  <a:srgbClr val="D6E5EF"/>
                </a:solidFill>
                <a:latin typeface="Lora" pitchFamily="34" charset="0"/>
                <a:ea typeface="Lora" pitchFamily="34" charset="-122"/>
                <a:cs typeface="Lora" pitchFamily="34" charset="-120"/>
              </a:rPr>
              <a:t>DELETE</a:t>
            </a:r>
            <a:endParaRPr lang="en-US" sz="1450" dirty="0"/>
          </a:p>
        </p:txBody>
      </p:sp>
      <p:sp>
        <p:nvSpPr>
          <p:cNvPr id="15" name="Text 9"/>
          <p:cNvSpPr/>
          <p:nvPr/>
        </p:nvSpPr>
        <p:spPr>
          <a:xfrm>
            <a:off x="6175617" y="4503142"/>
            <a:ext cx="5317992" cy="229691"/>
          </a:xfrm>
          <a:prstGeom prst="rect">
            <a:avLst/>
          </a:prstGeom>
          <a:noFill/>
          <a:ln/>
        </p:spPr>
        <p:txBody>
          <a:bodyPr wrap="none" lIns="0" tIns="0" rIns="0" bIns="0" rtlCol="0" anchor="t"/>
          <a:lstStyle/>
          <a:p>
            <a:pPr algn="l" indent="0" marL="0">
              <a:lnSpc>
                <a:spcPct val="120000"/>
              </a:lnSpc>
              <a:buNone/>
            </a:pPr>
            <a:r>
              <a:rPr lang="en-US" sz="1250" dirty="0">
                <a:solidFill>
                  <a:srgbClr val="D6E5EF"/>
                </a:solidFill>
                <a:latin typeface="Source Sans 3" pitchFamily="34" charset="0"/>
                <a:ea typeface="Source Sans 3" pitchFamily="34" charset="-122"/>
                <a:cs typeface="Source Sans 3" pitchFamily="34" charset="-120"/>
              </a:rPr>
              <a:t>Removes a specific resource from the server. Identified by its unique ID.</a:t>
            </a:r>
            <a:endParaRPr lang="en-US" sz="1250" dirty="0"/>
          </a:p>
        </p:txBody>
      </p:sp>
      <p:sp>
        <p:nvSpPr>
          <p:cNvPr id="16" name="Shape 10"/>
          <p:cNvSpPr/>
          <p:nvPr/>
        </p:nvSpPr>
        <p:spPr>
          <a:xfrm>
            <a:off x="698086" y="5131495"/>
            <a:ext cx="10795524" cy="781645"/>
          </a:xfrm>
          <a:prstGeom prst="roundRect">
            <a:avLst>
              <a:gd name="adj" fmla="val 3062"/>
            </a:avLst>
          </a:prstGeom>
          <a:solidFill>
            <a:srgbClr val="4B3F02"/>
          </a:solidFill>
          <a:ln/>
        </p:spPr>
      </p:sp>
      <p:pic>
        <p:nvPicPr>
          <p:cNvPr id="17" name="Image 4" descr="preencoded.png">    </p:cNvPr>
          <p:cNvPicPr>
            <a:picLocks noChangeAspect="1"/>
          </p:cNvPicPr>
          <p:nvPr/>
        </p:nvPicPr>
        <p:blipFill>
          <a:blip r:embed="rId9"/>
          <a:stretch>
            <a:fillRect/>
          </a:stretch>
        </p:blipFill>
        <p:spPr>
          <a:xfrm>
            <a:off x="857625" y="5318125"/>
            <a:ext cx="199425" cy="159544"/>
          </a:xfrm>
          <a:prstGeom prst="rect">
            <a:avLst/>
          </a:prstGeom>
        </p:spPr>
      </p:pic>
      <p:sp>
        <p:nvSpPr>
          <p:cNvPr id="18" name="Text 11"/>
          <p:cNvSpPr/>
          <p:nvPr/>
        </p:nvSpPr>
        <p:spPr>
          <a:xfrm>
            <a:off x="1216590" y="5298976"/>
            <a:ext cx="10117480" cy="459383"/>
          </a:xfrm>
          <a:prstGeom prst="rect">
            <a:avLst/>
          </a:prstGeom>
          <a:noFill/>
          <a:ln/>
        </p:spPr>
        <p:txBody>
          <a:bodyPr wrap="square" lIns="0" tIns="0" rIns="0" bIns="0" rtlCol="0" anchor="t">
            <a:normAutofit/>
          </a:bodyPr>
          <a:lstStyle/>
          <a:p>
            <a:pPr algn="l" indent="0" marL="0">
              <a:lnSpc>
                <a:spcPct val="120000"/>
              </a:lnSpc>
              <a:buNone/>
            </a:pPr>
            <a:r>
              <a:rPr lang="en-US" sz="1250" dirty="0">
                <a:solidFill>
                  <a:srgbClr val="FFFFFF"/>
                </a:solidFill>
                <a:latin typeface="Source Sans 3" pitchFamily="34" charset="0"/>
                <a:ea typeface="Source Sans 3" pitchFamily="34" charset="-122"/>
                <a:cs typeface="Source Sans 3" pitchFamily="34" charset="-120"/>
              </a:rPr>
              <a:t>React (frontend) should </a:t>
            </a:r>
            <a:pPr algn="l" indent="0" marL="0">
              <a:lnSpc>
                <a:spcPct val="120000"/>
              </a:lnSpc>
              <a:buNone/>
            </a:pPr>
            <a:r>
              <a:rPr lang="en-US" sz="1250" b="1" dirty="0">
                <a:solidFill>
                  <a:srgbClr val="FFFFFF"/>
                </a:solidFill>
                <a:latin typeface="Source Sans 3 Bold" pitchFamily="34" charset="0"/>
                <a:ea typeface="Source Sans 3 Bold" pitchFamily="34" charset="-122"/>
                <a:cs typeface="Source Sans 3 Bold" pitchFamily="34" charset="-120"/>
              </a:rPr>
              <a:t>never</a:t>
            </a:r>
            <a:pPr algn="l" indent="0" marL="0">
              <a:lnSpc>
                <a:spcPct val="120000"/>
              </a:lnSpc>
              <a:buNone/>
            </a:pPr>
            <a:r>
              <a:rPr lang="en-US" sz="1250" dirty="0">
                <a:solidFill>
                  <a:srgbClr val="FFFFFF"/>
                </a:solidFill>
                <a:latin typeface="Source Sans 3" pitchFamily="34" charset="0"/>
                <a:ea typeface="Source Sans 3" pitchFamily="34" charset="-122"/>
                <a:cs typeface="Source Sans 3" pitchFamily="34" charset="-120"/>
              </a:rPr>
              <a:t> connect directly to a database like MongoDB. All database operations must be handled by your backend server for security and architectural integrity.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98086" y="2207617"/>
            <a:ext cx="10795524" cy="1173361"/>
          </a:xfrm>
          <a:prstGeom prst="rect">
            <a:avLst/>
          </a:prstGeom>
          <a:noFill/>
          <a:ln/>
        </p:spPr>
        <p:txBody>
          <a:bodyPr wrap="none" lIns="0" tIns="0" rIns="0" bIns="0" rtlCol="0" anchor="t"/>
          <a:lstStyle/>
          <a:p>
            <a:pPr algn="ctr" indent="0" marL="0">
              <a:lnSpc>
                <a:spcPct val="104000"/>
              </a:lnSpc>
              <a:buNone/>
            </a:pPr>
            <a:r>
              <a:rPr lang="en-US" sz="7350" dirty="0">
                <a:solidFill>
                  <a:srgbClr val="F98AC7"/>
                </a:solidFill>
                <a:latin typeface="Lora" pitchFamily="34" charset="0"/>
                <a:ea typeface="Lora" pitchFamily="34" charset="-122"/>
                <a:cs typeface="Lora" pitchFamily="34" charset="-120"/>
              </a:rPr>
              <a:t>Thank You!</a:t>
            </a:r>
            <a:endParaRPr lang="en-US" sz="7350" dirty="0"/>
          </a:p>
        </p:txBody>
      </p:sp>
      <p:sp>
        <p:nvSpPr>
          <p:cNvPr id="3" name="Text 1"/>
          <p:cNvSpPr/>
          <p:nvPr/>
        </p:nvSpPr>
        <p:spPr>
          <a:xfrm>
            <a:off x="698086" y="3680123"/>
            <a:ext cx="10795524" cy="351929"/>
          </a:xfrm>
          <a:prstGeom prst="rect">
            <a:avLst/>
          </a:prstGeom>
          <a:noFill/>
          <a:ln/>
        </p:spPr>
        <p:txBody>
          <a:bodyPr wrap="none" lIns="0" tIns="0" rIns="0" bIns="0" rtlCol="0" anchor="t"/>
          <a:lstStyle/>
          <a:p>
            <a:pPr algn="ctr" indent="0" marL="0">
              <a:lnSpc>
                <a:spcPct val="104000"/>
              </a:lnSpc>
              <a:buNone/>
            </a:pPr>
            <a:r>
              <a:rPr lang="en-US" sz="2200" dirty="0">
                <a:solidFill>
                  <a:srgbClr val="F98AC7"/>
                </a:solidFill>
                <a:latin typeface="Lora" pitchFamily="34" charset="0"/>
                <a:ea typeface="Lora" pitchFamily="34" charset="-122"/>
                <a:cs typeface="Lora" pitchFamily="34" charset="-120"/>
              </a:rPr>
              <a:t>You're now ready to build with React</a:t>
            </a:r>
            <a:endParaRPr lang="en-US" sz="2200" dirty="0"/>
          </a:p>
        </p:txBody>
      </p:sp>
      <p:sp>
        <p:nvSpPr>
          <p:cNvPr id="4" name="Text 2"/>
          <p:cNvSpPr/>
          <p:nvPr/>
        </p:nvSpPr>
        <p:spPr>
          <a:xfrm>
            <a:off x="393293" y="4331196"/>
            <a:ext cx="11405108" cy="319187"/>
          </a:xfrm>
          <a:prstGeom prst="rect">
            <a:avLst/>
          </a:prstGeom>
          <a:noFill/>
          <a:ln/>
        </p:spPr>
        <p:txBody>
          <a:bodyPr wrap="none" lIns="0" tIns="0" rIns="0" bIns="0" rtlCol="0" anchor="t"/>
          <a:lstStyle/>
          <a:p>
            <a:pPr algn="ctr" indent="0" marL="0">
              <a:lnSpc>
                <a:spcPct val="133000"/>
              </a:lnSpc>
              <a:buNone/>
            </a:pPr>
            <a:r>
              <a:rPr lang="en-US" sz="1550" dirty="0">
                <a:solidFill>
                  <a:srgbClr val="D6E5EF"/>
                </a:solidFill>
                <a:latin typeface="Source Sans 3" pitchFamily="34" charset="0"/>
                <a:ea typeface="Source Sans 3" pitchFamily="34" charset="-122"/>
                <a:cs typeface="Source Sans 3" pitchFamily="34" charset="-120"/>
              </a:rPr>
              <a:t>Learn Once, Write Anywhere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2026-08-23T11:55:45Z</dcterms:created>
  <dcterms:modified xsi:type="dcterms:W3CDTF">2026-08-23T11:55:45Z</dcterms:modified>
</cp:coreProperties>
</file>