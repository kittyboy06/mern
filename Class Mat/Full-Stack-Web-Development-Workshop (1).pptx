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65" r:id="rId18"/>
  </p:sldIdLst>
  <p:sldSz cx="12192000" cy="6858000"/>
  <p:notesSz cx="6858000" cy="12192000"/>
  <p:embeddedFontLst>
    <p:embeddedFont>
      <p:font typeface="Consolas" panose="020B0609020204030204" pitchFamily="49" charset="0"/>
      <p:regular r:id="rId20"/>
      <p:bold r:id="rId21"/>
      <p:italic r:id="rId22"/>
      <p:boldItalic r:id="rId23"/>
    </p:embeddedFont>
    <p:embeddedFont>
      <p:font typeface="Instrument Sans" panose="020B0604020202020204" charset="0"/>
      <p:regular r:id="rId24"/>
    </p:embeddedFont>
    <p:embeddedFont>
      <p:font typeface="Instrument Sans Medium" panose="020B0604020202020204" charset="0"/>
      <p:regular r:id="rId25"/>
    </p:embeddedFont>
    <p:embeddedFont>
      <p:font typeface="Open Sans" panose="020B0604020202020204" charset="0"/>
      <p:regular r:id="rId26"/>
    </p:embeddedFont>
    <p:embeddedFont>
      <p:font typeface="Open Sans Bold" panose="020B0604020202020204" charset="0"/>
      <p:regular r:id="rId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2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3454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hyperlink" Target="https://gamma.app/?utm_source=made-with-gamma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F1F">
              <a:alpha val="80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F1F">
              <a:alpha val="8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8" name="Image 2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3E3E3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54535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Full-Stack Web Development Workshop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4010124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Master Node.js, Express, APIs, and Databases in One Day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33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Big Picture: How Web Apps Actually Work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002036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710755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Frontend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119438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users see and click on — the part you can touch and interact with.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2002036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3915" y="2710755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Backend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13915" y="3119438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invisible engine processing every request behind the scenes.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102298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4811018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Database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61475" y="5219700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Where all the data actually lives — users, posts, orders, everything.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3915" y="4102298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13915" y="4811018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API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213915" y="5219700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bridge connecting all the pieces so they can talk to each other.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3E3E3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255613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What Happens When You Click "Login"?</a:t>
            </a:r>
            <a:endParaRPr lang="en-US" sz="3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720380"/>
            <a:ext cx="6296860" cy="288190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2992" y="4917925"/>
            <a:ext cx="1182176" cy="227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Update UI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3993126" y="4804057"/>
            <a:ext cx="1182176" cy="455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Send Response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2511357" y="4804057"/>
            <a:ext cx="1182176" cy="455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Backend Check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997200" y="4917925"/>
            <a:ext cx="1182176" cy="227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Send Request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5861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Backend Basics: 4 Words to Remember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427288"/>
            <a:ext cx="5339820" cy="1391543"/>
          </a:xfrm>
          <a:prstGeom prst="roundRect">
            <a:avLst>
              <a:gd name="adj" fmla="val 2038"/>
            </a:avLst>
          </a:prstGeom>
          <a:solidFill>
            <a:srgbClr val="3E3E3E"/>
          </a:solidFill>
          <a:ln/>
        </p:spPr>
      </p:sp>
      <p:sp>
        <p:nvSpPr>
          <p:cNvPr id="4" name="Text 2"/>
          <p:cNvSpPr/>
          <p:nvPr/>
        </p:nvSpPr>
        <p:spPr>
          <a:xfrm>
            <a:off x="850482" y="2616299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Client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0482" y="3024981"/>
            <a:ext cx="49618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browser or app — the one asking for stuff.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90301" y="2427288"/>
            <a:ext cx="5339919" cy="1391543"/>
          </a:xfrm>
          <a:prstGeom prst="roundRect">
            <a:avLst>
              <a:gd name="adj" fmla="val 2038"/>
            </a:avLst>
          </a:prstGeom>
          <a:solidFill>
            <a:srgbClr val="3E3E3E"/>
          </a:solidFill>
          <a:ln/>
        </p:spPr>
      </p:sp>
      <p:sp>
        <p:nvSpPr>
          <p:cNvPr id="7" name="Text 5"/>
          <p:cNvSpPr/>
          <p:nvPr/>
        </p:nvSpPr>
        <p:spPr>
          <a:xfrm>
            <a:off x="6379308" y="2616299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Request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79308" y="3024981"/>
            <a:ext cx="49619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"Hey server, get me this data" — a message sent from client to server.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4007842"/>
            <a:ext cx="5339820" cy="1391543"/>
          </a:xfrm>
          <a:prstGeom prst="roundRect">
            <a:avLst>
              <a:gd name="adj" fmla="val 2038"/>
            </a:avLst>
          </a:prstGeom>
          <a:solidFill>
            <a:srgbClr val="3E3E3E"/>
          </a:solidFill>
          <a:ln/>
        </p:spPr>
      </p:sp>
      <p:sp>
        <p:nvSpPr>
          <p:cNvPr id="10" name="Text 8"/>
          <p:cNvSpPr/>
          <p:nvPr/>
        </p:nvSpPr>
        <p:spPr>
          <a:xfrm>
            <a:off x="850482" y="4196854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Server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50482" y="4605536"/>
            <a:ext cx="49618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computer sitting there 24/7, listening for requests and doing the work.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90301" y="4007842"/>
            <a:ext cx="5339919" cy="1391543"/>
          </a:xfrm>
          <a:prstGeom prst="roundRect">
            <a:avLst>
              <a:gd name="adj" fmla="val 2038"/>
            </a:avLst>
          </a:prstGeom>
          <a:solidFill>
            <a:srgbClr val="3E3E3E"/>
          </a:solidFill>
          <a:ln/>
        </p:spPr>
      </p:sp>
      <p:sp>
        <p:nvSpPr>
          <p:cNvPr id="13" name="Text 11"/>
          <p:cNvSpPr/>
          <p:nvPr/>
        </p:nvSpPr>
        <p:spPr>
          <a:xfrm>
            <a:off x="6379308" y="4196854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Response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379308" y="4605536"/>
            <a:ext cx="49619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"Here's your data" or "Error!" — the server's reply back to the client.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735013"/>
            <a:ext cx="3513645" cy="351373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28141" y="1693267"/>
            <a:ext cx="6908330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APIs: The Universal Language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628141" y="2442766"/>
            <a:ext cx="6908330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API</a:t>
            </a: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stands for Application Programming Interface — basically the contract that lets different apps talk to each other without knowing how each other works internally.</a:t>
            </a:r>
            <a:endParaRPr lang="en-US" sz="1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647803"/>
            <a:ext cx="5345673" cy="167461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71526" y="4856262"/>
            <a:ext cx="4827169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What APIs Do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971526" y="5248672"/>
            <a:ext cx="4827169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Let completely different apps communicate — your app, Spotify, Google Maps, all talking to each other via APIs.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4448" y="4647803"/>
            <a:ext cx="5345773" cy="167461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494498" y="4856262"/>
            <a:ext cx="4827268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JSON: The Data Format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6494498" y="5248672"/>
            <a:ext cx="4827268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standard format for sending data. Think: "structured text that computers understand" — like a really organized text message.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3E3E3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233360" y="2212777"/>
            <a:ext cx="880346" cy="287139"/>
          </a:xfrm>
          <a:prstGeom prst="roundRect">
            <a:avLst>
              <a:gd name="adj" fmla="val 7899"/>
            </a:avLst>
          </a:prstGeom>
          <a:solidFill>
            <a:srgbClr val="494904"/>
          </a:solidFill>
          <a:ln/>
        </p:spPr>
      </p:sp>
      <p:sp>
        <p:nvSpPr>
          <p:cNvPr id="5" name="Text 2"/>
          <p:cNvSpPr/>
          <p:nvPr/>
        </p:nvSpPr>
        <p:spPr>
          <a:xfrm>
            <a:off x="5346765" y="2269430"/>
            <a:ext cx="126312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CHAPTER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233360" y="257552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Node.js: JavaScript Escapes the Browser</a:t>
            </a:r>
            <a:endParaRPr lang="en-US" sz="3700" dirty="0"/>
          </a:p>
        </p:txBody>
      </p:sp>
      <p:sp>
        <p:nvSpPr>
          <p:cNvPr id="7" name="Text 4"/>
          <p:cNvSpPr/>
          <p:nvPr/>
        </p:nvSpPr>
        <p:spPr>
          <a:xfrm>
            <a:off x="5233360" y="4040287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 JavaScript went from browser toy to full-blown server powerhouse.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Node.js Explained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141736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JavaScript, but everywhere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2626023"/>
            <a:ext cx="6903269" cy="138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Before Node.js:</a:t>
            </a: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JavaScript was stuck in the browser — great for buttons and animations, useless for servers.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Now:</a:t>
            </a: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Node.js lets JavaScript run on servers, meaning you use the same language front-to-back. One language to rule them all. 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🚀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4633201" y="4224734"/>
            <a:ext cx="6903269" cy="1341834"/>
          </a:xfrm>
          <a:prstGeom prst="roundRect">
            <a:avLst>
              <a:gd name="adj" fmla="val 2113"/>
            </a:avLst>
          </a:prstGeom>
          <a:solidFill>
            <a:srgbClr val="797907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4517827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47449" y="4442023"/>
            <a:ext cx="610001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secret sauce is the </a:t>
            </a:r>
            <a:r>
              <a:rPr lang="en-US" sz="145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V8 Engine</a:t>
            </a:r>
            <a:r>
              <a:rPr lang="en-US" sz="14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the same engine Chrome uses — now running your JavaScript on the server. Just fire it up with: </a:t>
            </a:r>
            <a:r>
              <a:rPr lang="en-US" sz="1450" dirty="0">
                <a:solidFill>
                  <a:srgbClr val="FFFFF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node app.js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3E3E3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141684"/>
            <a:ext cx="4382978" cy="657463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1475" y="2508151"/>
            <a:ext cx="880346" cy="287139"/>
          </a:xfrm>
          <a:prstGeom prst="roundRect">
            <a:avLst>
              <a:gd name="adj" fmla="val 7899"/>
            </a:avLst>
          </a:prstGeom>
          <a:solidFill>
            <a:srgbClr val="494904"/>
          </a:solidFill>
          <a:ln/>
        </p:spPr>
      </p:sp>
      <p:sp>
        <p:nvSpPr>
          <p:cNvPr id="5" name="Text 2"/>
          <p:cNvSpPr/>
          <p:nvPr/>
        </p:nvSpPr>
        <p:spPr>
          <a:xfrm>
            <a:off x="774879" y="2564805"/>
            <a:ext cx="126312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CHAPTER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61475" y="287089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Express.js: Making APIs Easy</a:t>
            </a:r>
            <a:endParaRPr lang="en-US" sz="3700" dirty="0"/>
          </a:p>
        </p:txBody>
      </p:sp>
      <p:sp>
        <p:nvSpPr>
          <p:cNvPr id="7" name="Text 4"/>
          <p:cNvSpPr/>
          <p:nvPr/>
        </p:nvSpPr>
        <p:spPr>
          <a:xfrm>
            <a:off x="661475" y="3745012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 raw requests to structured responses, learn how Express.js streamlines backend development.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5977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3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Thank You!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356682" y="1444030"/>
            <a:ext cx="1147833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We've covered the foundational technologies for building powerful full-stack web applications. Here's a quick recap of the core concepts: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1879898"/>
            <a:ext cx="5356786" cy="1002506"/>
          </a:xfrm>
          <a:prstGeom prst="roundRect">
            <a:avLst>
              <a:gd name="adj" fmla="val 2563"/>
            </a:avLst>
          </a:prstGeom>
          <a:solidFill>
            <a:srgbClr val="1F1F1F"/>
          </a:solidFill>
          <a:ln w="19050">
            <a:solidFill>
              <a:srgbClr val="5757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1772" y="2070199"/>
            <a:ext cx="4976192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Node.js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51772" y="2430859"/>
            <a:ext cx="4976192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Server-side JavaScript runtime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3435" y="1879898"/>
            <a:ext cx="5356786" cy="1002506"/>
          </a:xfrm>
          <a:prstGeom prst="roundRect">
            <a:avLst>
              <a:gd name="adj" fmla="val 2563"/>
            </a:avLst>
          </a:prstGeom>
          <a:solidFill>
            <a:srgbClr val="1F1F1F"/>
          </a:solidFill>
          <a:ln w="19050">
            <a:solidFill>
              <a:srgbClr val="5757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63731" y="2070199"/>
            <a:ext cx="4976192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Express.js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363731" y="2430859"/>
            <a:ext cx="4976192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Minimalist web framework for Node.js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1475" y="3037582"/>
            <a:ext cx="5356786" cy="1002506"/>
          </a:xfrm>
          <a:prstGeom prst="roundRect">
            <a:avLst>
              <a:gd name="adj" fmla="val 2563"/>
            </a:avLst>
          </a:prstGeom>
          <a:solidFill>
            <a:srgbClr val="1F1F1F"/>
          </a:solidFill>
          <a:ln w="19050">
            <a:solidFill>
              <a:srgbClr val="5757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1772" y="3227884"/>
            <a:ext cx="4976192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REST APIs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51772" y="3588544"/>
            <a:ext cx="4976192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 for web service communication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3435" y="3037582"/>
            <a:ext cx="5356786" cy="1002506"/>
          </a:xfrm>
          <a:prstGeom prst="roundRect">
            <a:avLst>
              <a:gd name="adj" fmla="val 2563"/>
            </a:avLst>
          </a:prstGeom>
          <a:solidFill>
            <a:srgbClr val="1F1F1F"/>
          </a:solidFill>
          <a:ln w="19050">
            <a:solidFill>
              <a:srgbClr val="5757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63731" y="3227884"/>
            <a:ext cx="4976192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CRUD Operations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363731" y="3588544"/>
            <a:ext cx="4976192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Create, Read, Update, Delete data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1475" y="4195266"/>
            <a:ext cx="5356786" cy="1002506"/>
          </a:xfrm>
          <a:prstGeom prst="roundRect">
            <a:avLst>
              <a:gd name="adj" fmla="val 2563"/>
            </a:avLst>
          </a:prstGeom>
          <a:solidFill>
            <a:srgbClr val="1F1F1F"/>
          </a:solidFill>
          <a:ln w="19050">
            <a:solidFill>
              <a:srgbClr val="5757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1772" y="4385568"/>
            <a:ext cx="4976192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SQL Databases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51772" y="4746228"/>
            <a:ext cx="4976192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Structured relational data storage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3435" y="4195266"/>
            <a:ext cx="5356786" cy="1002506"/>
          </a:xfrm>
          <a:prstGeom prst="roundRect">
            <a:avLst>
              <a:gd name="adj" fmla="val 2563"/>
            </a:avLst>
          </a:prstGeom>
          <a:solidFill>
            <a:srgbClr val="1F1F1F"/>
          </a:solidFill>
          <a:ln w="19050">
            <a:solidFill>
              <a:srgbClr val="5757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3731" y="4385568"/>
            <a:ext cx="4976192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MongoDB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6363731" y="4746228"/>
            <a:ext cx="4976192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Flexible NoSQL document database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1475" y="5430540"/>
            <a:ext cx="10868745" cy="751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6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Questions? Let's code! </a:t>
            </a:r>
            <a:r>
              <a:rPr lang="en-US" sz="46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🚀</a:t>
            </a:r>
            <a:endParaRPr lang="en-US" sz="4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You've Got This!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885924"/>
            <a:ext cx="10868745" cy="56434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14394" y="3248452"/>
            <a:ext cx="1341196" cy="905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Frontend → API → Database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918707" y="2050567"/>
            <a:ext cx="2349775" cy="301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Frontend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918707" y="2438182"/>
            <a:ext cx="2349775" cy="3621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 interface in browser or app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922962" y="3338147"/>
            <a:ext cx="2349775" cy="301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API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922962" y="3725763"/>
            <a:ext cx="2349775" cy="3621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Handles requests and business logic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8707" y="4561348"/>
            <a:ext cx="2349775" cy="301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Database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918707" y="4948963"/>
            <a:ext cx="2349775" cy="3621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Stores and retrieves application data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61475" y="6582470"/>
            <a:ext cx="10868745" cy="279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 now understand the core components that make modern web applications tick. From the user's browser (Frontend) to the intermediary translator (API) and the data storage hub (Database) – you have the roadmap.</a:t>
            </a:r>
            <a:endParaRPr lang="en-US" sz="7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best way to solidify this knowledge is to build! Start with simple projects, experiment with Node.js and Express, connect to a database, and watch your ideas come to life. Keep learning, keep coding, and keep building!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3E3E3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141684"/>
            <a:ext cx="4382978" cy="657463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1475" y="2508151"/>
            <a:ext cx="880346" cy="287139"/>
          </a:xfrm>
          <a:prstGeom prst="roundRect">
            <a:avLst>
              <a:gd name="adj" fmla="val 7899"/>
            </a:avLst>
          </a:prstGeom>
          <a:solidFill>
            <a:srgbClr val="494904"/>
          </a:solidFill>
          <a:ln/>
        </p:spPr>
      </p:sp>
      <p:sp>
        <p:nvSpPr>
          <p:cNvPr id="5" name="Text 2"/>
          <p:cNvSpPr/>
          <p:nvPr/>
        </p:nvSpPr>
        <p:spPr>
          <a:xfrm>
            <a:off x="774879" y="2564805"/>
            <a:ext cx="126312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CHAPTER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61475" y="287089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Putting It All Together</a:t>
            </a:r>
            <a:endParaRPr lang="en-US" sz="3700" dirty="0"/>
          </a:p>
        </p:txBody>
      </p:sp>
      <p:sp>
        <p:nvSpPr>
          <p:cNvPr id="7" name="Text 4"/>
          <p:cNvSpPr/>
          <p:nvPr/>
        </p:nvSpPr>
        <p:spPr>
          <a:xfrm>
            <a:off x="661475" y="3745012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Now let's connect the dots: build a full-stack application from scratch using Node.js, Express, and a database.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3E3E3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7673" y="101798"/>
            <a:ext cx="4436158" cy="665440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1475" y="757238"/>
            <a:ext cx="632801" cy="206276"/>
          </a:xfrm>
          <a:prstGeom prst="roundRect">
            <a:avLst>
              <a:gd name="adj" fmla="val 7903"/>
            </a:avLst>
          </a:prstGeom>
          <a:solidFill>
            <a:srgbClr val="494904"/>
          </a:solidFill>
          <a:ln/>
        </p:spPr>
      </p:sp>
      <p:sp>
        <p:nvSpPr>
          <p:cNvPr id="5" name="Text 2"/>
          <p:cNvSpPr/>
          <p:nvPr/>
        </p:nvSpPr>
        <p:spPr>
          <a:xfrm>
            <a:off x="742931" y="797917"/>
            <a:ext cx="1079473" cy="124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CHAPTER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61475" y="1002506"/>
            <a:ext cx="6296860" cy="848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SQL vs MongoDB: Choosing Your Database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661475" y="1997869"/>
            <a:ext cx="6906444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Understanding the core differences helps you pick the right tool for the job.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61475" y="2392065"/>
            <a:ext cx="2982739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SQL Databases (Relational)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1475" y="2702024"/>
            <a:ext cx="2982739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Think of data stored in rigid, predefined tables with rows and columns, like a highly organized spreadsheet.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61475" y="3350022"/>
            <a:ext cx="2982739" cy="2716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15000"/>
              </a:lnSpc>
              <a:buSzPct val="100000"/>
              <a:buChar char="•"/>
            </a:pPr>
            <a:r>
              <a:rPr lang="en-US" sz="105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Structured Schema:</a:t>
            </a:r>
            <a:r>
              <a:rPr lang="en-US" sz="10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Requires a strict blueprint (schema) for data before anything can be stored. Changes are often complex.</a:t>
            </a:r>
            <a:endParaRPr lang="en-US" sz="1050" dirty="0"/>
          </a:p>
          <a:p>
            <a:pPr marL="213360" indent="-213360" algn="l">
              <a:lnSpc>
                <a:spcPct val="115000"/>
              </a:lnSpc>
              <a:buSzPct val="100000"/>
              <a:buChar char="•"/>
            </a:pPr>
            <a:r>
              <a:rPr lang="en-US" sz="105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Relational Model:</a:t>
            </a:r>
            <a:r>
              <a:rPr lang="en-US" sz="10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Data is linked across multiple tables using foreign keys, ensuring strong relationships and data integrity.</a:t>
            </a:r>
            <a:endParaRPr lang="en-US" sz="1050" dirty="0"/>
          </a:p>
          <a:p>
            <a:pPr marL="213360" indent="-213360" algn="l">
              <a:lnSpc>
                <a:spcPct val="115000"/>
              </a:lnSpc>
              <a:buSzPct val="100000"/>
              <a:buChar char="•"/>
            </a:pPr>
            <a:r>
              <a:rPr lang="en-US" sz="105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Strong Integrity:</a:t>
            </a:r>
            <a:r>
              <a:rPr lang="en-US" sz="10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Guarantees data accuracy and reliability through ACID (Atomicity, Consistency, Isolation, Durability) properties.</a:t>
            </a:r>
            <a:endParaRPr lang="en-US" sz="1050" dirty="0"/>
          </a:p>
          <a:p>
            <a:pPr marL="213360" indent="-213360" algn="l">
              <a:lnSpc>
                <a:spcPct val="115000"/>
              </a:lnSpc>
              <a:buSzPct val="100000"/>
              <a:buChar char="•"/>
            </a:pPr>
            <a:r>
              <a:rPr lang="en-US" sz="105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Use Cases:</a:t>
            </a:r>
            <a:r>
              <a:rPr lang="en-US" sz="10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Financial transactions, traditional business applications, any data with complex, interconnected relationships (e.g., e-commerce orders, inventory).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981946" y="2392065"/>
            <a:ext cx="2982739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MongoDB (NoSQL Document)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981946" y="2702024"/>
            <a:ext cx="2982739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Stores data in flexible, JSON-like documents. Each document can have its own unique structure, like a folder of varied papers.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981946" y="3350022"/>
            <a:ext cx="2982739" cy="252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15000"/>
              </a:lnSpc>
              <a:buSzPct val="100000"/>
              <a:buChar char="•"/>
            </a:pPr>
            <a:r>
              <a:rPr lang="en-US" sz="105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Flexible Schema:</a:t>
            </a:r>
            <a:r>
              <a:rPr lang="en-US" sz="10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 predefined schema; documents can change their structure (add fields) on the fly without downtime.</a:t>
            </a:r>
            <a:endParaRPr lang="en-US" sz="1050" dirty="0"/>
          </a:p>
          <a:p>
            <a:pPr marL="213360" indent="-213360" algn="l">
              <a:lnSpc>
                <a:spcPct val="115000"/>
              </a:lnSpc>
              <a:buSzPct val="100000"/>
              <a:buChar char="•"/>
            </a:pPr>
            <a:r>
              <a:rPr lang="en-US" sz="105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Document Model:</a:t>
            </a:r>
            <a:r>
              <a:rPr lang="en-US" sz="10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Data is often stored within a single document, reducing the need for joins and simplifying access.</a:t>
            </a:r>
            <a:endParaRPr lang="en-US" sz="1050" dirty="0"/>
          </a:p>
          <a:p>
            <a:pPr marL="213360" indent="-213360" algn="l">
              <a:lnSpc>
                <a:spcPct val="115000"/>
              </a:lnSpc>
              <a:buSzPct val="100000"/>
              <a:buChar char="•"/>
            </a:pPr>
            <a:r>
              <a:rPr lang="en-US" sz="105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Scalability:</a:t>
            </a:r>
            <a:r>
              <a:rPr lang="en-US" sz="10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Designed for horizontal scaling (sharding) across many servers, making it excellent for large volumes of data.</a:t>
            </a:r>
            <a:endParaRPr lang="en-US" sz="1050" dirty="0"/>
          </a:p>
          <a:p>
            <a:pPr marL="213360" indent="-213360" algn="l">
              <a:lnSpc>
                <a:spcPct val="115000"/>
              </a:lnSpc>
              <a:buSzPct val="100000"/>
              <a:buChar char="•"/>
            </a:pPr>
            <a:r>
              <a:rPr lang="en-US" sz="105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Use Cases:</a:t>
            </a:r>
            <a:r>
              <a:rPr lang="en-US" sz="10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Content management, real-time analytics, mobile apps, user profiles, or data that changes rapidly and has varying structures.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655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How SQL Connects to Your API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353344"/>
            <a:ext cx="165294" cy="16529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1475" y="1594644"/>
            <a:ext cx="5362044" cy="19050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5" name="Text 2"/>
          <p:cNvSpPr/>
          <p:nvPr/>
        </p:nvSpPr>
        <p:spPr>
          <a:xfrm>
            <a:off x="661475" y="1715393"/>
            <a:ext cx="536204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Frontend sends a request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61475" y="2060674"/>
            <a:ext cx="5362044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Browser → GET /students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8176" y="1353344"/>
            <a:ext cx="165294" cy="16529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168176" y="1594644"/>
            <a:ext cx="5362044" cy="19050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9" name="Text 5"/>
          <p:cNvSpPr/>
          <p:nvPr/>
        </p:nvSpPr>
        <p:spPr>
          <a:xfrm>
            <a:off x="6168176" y="1715393"/>
            <a:ext cx="536204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Express receives the request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168176" y="2060674"/>
            <a:ext cx="5362044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app.get('/students', (req, res) =&gt; { ... })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598043"/>
            <a:ext cx="165294" cy="16529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61475" y="2839343"/>
            <a:ext cx="5362044" cy="19050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13" name="Text 8"/>
          <p:cNvSpPr/>
          <p:nvPr/>
        </p:nvSpPr>
        <p:spPr>
          <a:xfrm>
            <a:off x="661475" y="2960092"/>
            <a:ext cx="536204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API queries the database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61475" y="3305373"/>
            <a:ext cx="5362044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students;</a:t>
            </a:r>
            <a:endParaRPr lang="en-US" sz="13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68176" y="2598043"/>
            <a:ext cx="165294" cy="16529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168176" y="2839343"/>
            <a:ext cx="5362044" cy="19050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17" name="Text 11"/>
          <p:cNvSpPr/>
          <p:nvPr/>
        </p:nvSpPr>
        <p:spPr>
          <a:xfrm>
            <a:off x="6168176" y="2960092"/>
            <a:ext cx="536204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SQL returns the data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6168176" y="3305373"/>
            <a:ext cx="5362044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Database sends back all student records</a:t>
            </a:r>
            <a:endParaRPr lang="en-US" sz="13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3842742"/>
            <a:ext cx="165294" cy="165298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661475" y="4084042"/>
            <a:ext cx="5362044" cy="19050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21" name="Text 14"/>
          <p:cNvSpPr/>
          <p:nvPr/>
        </p:nvSpPr>
        <p:spPr>
          <a:xfrm>
            <a:off x="661475" y="4204791"/>
            <a:ext cx="536204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API sends response back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661475" y="4550073"/>
            <a:ext cx="5362044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res.json(students);</a:t>
            </a:r>
            <a:endParaRPr lang="en-US" sz="13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68176" y="3842742"/>
            <a:ext cx="165294" cy="165298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6168176" y="4084042"/>
            <a:ext cx="5362044" cy="19050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25" name="Text 17"/>
          <p:cNvSpPr/>
          <p:nvPr/>
        </p:nvSpPr>
        <p:spPr>
          <a:xfrm>
            <a:off x="6168176" y="4204791"/>
            <a:ext cx="536204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Frontend displays the data</a:t>
            </a:r>
            <a:endParaRPr lang="en-US" sz="1600" dirty="0"/>
          </a:p>
        </p:txBody>
      </p:sp>
      <p:sp>
        <p:nvSpPr>
          <p:cNvPr id="26" name="Text 18"/>
          <p:cNvSpPr/>
          <p:nvPr/>
        </p:nvSpPr>
        <p:spPr>
          <a:xfrm>
            <a:off x="6168176" y="4550073"/>
            <a:ext cx="5362044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Browser shows the list of students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661475" y="5139134"/>
            <a:ext cx="1086874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Connection:</a:t>
            </a:r>
            <a:endParaRPr lang="en-US" sz="1950" dirty="0"/>
          </a:p>
        </p:txBody>
      </p:sp>
      <p:sp>
        <p:nvSpPr>
          <p:cNvPr id="28" name="Text 20"/>
          <p:cNvSpPr/>
          <p:nvPr/>
        </p:nvSpPr>
        <p:spPr>
          <a:xfrm>
            <a:off x="661475" y="5666184"/>
            <a:ext cx="10868745" cy="665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1250"/>
              </a:spcAft>
              <a:buNone/>
            </a:pPr>
            <a:r>
              <a:rPr lang="en-US" sz="13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Frontend</a:t>
            </a: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(what user sees) 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↔</a:t>
            </a: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3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API</a:t>
            </a: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(Express) 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↔</a:t>
            </a: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3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Database</a:t>
            </a: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(SQL)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API is the translator between what users want and what the database can do. SQL is the language the database understands.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9353"/>
            <a:ext cx="10868745" cy="415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SQL: Structured Data in Tables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094780"/>
            <a:ext cx="11478330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SQL organizes data in tables with rows and columns, like a spreadsheet. Each row is a record, each column is a field.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415951"/>
            <a:ext cx="1086874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4 SQL CRUD Commands: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61475" y="1805186"/>
            <a:ext cx="5387642" cy="1531045"/>
          </a:xfrm>
          <a:prstGeom prst="roundRect">
            <a:avLst>
              <a:gd name="adj" fmla="val 1302"/>
            </a:avLst>
          </a:prstGeom>
          <a:solidFill>
            <a:srgbClr val="3E3E3E"/>
          </a:solidFill>
          <a:ln/>
        </p:spPr>
      </p:sp>
      <p:sp>
        <p:nvSpPr>
          <p:cNvPr id="6" name="Text 4"/>
          <p:cNvSpPr/>
          <p:nvPr/>
        </p:nvSpPr>
        <p:spPr>
          <a:xfrm>
            <a:off x="794325" y="1938040"/>
            <a:ext cx="5121941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INSERT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94325" y="2201664"/>
            <a:ext cx="5121941" cy="418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 new data</a:t>
            </a:r>
            <a:endParaRPr lang="en-US" sz="10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Adds a new row to a table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94325" y="2724944"/>
            <a:ext cx="5121941" cy="478433"/>
          </a:xfrm>
          <a:prstGeom prst="roundRect">
            <a:avLst>
              <a:gd name="adj" fmla="val 4167"/>
            </a:avLst>
          </a:prstGeom>
          <a:solidFill>
            <a:srgbClr val="2C2C2C"/>
          </a:solidFill>
          <a:ln/>
        </p:spPr>
      </p:sp>
      <p:sp>
        <p:nvSpPr>
          <p:cNvPr id="9" name="Text 7"/>
          <p:cNvSpPr/>
          <p:nvPr/>
        </p:nvSpPr>
        <p:spPr>
          <a:xfrm>
            <a:off x="953766" y="2857798"/>
            <a:ext cx="4803060" cy="212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students (name, dept) VALUES ('Alice', 'CS');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42479" y="1805186"/>
            <a:ext cx="5387741" cy="1531045"/>
          </a:xfrm>
          <a:prstGeom prst="roundRect">
            <a:avLst>
              <a:gd name="adj" fmla="val 1302"/>
            </a:avLst>
          </a:prstGeom>
          <a:solidFill>
            <a:srgbClr val="3E3E3E"/>
          </a:solidFill>
          <a:ln/>
        </p:spPr>
      </p:sp>
      <p:sp>
        <p:nvSpPr>
          <p:cNvPr id="11" name="Text 9"/>
          <p:cNvSpPr/>
          <p:nvPr/>
        </p:nvSpPr>
        <p:spPr>
          <a:xfrm>
            <a:off x="6275330" y="1938040"/>
            <a:ext cx="5122040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SELECT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75330" y="2201664"/>
            <a:ext cx="5122040" cy="418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 data</a:t>
            </a:r>
            <a:endParaRPr lang="en-US" sz="10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Retrieves rows from a table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75330" y="2724944"/>
            <a:ext cx="5122040" cy="478433"/>
          </a:xfrm>
          <a:prstGeom prst="roundRect">
            <a:avLst>
              <a:gd name="adj" fmla="val 4167"/>
            </a:avLst>
          </a:prstGeom>
          <a:solidFill>
            <a:srgbClr val="2C2C2C"/>
          </a:solidFill>
          <a:ln/>
        </p:spPr>
      </p:sp>
      <p:sp>
        <p:nvSpPr>
          <p:cNvPr id="14" name="Text 12"/>
          <p:cNvSpPr/>
          <p:nvPr/>
        </p:nvSpPr>
        <p:spPr>
          <a:xfrm>
            <a:off x="6434770" y="2857798"/>
            <a:ext cx="4803159" cy="212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students WHERE dept = 'CS';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1475" y="3429595"/>
            <a:ext cx="5387642" cy="1537395"/>
          </a:xfrm>
          <a:prstGeom prst="roundRect">
            <a:avLst>
              <a:gd name="adj" fmla="val 1297"/>
            </a:avLst>
          </a:prstGeom>
          <a:solidFill>
            <a:srgbClr val="3E3E3E"/>
          </a:solidFill>
          <a:ln/>
        </p:spPr>
      </p:sp>
      <p:sp>
        <p:nvSpPr>
          <p:cNvPr id="16" name="Text 14"/>
          <p:cNvSpPr/>
          <p:nvPr/>
        </p:nvSpPr>
        <p:spPr>
          <a:xfrm>
            <a:off x="794325" y="3562449"/>
            <a:ext cx="5121941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UPDATE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4325" y="3826073"/>
            <a:ext cx="5121941" cy="424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Modify existing data</a:t>
            </a:r>
            <a:endParaRPr lang="en-US" sz="10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Changes values in existing rows (</a:t>
            </a: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⚠️</a:t>
            </a: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always use WHERE!)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94325" y="4355703"/>
            <a:ext cx="5121941" cy="478433"/>
          </a:xfrm>
          <a:prstGeom prst="roundRect">
            <a:avLst>
              <a:gd name="adj" fmla="val 4167"/>
            </a:avLst>
          </a:prstGeom>
          <a:solidFill>
            <a:srgbClr val="2C2C2C"/>
          </a:solidFill>
          <a:ln/>
        </p:spPr>
      </p:sp>
      <p:sp>
        <p:nvSpPr>
          <p:cNvPr id="19" name="Text 17"/>
          <p:cNvSpPr/>
          <p:nvPr/>
        </p:nvSpPr>
        <p:spPr>
          <a:xfrm>
            <a:off x="953766" y="4488557"/>
            <a:ext cx="4803060" cy="212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students SET dept = 'Math' WHERE name = 'Alice';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42479" y="3429595"/>
            <a:ext cx="5387741" cy="1537395"/>
          </a:xfrm>
          <a:prstGeom prst="roundRect">
            <a:avLst>
              <a:gd name="adj" fmla="val 1297"/>
            </a:avLst>
          </a:prstGeom>
          <a:solidFill>
            <a:srgbClr val="3E3E3E"/>
          </a:solidFill>
          <a:ln/>
        </p:spPr>
      </p:sp>
      <p:sp>
        <p:nvSpPr>
          <p:cNvPr id="21" name="Text 19"/>
          <p:cNvSpPr/>
          <p:nvPr/>
        </p:nvSpPr>
        <p:spPr>
          <a:xfrm>
            <a:off x="6275330" y="3562449"/>
            <a:ext cx="5122040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DELETE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75330" y="3826073"/>
            <a:ext cx="5122040" cy="424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Remove data</a:t>
            </a:r>
            <a:endParaRPr lang="en-US" sz="10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Deletes rows from a table (</a:t>
            </a: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⚠️</a:t>
            </a: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always use WHERE!)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75330" y="4355703"/>
            <a:ext cx="5122040" cy="478433"/>
          </a:xfrm>
          <a:prstGeom prst="roundRect">
            <a:avLst>
              <a:gd name="adj" fmla="val 4167"/>
            </a:avLst>
          </a:prstGeom>
          <a:solidFill>
            <a:srgbClr val="2C2C2C"/>
          </a:solidFill>
          <a:ln/>
        </p:spPr>
      </p:sp>
      <p:sp>
        <p:nvSpPr>
          <p:cNvPr id="24" name="Text 22"/>
          <p:cNvSpPr/>
          <p:nvPr/>
        </p:nvSpPr>
        <p:spPr>
          <a:xfrm>
            <a:off x="6434770" y="4488557"/>
            <a:ext cx="4803159" cy="212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 students WHERE name = 'Alice';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1475" y="5107087"/>
            <a:ext cx="1086874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Why SQL?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661475" y="5496322"/>
            <a:ext cx="10868745" cy="822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14000"/>
              </a:lnSpc>
              <a:buSzPct val="100000"/>
              <a:buChar char="•"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Structured and organized</a:t>
            </a:r>
            <a:endParaRPr lang="en-US" sz="1000" dirty="0"/>
          </a:p>
          <a:p>
            <a:pPr marL="203200" indent="-203200" algn="l">
              <a:lnSpc>
                <a:spcPct val="114000"/>
              </a:lnSpc>
              <a:buSzPct val="100000"/>
              <a:buChar char="•"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Perfect for related data (orders, customers, products)</a:t>
            </a:r>
            <a:endParaRPr lang="en-US" sz="1000" dirty="0"/>
          </a:p>
          <a:p>
            <a:pPr marL="203200" indent="-203200" algn="l">
              <a:lnSpc>
                <a:spcPct val="114000"/>
              </a:lnSpc>
              <a:buSzPct val="100000"/>
              <a:buChar char="•"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Strong data integrity and consistency</a:t>
            </a:r>
            <a:endParaRPr lang="en-US" sz="1000" dirty="0"/>
          </a:p>
          <a:p>
            <a:pPr marL="203200" indent="-203200" algn="l">
              <a:lnSpc>
                <a:spcPct val="114000"/>
              </a:lnSpc>
              <a:buSzPct val="100000"/>
              <a:buChar char="•"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Great for complex queries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0451"/>
            <a:ext cx="10868745" cy="433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MongoDB: Flexible JSON Documents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30301"/>
            <a:ext cx="3583989" cy="35840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90340" y="1268809"/>
            <a:ext cx="6946131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MongoDB is a NoSQL database that stores data in flexible, JSON-like documents, allowing for a more agile and dynamic approach to data storage.</a:t>
            </a:r>
            <a:endParaRPr lang="en-US" sz="10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90340" y="1768574"/>
            <a:ext cx="6946131" cy="101967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782919" y="2148284"/>
            <a:ext cx="208156" cy="260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5266499" y="1926431"/>
            <a:ext cx="6112119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Documents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266499" y="2245221"/>
            <a:ext cx="6112119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primary unit of data in MongoDB, similar to rows in a relational database, but much richer and self-contained.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90340" y="2890143"/>
            <a:ext cx="6946131" cy="101967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782919" y="3269853"/>
            <a:ext cx="208156" cy="260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5266499" y="3048000"/>
            <a:ext cx="6112119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 Strict Schema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5266499" y="3366790"/>
            <a:ext cx="6112119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Documents within the same collection don't need to have identical structures. Add fields on the fly as your application evolves.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90340" y="4011712"/>
            <a:ext cx="6946131" cy="101967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782919" y="4391422"/>
            <a:ext cx="208156" cy="260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5266499" y="4169569"/>
            <a:ext cx="6112119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Collections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5266499" y="4488359"/>
            <a:ext cx="6112119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Groups of documents, analogous to tables. Unlike tables, a collection can hold documents with diverse structures.</a:t>
            </a:r>
            <a:endParaRPr lang="en-US" sz="10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90340" y="5133280"/>
            <a:ext cx="6946131" cy="101967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782919" y="5512991"/>
            <a:ext cx="208156" cy="260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5266499" y="5291137"/>
            <a:ext cx="6112119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Rapid Development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5266499" y="5609927"/>
            <a:ext cx="6112119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schema-less nature accelerates development cycles, making it ideal for fast-paced projects and evolving data requirements.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3E3E3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141684"/>
            <a:ext cx="4382978" cy="657463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1475" y="2212777"/>
            <a:ext cx="880346" cy="287139"/>
          </a:xfrm>
          <a:prstGeom prst="roundRect">
            <a:avLst>
              <a:gd name="adj" fmla="val 7899"/>
            </a:avLst>
          </a:prstGeom>
          <a:solidFill>
            <a:srgbClr val="494904"/>
          </a:solidFill>
          <a:ln/>
        </p:spPr>
      </p:sp>
      <p:sp>
        <p:nvSpPr>
          <p:cNvPr id="5" name="Text 2"/>
          <p:cNvSpPr/>
          <p:nvPr/>
        </p:nvSpPr>
        <p:spPr>
          <a:xfrm>
            <a:off x="774879" y="2269430"/>
            <a:ext cx="126312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CHAPTER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61475" y="257552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Databases: Where Data Lives</a:t>
            </a:r>
            <a:endParaRPr lang="en-US" sz="3700" dirty="0"/>
          </a:p>
        </p:txBody>
      </p:sp>
      <p:sp>
        <p:nvSpPr>
          <p:cNvPr id="7" name="Text 4"/>
          <p:cNvSpPr/>
          <p:nvPr/>
        </p:nvSpPr>
        <p:spPr>
          <a:xfrm>
            <a:off x="661475" y="4040287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Understanding how to store, retrieve, and manage your application's most valuable asset.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8091"/>
            <a:ext cx="10868745" cy="36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3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Thank You! </a:t>
            </a:r>
            <a:r>
              <a:rPr lang="en-US" sz="2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🚀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356682" y="1078012"/>
            <a:ext cx="11478330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We've covered the foundational technologies for building powerful full-stack web applications. Here's a quick recap of the core concepts: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61475" y="1314648"/>
            <a:ext cx="5397464" cy="643930"/>
          </a:xfrm>
          <a:prstGeom prst="roundRect">
            <a:avLst>
              <a:gd name="adj" fmla="val 2752"/>
            </a:avLst>
          </a:prstGeom>
          <a:solidFill>
            <a:srgbClr val="1F1F1F"/>
          </a:solidFill>
          <a:ln w="12700">
            <a:solidFill>
              <a:srgbClr val="5757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2242" y="1445419"/>
            <a:ext cx="5135930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How web apps work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92242" y="1674217"/>
            <a:ext cx="5135930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Frontend → API → Database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132756" y="1314648"/>
            <a:ext cx="5397464" cy="643930"/>
          </a:xfrm>
          <a:prstGeom prst="roundRect">
            <a:avLst>
              <a:gd name="adj" fmla="val 2752"/>
            </a:avLst>
          </a:prstGeom>
          <a:solidFill>
            <a:srgbClr val="1F1F1F"/>
          </a:solidFill>
          <a:ln w="12700">
            <a:solidFill>
              <a:srgbClr val="5757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3523" y="1445419"/>
            <a:ext cx="5135930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Node.js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263523" y="1674217"/>
            <a:ext cx="5135930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runs JavaScript on servers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61475" y="2032397"/>
            <a:ext cx="5397464" cy="643930"/>
          </a:xfrm>
          <a:prstGeom prst="roundRect">
            <a:avLst>
              <a:gd name="adj" fmla="val 2752"/>
            </a:avLst>
          </a:prstGeom>
          <a:solidFill>
            <a:srgbClr val="1F1F1F"/>
          </a:solidFill>
          <a:ln w="12700">
            <a:solidFill>
              <a:srgbClr val="5757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2242" y="2163167"/>
            <a:ext cx="5135930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Express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92242" y="2391966"/>
            <a:ext cx="5135930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makes building APIs simple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32756" y="2032397"/>
            <a:ext cx="5397464" cy="643930"/>
          </a:xfrm>
          <a:prstGeom prst="roundRect">
            <a:avLst>
              <a:gd name="adj" fmla="val 2752"/>
            </a:avLst>
          </a:prstGeom>
          <a:solidFill>
            <a:srgbClr val="1F1F1F"/>
          </a:solidFill>
          <a:ln w="12700">
            <a:solidFill>
              <a:srgbClr val="5757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523" y="2163167"/>
            <a:ext cx="5135930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SQL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263523" y="2391966"/>
            <a:ext cx="5135930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stores structured data in tables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61475" y="2750145"/>
            <a:ext cx="5397464" cy="643930"/>
          </a:xfrm>
          <a:prstGeom prst="roundRect">
            <a:avLst>
              <a:gd name="adj" fmla="val 2752"/>
            </a:avLst>
          </a:prstGeom>
          <a:solidFill>
            <a:srgbClr val="1F1F1F"/>
          </a:solidFill>
          <a:ln w="12700">
            <a:solidFill>
              <a:srgbClr val="5757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2242" y="2880916"/>
            <a:ext cx="5135930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MongoDB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92242" y="3109714"/>
            <a:ext cx="5135930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stores flexible JSON documents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32756" y="2750145"/>
            <a:ext cx="5397464" cy="643930"/>
          </a:xfrm>
          <a:prstGeom prst="roundRect">
            <a:avLst>
              <a:gd name="adj" fmla="val 2752"/>
            </a:avLst>
          </a:prstGeom>
          <a:solidFill>
            <a:srgbClr val="1F1F1F"/>
          </a:solidFill>
          <a:ln w="12700">
            <a:solidFill>
              <a:srgbClr val="5757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523" y="2880916"/>
            <a:ext cx="5135930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Student API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263523" y="3109714"/>
            <a:ext cx="5135930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 to build a real one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61475" y="3506589"/>
            <a:ext cx="10868745" cy="12700"/>
          </a:xfrm>
          <a:prstGeom prst="roundRect">
            <a:avLst>
              <a:gd name="adj" fmla="val 49999"/>
            </a:avLst>
          </a:prstGeom>
          <a:solidFill>
            <a:srgbClr val="BFBFBF">
              <a:alpha val="5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61475" y="3659485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Next Steps:</a:t>
            </a:r>
            <a:endParaRPr lang="en-US" sz="1850" dirty="0"/>
          </a:p>
        </p:txBody>
      </p:sp>
      <p:sp>
        <p:nvSpPr>
          <p:cNvPr id="24" name="Text 22"/>
          <p:cNvSpPr/>
          <p:nvPr/>
        </p:nvSpPr>
        <p:spPr>
          <a:xfrm>
            <a:off x="661475" y="4065488"/>
            <a:ext cx="236234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61475" y="4253508"/>
            <a:ext cx="3573671" cy="12700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26" name="Text 24"/>
          <p:cNvSpPr/>
          <p:nvPr/>
        </p:nvSpPr>
        <p:spPr>
          <a:xfrm>
            <a:off x="661475" y="4337943"/>
            <a:ext cx="3573671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Install Node.js and Express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308963" y="4065488"/>
            <a:ext cx="236234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02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308963" y="4253508"/>
            <a:ext cx="3573671" cy="12700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29" name="Text 27"/>
          <p:cNvSpPr/>
          <p:nvPr/>
        </p:nvSpPr>
        <p:spPr>
          <a:xfrm>
            <a:off x="4308963" y="4337943"/>
            <a:ext cx="3573671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Create your first API endpoint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956450" y="4065488"/>
            <a:ext cx="236234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03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56450" y="4253508"/>
            <a:ext cx="3573671" cy="12700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32" name="Text 30"/>
          <p:cNvSpPr/>
          <p:nvPr/>
        </p:nvSpPr>
        <p:spPr>
          <a:xfrm>
            <a:off x="7956450" y="4337943"/>
            <a:ext cx="3573671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Connect to a database (SQL or MongoDB)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61475" y="4684911"/>
            <a:ext cx="236234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04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61475" y="4872930"/>
            <a:ext cx="5397365" cy="12700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35" name="Text 33"/>
          <p:cNvSpPr/>
          <p:nvPr/>
        </p:nvSpPr>
        <p:spPr>
          <a:xfrm>
            <a:off x="661475" y="4957366"/>
            <a:ext cx="5397365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Build the Student Management API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132657" y="4684911"/>
            <a:ext cx="236234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05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32657" y="4872930"/>
            <a:ext cx="5397464" cy="12700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38" name="Text 36"/>
          <p:cNvSpPr/>
          <p:nvPr/>
        </p:nvSpPr>
        <p:spPr>
          <a:xfrm>
            <a:off x="6132657" y="4957366"/>
            <a:ext cx="5397464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Deploy and share with the world!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38675" y="5396607"/>
            <a:ext cx="11301130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Remember:</a:t>
            </a:r>
            <a:r>
              <a:rPr lang="en-US" sz="9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 best way to learn is by building. Start small, experiment, break things, fix them, and keep learning.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61475" y="5313561"/>
            <a:ext cx="12700" cy="319683"/>
          </a:xfrm>
          <a:prstGeom prst="roundRect">
            <a:avLst>
              <a:gd name="adj" fmla="val 49999"/>
            </a:avLst>
          </a:prstGeom>
          <a:solidFill>
            <a:srgbClr val="F5F547"/>
          </a:solidFill>
          <a:ln/>
        </p:spPr>
      </p:sp>
      <p:sp>
        <p:nvSpPr>
          <p:cNvPr id="41" name="Text 39"/>
          <p:cNvSpPr/>
          <p:nvPr/>
        </p:nvSpPr>
        <p:spPr>
          <a:xfrm>
            <a:off x="661475" y="5743972"/>
            <a:ext cx="10868745" cy="515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Questions? Let's code! </a:t>
            </a:r>
            <a:r>
              <a:rPr lang="en-US" sz="3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💻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1437</Words>
  <Application>Microsoft Office PowerPoint</Application>
  <PresentationFormat>Widescreen</PresentationFormat>
  <Paragraphs>186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Instrument Sans Medium</vt:lpstr>
      <vt:lpstr>Open Sans</vt:lpstr>
      <vt:lpstr>Twemoji Mozilla</vt:lpstr>
      <vt:lpstr>Open Sans Bold</vt:lpstr>
      <vt:lpstr>Instrument Sans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Timo B</cp:lastModifiedBy>
  <cp:revision>2</cp:revision>
  <dcterms:created xsi:type="dcterms:W3CDTF">2026-09-11T10:32:24Z</dcterms:created>
  <dcterms:modified xsi:type="dcterms:W3CDTF">2026-09-11T10:36:19Z</dcterms:modified>
</cp:coreProperties>
</file>